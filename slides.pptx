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Playfair Display"/>
      <p:regular r:id="rId36"/>
      <p:bold r:id="rId37"/>
      <p:italic r:id="rId38"/>
      <p:boldItalic r:id="rId39"/>
    </p:embeddedFont>
    <p:embeddedFont>
      <p:font typeface="La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4.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Lat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PlayfairDisplay-bold.fntdata"/><Relationship Id="rId14" Type="http://schemas.openxmlformats.org/officeDocument/2006/relationships/slide" Target="slides/slide8.xml"/><Relationship Id="rId36" Type="http://schemas.openxmlformats.org/officeDocument/2006/relationships/font" Target="fonts/PlayfairDisplay-regular.fntdata"/><Relationship Id="rId17" Type="http://schemas.openxmlformats.org/officeDocument/2006/relationships/slide" Target="slides/slide11.xml"/><Relationship Id="rId39" Type="http://schemas.openxmlformats.org/officeDocument/2006/relationships/font" Target="fonts/PlayfairDisplay-boldItalic.fntdata"/><Relationship Id="rId16" Type="http://schemas.openxmlformats.org/officeDocument/2006/relationships/slide" Target="slides/slide10.xml"/><Relationship Id="rId38" Type="http://schemas.openxmlformats.org/officeDocument/2006/relationships/font" Target="fonts/PlayfairDisplay-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7ac470ec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7ac470ec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7ad4ce576_2_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f7ad4ce576_2_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g3f7ad4ce576_2_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7ad4ce576_2_2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f7ad4ce576_2_2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g3f7ad4ce576_2_2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7ac470ec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7ac470ec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7ad4ce576_2_3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f7ad4ce576_2_3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3f7ad4ce576_2_3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7ad4ce576_2_10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f7ad4ce576_2_10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f7ad4ce576_2_10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7ad4ce576_0_57: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f7ad4ce576_0_57: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3f7ad4ce576_0_57: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7ad4ce576_2_15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3f7ad4ce576_2_15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f7ad4ce576_2_15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2058ec0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2058ec0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e2058ec030_0_74: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e2058ec030_0_74: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e2058ec030_0_74: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e2058ec030_0_221: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e2058ec030_0_221: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g3e2058ec030_0_221: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2058ec030_0_301: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e2058ec030_0_301: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g3e2058ec030_0_301: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2058ec030_0_206: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e2058ec030_0_206: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g3e2058ec030_0_206: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7ac470ec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7ac470ec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e1574660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e1574660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e157466051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e157466051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212529"/>
                </a:solidFill>
              </a:rPr>
              <a:t>σ is sigma.</a:t>
            </a:r>
            <a:endParaRPr>
              <a:solidFill>
                <a:srgbClr val="212529"/>
              </a:solidFill>
            </a:endParaRPr>
          </a:p>
          <a:p>
            <a:pPr indent="0" lvl="0" marL="0" rtl="0" algn="l">
              <a:lnSpc>
                <a:spcPct val="115000"/>
              </a:lnSpc>
              <a:spcBef>
                <a:spcPts val="1200"/>
              </a:spcBef>
              <a:spcAft>
                <a:spcPts val="0"/>
              </a:spcAft>
              <a:buNone/>
            </a:pPr>
            <a:r>
              <a:t/>
            </a:r>
            <a:endParaRPr sz="1400">
              <a:solidFill>
                <a:srgbClr val="212529"/>
              </a:solidFill>
            </a:endParaRPr>
          </a:p>
          <a:p>
            <a:pPr indent="0" lvl="0" marL="0" rtl="0" algn="l">
              <a:lnSpc>
                <a:spcPct val="115000"/>
              </a:lnSpc>
              <a:spcBef>
                <a:spcPts val="1200"/>
              </a:spcBef>
              <a:spcAft>
                <a:spcPts val="1200"/>
              </a:spcAft>
              <a:buClr>
                <a:schemeClr val="dk1"/>
              </a:buClr>
              <a:buSzPts val="1100"/>
              <a:buFont typeface="Arial"/>
              <a:buNone/>
            </a:pPr>
            <a:r>
              <a:t/>
            </a:r>
            <a:endParaRPr sz="1800">
              <a:solidFill>
                <a:srgbClr val="5E696C"/>
              </a:solidFill>
              <a:latin typeface="Lato"/>
              <a:ea typeface="Lato"/>
              <a:cs typeface="Lato"/>
              <a:sym typeface="La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e157466051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e157466051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Edge is detected at 0: from positive to negative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157466051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e157466051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700"/>
              </a:spcBef>
              <a:spcAft>
                <a:spcPts val="0"/>
              </a:spcAft>
              <a:buNone/>
            </a:pPr>
            <a:r>
              <a:rPr lang="en-GB">
                <a:solidFill>
                  <a:srgbClr val="212529"/>
                </a:solidFill>
              </a:rPr>
              <a:t>Use LoG when zero-crossing contour detection is the point.</a:t>
            </a:r>
            <a:endParaRPr>
              <a:solidFill>
                <a:srgbClr val="212529"/>
              </a:solidFill>
            </a:endParaRPr>
          </a:p>
          <a:p>
            <a:pPr indent="0" lvl="0" marL="0" rtl="0" algn="l">
              <a:spcBef>
                <a:spcPts val="700"/>
              </a:spcBef>
              <a:spcAft>
                <a:spcPts val="0"/>
              </a:spcAft>
              <a:buClr>
                <a:schemeClr val="dk1"/>
              </a:buClr>
              <a:buFont typeface="Arial"/>
              <a:buNone/>
            </a:pPr>
            <a:r>
              <a:rPr lang="en-GB">
                <a:solidFill>
                  <a:srgbClr val="212529"/>
                </a:solidFill>
              </a:rPr>
              <a:t>Avoid using LoG only in very noisy or highly textured images.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28a8615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e28a8615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e28a86151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e28a86151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e28a86151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e28a86151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28a86151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e28a86151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e28a86151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e28a86151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700"/>
              </a:spcBef>
              <a:spcAft>
                <a:spcPts val="0"/>
              </a:spcAft>
              <a:buNone/>
            </a:pPr>
            <a:r>
              <a:rPr lang="en-GB">
                <a:solidFill>
                  <a:srgbClr val="212529"/>
                </a:solidFill>
              </a:rPr>
              <a:t>Use LoG when zero-crossing contour detection is the point.</a:t>
            </a:r>
            <a:endParaRPr>
              <a:solidFill>
                <a:srgbClr val="212529"/>
              </a:solidFill>
            </a:endParaRPr>
          </a:p>
          <a:p>
            <a:pPr indent="0" lvl="0" marL="0" rtl="0" algn="l">
              <a:spcBef>
                <a:spcPts val="700"/>
              </a:spcBef>
              <a:spcAft>
                <a:spcPts val="0"/>
              </a:spcAft>
              <a:buClr>
                <a:schemeClr val="dk1"/>
              </a:buClr>
              <a:buFont typeface="Arial"/>
              <a:buNone/>
            </a:pPr>
            <a:r>
              <a:rPr lang="en-GB">
                <a:solidFill>
                  <a:srgbClr val="212529"/>
                </a:solidFill>
              </a:rPr>
              <a:t>Avoid using LoG only in very noisy or highly textured images.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2058ec030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e2058ec030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fd315b8f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fd315b8f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fd315b8fc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fd315b8fc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f7ac470ec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f7ac470ec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e157466051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e157466051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5"/>
          <p:cNvSpPr txBox="1"/>
          <p:nvPr>
            <p:ph type="ctrTitle"/>
          </p:nvPr>
        </p:nvSpPr>
        <p:spPr>
          <a:xfrm>
            <a:off x="3052950" y="1368750"/>
            <a:ext cx="2951400" cy="1584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Edge Detection Operators</a:t>
            </a:r>
            <a:endParaRPr/>
          </a:p>
        </p:txBody>
      </p:sp>
      <p:sp>
        <p:nvSpPr>
          <p:cNvPr id="62" name="Google Shape;62;p15"/>
          <p:cNvSpPr txBox="1"/>
          <p:nvPr>
            <p:ph idx="1" type="subTitle"/>
          </p:nvPr>
        </p:nvSpPr>
        <p:spPr>
          <a:xfrm>
            <a:off x="2786353" y="2953047"/>
            <a:ext cx="3571200" cy="112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1600"/>
              <a:t>Samuel Bugeja</a:t>
            </a:r>
            <a:endParaRPr sz="1600"/>
          </a:p>
          <a:p>
            <a:pPr indent="0" lvl="0" marL="0" rtl="0" algn="ctr">
              <a:spcBef>
                <a:spcPts val="0"/>
              </a:spcBef>
              <a:spcAft>
                <a:spcPts val="0"/>
              </a:spcAft>
              <a:buNone/>
            </a:pPr>
            <a:r>
              <a:rPr lang="en-GB" sz="1600"/>
              <a:t>Julian Degiorgio</a:t>
            </a:r>
            <a:endParaRPr sz="1600"/>
          </a:p>
          <a:p>
            <a:pPr indent="0" lvl="0" marL="0" rtl="0" algn="ctr">
              <a:spcBef>
                <a:spcPts val="0"/>
              </a:spcBef>
              <a:spcAft>
                <a:spcPts val="0"/>
              </a:spcAft>
              <a:buNone/>
            </a:pPr>
            <a:r>
              <a:rPr lang="en-GB" sz="1600"/>
              <a:t>Daniel Briffa</a:t>
            </a:r>
            <a:endParaRPr sz="1600"/>
          </a:p>
          <a:p>
            <a:pPr indent="0" lvl="0" marL="0" rtl="0" algn="ctr">
              <a:spcBef>
                <a:spcPts val="0"/>
              </a:spcBef>
              <a:spcAft>
                <a:spcPts val="0"/>
              </a:spcAft>
              <a:buNone/>
            </a:pPr>
            <a:r>
              <a:rPr lang="en-GB" sz="1600"/>
              <a:t>Lola Le Crom</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6"/>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t>Introduction</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17"/>
          <p:cNvSpPr/>
          <p:nvPr/>
        </p:nvSpPr>
        <p:spPr>
          <a:xfrm>
            <a:off x="267469" y="246888"/>
            <a:ext cx="8572729"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i="0" lang="en-GB" sz="2000" u="none" cap="none" strike="noStrike">
                <a:solidFill>
                  <a:srgbClr val="F65B60"/>
                </a:solidFill>
                <a:latin typeface="Georgia"/>
                <a:ea typeface="Georgia"/>
                <a:cs typeface="Georgia"/>
                <a:sym typeface="Georgia"/>
              </a:rPr>
              <a:t>Introduction: What </a:t>
            </a:r>
            <a:r>
              <a:rPr b="1" lang="en-GB" sz="2000">
                <a:solidFill>
                  <a:srgbClr val="F65B60"/>
                </a:solidFill>
                <a:latin typeface="Georgia"/>
                <a:ea typeface="Georgia"/>
                <a:cs typeface="Georgia"/>
                <a:sym typeface="Georgia"/>
              </a:rPr>
              <a:t>E</a:t>
            </a:r>
            <a:r>
              <a:rPr b="1" i="0" lang="en-GB" sz="2000" u="none" cap="none" strike="noStrike">
                <a:solidFill>
                  <a:srgbClr val="F65B60"/>
                </a:solidFill>
                <a:latin typeface="Georgia"/>
                <a:ea typeface="Georgia"/>
                <a:cs typeface="Georgia"/>
                <a:sym typeface="Georgia"/>
              </a:rPr>
              <a:t>dge </a:t>
            </a:r>
            <a:r>
              <a:rPr b="1" lang="en-GB" sz="2000">
                <a:solidFill>
                  <a:srgbClr val="F65B60"/>
                </a:solidFill>
                <a:latin typeface="Georgia"/>
                <a:ea typeface="Georgia"/>
                <a:cs typeface="Georgia"/>
                <a:sym typeface="Georgia"/>
              </a:rPr>
              <a:t>D</a:t>
            </a:r>
            <a:r>
              <a:rPr b="1" i="0" lang="en-GB" sz="2000" u="none" cap="none" strike="noStrike">
                <a:solidFill>
                  <a:srgbClr val="F65B60"/>
                </a:solidFill>
                <a:latin typeface="Georgia"/>
                <a:ea typeface="Georgia"/>
                <a:cs typeface="Georgia"/>
                <a:sym typeface="Georgia"/>
              </a:rPr>
              <a:t>etection </a:t>
            </a:r>
            <a:r>
              <a:rPr b="1" lang="en-GB" sz="2000">
                <a:solidFill>
                  <a:srgbClr val="F65B60"/>
                </a:solidFill>
                <a:latin typeface="Georgia"/>
                <a:ea typeface="Georgia"/>
                <a:cs typeface="Georgia"/>
                <a:sym typeface="Georgia"/>
              </a:rPr>
              <a:t>F</a:t>
            </a:r>
            <a:r>
              <a:rPr b="1" i="0" lang="en-GB" sz="2000" u="none" cap="none" strike="noStrike">
                <a:solidFill>
                  <a:srgbClr val="F65B60"/>
                </a:solidFill>
                <a:latin typeface="Georgia"/>
                <a:ea typeface="Georgia"/>
                <a:cs typeface="Georgia"/>
                <a:sym typeface="Georgia"/>
              </a:rPr>
              <a:t>inds</a:t>
            </a:r>
            <a:endParaRPr b="0" i="0" sz="2000" u="none" cap="none" strike="noStrike">
              <a:solidFill>
                <a:schemeClr val="dk1"/>
              </a:solidFill>
              <a:latin typeface="Arial"/>
              <a:ea typeface="Arial"/>
              <a:cs typeface="Arial"/>
              <a:sym typeface="Arial"/>
            </a:endParaRPr>
          </a:p>
        </p:txBody>
      </p:sp>
      <p:sp>
        <p:nvSpPr>
          <p:cNvPr id="74" name="Google Shape;74;p17"/>
          <p:cNvSpPr/>
          <p:nvPr/>
        </p:nvSpPr>
        <p:spPr>
          <a:xfrm>
            <a:off x="377200" y="843534"/>
            <a:ext cx="3703419"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300"/>
              <a:buFont typeface="Arial"/>
              <a:buNone/>
            </a:pPr>
            <a:r>
              <a:rPr b="1" i="0" lang="en-GB" sz="1300" u="none" cap="none" strike="noStrike">
                <a:solidFill>
                  <a:srgbClr val="5E6A6F"/>
                </a:solidFill>
                <a:latin typeface="Lato"/>
                <a:ea typeface="Lato"/>
                <a:cs typeface="Lato"/>
                <a:sym typeface="Lato"/>
              </a:rPr>
              <a:t>Intensity changes are like </a:t>
            </a:r>
            <a:r>
              <a:rPr b="1" lang="en-GB" sz="1300">
                <a:solidFill>
                  <a:srgbClr val="5E6A6F"/>
                </a:solidFill>
                <a:latin typeface="Lato"/>
                <a:ea typeface="Lato"/>
                <a:cs typeface="Lato"/>
                <a:sym typeface="Lato"/>
              </a:rPr>
              <a:t>looking </a:t>
            </a:r>
            <a:r>
              <a:rPr b="1" i="0" lang="en-GB" sz="1300" u="none" cap="none" strike="noStrike">
                <a:solidFill>
                  <a:srgbClr val="5E6A6F"/>
                </a:solidFill>
                <a:latin typeface="Lato"/>
                <a:ea typeface="Lato"/>
                <a:cs typeface="Lato"/>
                <a:sym typeface="Lato"/>
              </a:rPr>
              <a:t>through fog:</a:t>
            </a:r>
            <a:endParaRPr i="0" sz="1300" u="none" cap="none" strike="noStrike">
              <a:solidFill>
                <a:schemeClr val="dk1"/>
              </a:solidFill>
              <a:latin typeface="Lato"/>
              <a:ea typeface="Lato"/>
              <a:cs typeface="Lato"/>
              <a:sym typeface="Lato"/>
            </a:endParaRPr>
          </a:p>
        </p:txBody>
      </p:sp>
      <p:cxnSp>
        <p:nvCxnSpPr>
          <p:cNvPr id="75" name="Google Shape;75;p17"/>
          <p:cNvCxnSpPr/>
          <p:nvPr/>
        </p:nvCxnSpPr>
        <p:spPr>
          <a:xfrm>
            <a:off x="514364" y="2777490"/>
            <a:ext cx="1851709" cy="0"/>
          </a:xfrm>
          <a:prstGeom prst="straightConnector1">
            <a:avLst/>
          </a:prstGeom>
          <a:noFill/>
          <a:ln cap="flat" cmpd="sng" w="27925">
            <a:solidFill>
              <a:srgbClr val="5E6A6F"/>
            </a:solidFill>
            <a:prstDash val="solid"/>
            <a:round/>
            <a:headEnd len="sm" w="sm" type="none"/>
            <a:tailEnd len="sm" w="sm" type="none"/>
          </a:ln>
        </p:spPr>
      </p:cxnSp>
      <p:cxnSp>
        <p:nvCxnSpPr>
          <p:cNvPr id="76" name="Google Shape;76;p17"/>
          <p:cNvCxnSpPr/>
          <p:nvPr/>
        </p:nvCxnSpPr>
        <p:spPr>
          <a:xfrm>
            <a:off x="2366073" y="2777490"/>
            <a:ext cx="685800" cy="651600"/>
          </a:xfrm>
          <a:prstGeom prst="straightConnector1">
            <a:avLst/>
          </a:prstGeom>
          <a:noFill/>
          <a:ln cap="flat" cmpd="sng" w="38100">
            <a:solidFill>
              <a:srgbClr val="F65B60"/>
            </a:solidFill>
            <a:prstDash val="solid"/>
            <a:round/>
            <a:headEnd len="sm" w="sm" type="none"/>
            <a:tailEnd len="med" w="med" type="triangle"/>
          </a:ln>
        </p:spPr>
      </p:cxnSp>
      <p:cxnSp>
        <p:nvCxnSpPr>
          <p:cNvPr id="77" name="Google Shape;77;p17"/>
          <p:cNvCxnSpPr/>
          <p:nvPr/>
        </p:nvCxnSpPr>
        <p:spPr>
          <a:xfrm>
            <a:off x="3051891" y="3429000"/>
            <a:ext cx="1508800" cy="0"/>
          </a:xfrm>
          <a:prstGeom prst="straightConnector1">
            <a:avLst/>
          </a:prstGeom>
          <a:noFill/>
          <a:ln cap="flat" cmpd="sng" w="27925">
            <a:solidFill>
              <a:srgbClr val="5E6A6F"/>
            </a:solidFill>
            <a:prstDash val="solid"/>
            <a:round/>
            <a:headEnd len="sm" w="sm" type="none"/>
            <a:tailEnd len="sm" w="sm" type="none"/>
          </a:ln>
        </p:spPr>
      </p:cxnSp>
      <p:sp>
        <p:nvSpPr>
          <p:cNvPr id="78" name="Google Shape;78;p17"/>
          <p:cNvSpPr/>
          <p:nvPr/>
        </p:nvSpPr>
        <p:spPr>
          <a:xfrm>
            <a:off x="514364" y="2914650"/>
            <a:ext cx="144021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100"/>
              <a:buFont typeface="Arial"/>
              <a:buNone/>
            </a:pPr>
            <a:r>
              <a:rPr lang="en-GB" sz="1100">
                <a:solidFill>
                  <a:srgbClr val="5E6A6F"/>
                </a:solidFill>
                <a:latin typeface="Lato"/>
                <a:ea typeface="Lato"/>
                <a:cs typeface="Lato"/>
                <a:sym typeface="Lato"/>
              </a:rPr>
              <a:t>S</a:t>
            </a:r>
            <a:r>
              <a:rPr i="0" lang="en-GB" sz="1100" u="none" cap="none" strike="noStrike">
                <a:solidFill>
                  <a:srgbClr val="5E6A6F"/>
                </a:solidFill>
                <a:latin typeface="Lato"/>
                <a:ea typeface="Lato"/>
                <a:cs typeface="Lato"/>
                <a:sym typeface="Lato"/>
              </a:rPr>
              <a:t>mooth region</a:t>
            </a:r>
            <a:endParaRPr i="0" sz="1100" u="none" cap="none" strike="noStrike">
              <a:solidFill>
                <a:schemeClr val="dk1"/>
              </a:solidFill>
              <a:latin typeface="Lato"/>
              <a:ea typeface="Lato"/>
              <a:cs typeface="Lato"/>
              <a:sym typeface="Lato"/>
            </a:endParaRPr>
          </a:p>
        </p:txBody>
      </p:sp>
      <p:sp>
        <p:nvSpPr>
          <p:cNvPr id="79" name="Google Shape;79;p17"/>
          <p:cNvSpPr/>
          <p:nvPr/>
        </p:nvSpPr>
        <p:spPr>
          <a:xfrm>
            <a:off x="2091746" y="3566160"/>
            <a:ext cx="212603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1100"/>
              <a:buFont typeface="Arial"/>
              <a:buNone/>
            </a:pPr>
            <a:r>
              <a:rPr b="1" lang="en-GB" sz="1100">
                <a:solidFill>
                  <a:srgbClr val="F65B60"/>
                </a:solidFill>
                <a:latin typeface="Lato"/>
                <a:ea typeface="Lato"/>
                <a:cs typeface="Lato"/>
                <a:sym typeface="Lato"/>
              </a:rPr>
              <a:t>S</a:t>
            </a:r>
            <a:r>
              <a:rPr b="1" i="0" lang="en-GB" sz="1100" u="none" cap="none" strike="noStrike">
                <a:solidFill>
                  <a:srgbClr val="F65B60"/>
                </a:solidFill>
                <a:latin typeface="Lato"/>
                <a:ea typeface="Lato"/>
                <a:cs typeface="Lato"/>
                <a:sym typeface="Lato"/>
              </a:rPr>
              <a:t>udden drop = </a:t>
            </a:r>
            <a:r>
              <a:rPr b="1" lang="en-GB" sz="1100">
                <a:solidFill>
                  <a:srgbClr val="F65B60"/>
                </a:solidFill>
                <a:latin typeface="Lato"/>
                <a:ea typeface="Lato"/>
                <a:cs typeface="Lato"/>
                <a:sym typeface="Lato"/>
              </a:rPr>
              <a:t>E</a:t>
            </a:r>
            <a:r>
              <a:rPr b="1" i="0" lang="en-GB" sz="1100" u="none" cap="none" strike="noStrike">
                <a:solidFill>
                  <a:srgbClr val="F65B60"/>
                </a:solidFill>
                <a:latin typeface="Lato"/>
                <a:ea typeface="Lato"/>
                <a:cs typeface="Lato"/>
                <a:sym typeface="Lato"/>
              </a:rPr>
              <a:t>dge</a:t>
            </a:r>
            <a:endParaRPr i="0" sz="1100" u="none" cap="none" strike="noStrike">
              <a:solidFill>
                <a:schemeClr val="dk1"/>
              </a:solidFill>
              <a:latin typeface="Lato"/>
              <a:ea typeface="Lato"/>
              <a:cs typeface="Lato"/>
              <a:sym typeface="Lato"/>
            </a:endParaRPr>
          </a:p>
        </p:txBody>
      </p:sp>
      <p:sp>
        <p:nvSpPr>
          <p:cNvPr id="80" name="Google Shape;80;p17"/>
          <p:cNvSpPr/>
          <p:nvPr/>
        </p:nvSpPr>
        <p:spPr>
          <a:xfrm>
            <a:off x="4920751" y="788651"/>
            <a:ext cx="3223200" cy="685800"/>
          </a:xfrm>
          <a:prstGeom prst="roundRect">
            <a:avLst>
              <a:gd fmla="val 12000"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81" name="Google Shape;81;p17"/>
          <p:cNvSpPr/>
          <p:nvPr/>
        </p:nvSpPr>
        <p:spPr>
          <a:xfrm>
            <a:off x="4985899" y="843540"/>
            <a:ext cx="3058800" cy="5760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400"/>
              <a:buFont typeface="Arial"/>
              <a:buNone/>
            </a:pPr>
            <a:r>
              <a:rPr b="1" i="0" lang="en-GB" sz="1400" u="none" cap="none" strike="noStrike">
                <a:solidFill>
                  <a:srgbClr val="000000"/>
                </a:solidFill>
                <a:latin typeface="Lato"/>
                <a:ea typeface="Lato"/>
                <a:cs typeface="Lato"/>
                <a:sym typeface="Lato"/>
              </a:rPr>
              <a:t>Sharp brightness changes</a:t>
            </a:r>
            <a:endParaRPr i="0" sz="1400" u="none" cap="none" strike="noStrike">
              <a:solidFill>
                <a:schemeClr val="dk1"/>
              </a:solidFill>
              <a:latin typeface="Lato"/>
              <a:ea typeface="Lato"/>
              <a:cs typeface="Lato"/>
              <a:sym typeface="Lato"/>
            </a:endParaRPr>
          </a:p>
          <a:p>
            <a:pPr indent="0" lvl="0" marL="0" marR="0" rtl="0" algn="ctr">
              <a:spcBef>
                <a:spcPts val="0"/>
              </a:spcBef>
              <a:spcAft>
                <a:spcPts val="0"/>
              </a:spcAft>
              <a:buClr>
                <a:srgbClr val="000000"/>
              </a:buClr>
              <a:buSzPts val="1400"/>
              <a:buFont typeface="Arial"/>
              <a:buNone/>
            </a:pPr>
            <a:r>
              <a:rPr b="1" i="0" lang="en-GB" sz="1400" u="none" cap="none" strike="noStrike">
                <a:solidFill>
                  <a:srgbClr val="000000"/>
                </a:solidFill>
                <a:latin typeface="Lato"/>
                <a:ea typeface="Lato"/>
                <a:cs typeface="Lato"/>
                <a:sym typeface="Lato"/>
              </a:rPr>
              <a:t>mark object boundaries.</a:t>
            </a:r>
            <a:endParaRPr i="0" sz="1400" u="none" cap="none" strike="noStrike">
              <a:solidFill>
                <a:schemeClr val="dk1"/>
              </a:solidFill>
              <a:latin typeface="Lato"/>
              <a:ea typeface="Lato"/>
              <a:cs typeface="Lato"/>
              <a:sym typeface="Lato"/>
            </a:endParaRPr>
          </a:p>
        </p:txBody>
      </p:sp>
      <p:sp>
        <p:nvSpPr>
          <p:cNvPr id="82" name="Google Shape;82;p17"/>
          <p:cNvSpPr/>
          <p:nvPr/>
        </p:nvSpPr>
        <p:spPr>
          <a:xfrm>
            <a:off x="4560692" y="1954530"/>
            <a:ext cx="3943455" cy="857250"/>
          </a:xfrm>
          <a:prstGeom prst="roundRect">
            <a:avLst>
              <a:gd fmla="val 9600" name="adj"/>
            </a:avLst>
          </a:prstGeom>
          <a:solidFill>
            <a:srgbClr val="F65B60"/>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83" name="Google Shape;83;p17"/>
          <p:cNvSpPr/>
          <p:nvPr/>
        </p:nvSpPr>
        <p:spPr>
          <a:xfrm>
            <a:off x="4642990" y="2009394"/>
            <a:ext cx="3778859" cy="747522"/>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300"/>
              <a:buFont typeface="Arial"/>
              <a:buNone/>
            </a:pPr>
            <a:r>
              <a:rPr b="1" i="0" lang="en-GB" sz="1300" u="none" cap="none" strike="noStrike">
                <a:solidFill>
                  <a:schemeClr val="lt1"/>
                </a:solidFill>
                <a:latin typeface="Lato"/>
                <a:ea typeface="Lato"/>
                <a:cs typeface="Lato"/>
                <a:sym typeface="Lato"/>
              </a:rPr>
              <a:t>Edge detection reduces an image to its meaningful intensity changes, while keeping shape information.</a:t>
            </a:r>
            <a:endParaRPr b="1" i="0" sz="1300" u="none" cap="none" strike="noStrike">
              <a:solidFill>
                <a:schemeClr val="lt1"/>
              </a:solidFill>
              <a:latin typeface="Lato"/>
              <a:ea typeface="Lato"/>
              <a:cs typeface="Lato"/>
              <a:sym typeface="Lato"/>
            </a:endParaRPr>
          </a:p>
        </p:txBody>
      </p:sp>
      <p:sp>
        <p:nvSpPr>
          <p:cNvPr id="84" name="Google Shape;84;p17"/>
          <p:cNvSpPr/>
          <p:nvPr/>
        </p:nvSpPr>
        <p:spPr>
          <a:xfrm>
            <a:off x="4903601" y="3291840"/>
            <a:ext cx="3223346" cy="685800"/>
          </a:xfrm>
          <a:prstGeom prst="roundRect">
            <a:avLst>
              <a:gd fmla="val 12000"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85" name="Google Shape;85;p17"/>
          <p:cNvSpPr/>
          <p:nvPr/>
        </p:nvSpPr>
        <p:spPr>
          <a:xfrm>
            <a:off x="4985899" y="3346704"/>
            <a:ext cx="3058750" cy="576072"/>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300"/>
              <a:buFont typeface="Arial"/>
              <a:buNone/>
            </a:pPr>
            <a:r>
              <a:rPr b="1" i="0" lang="en-GB" sz="1300" u="none" cap="none" strike="noStrike">
                <a:solidFill>
                  <a:srgbClr val="000000"/>
                </a:solidFill>
                <a:latin typeface="Lato"/>
                <a:ea typeface="Lato"/>
                <a:cs typeface="Lato"/>
                <a:sym typeface="Lato"/>
              </a:rPr>
              <a:t>Used before segmentation,</a:t>
            </a:r>
            <a:endParaRPr i="0" sz="1300" u="none" cap="none" strike="noStrike">
              <a:solidFill>
                <a:schemeClr val="dk1"/>
              </a:solidFill>
              <a:latin typeface="Lato"/>
              <a:ea typeface="Lato"/>
              <a:cs typeface="Lato"/>
              <a:sym typeface="Lato"/>
            </a:endParaRPr>
          </a:p>
          <a:p>
            <a:pPr indent="0" lvl="0" marL="0" marR="0" rtl="0" algn="ctr">
              <a:spcBef>
                <a:spcPts val="0"/>
              </a:spcBef>
              <a:spcAft>
                <a:spcPts val="0"/>
              </a:spcAft>
              <a:buClr>
                <a:srgbClr val="000000"/>
              </a:buClr>
              <a:buSzPts val="1300"/>
              <a:buFont typeface="Arial"/>
              <a:buNone/>
            </a:pPr>
            <a:r>
              <a:rPr b="1" i="0" lang="en-GB" sz="1300" u="none" cap="none" strike="noStrike">
                <a:solidFill>
                  <a:srgbClr val="000000"/>
                </a:solidFill>
                <a:latin typeface="Lato"/>
                <a:ea typeface="Lato"/>
                <a:cs typeface="Lato"/>
                <a:sym typeface="Lato"/>
              </a:rPr>
              <a:t>object extraction and recognition.</a:t>
            </a:r>
            <a:endParaRPr i="0" sz="1300" u="none" cap="none" strike="noStrike">
              <a:solidFill>
                <a:schemeClr val="dk1"/>
              </a:solidFill>
              <a:latin typeface="Lato"/>
              <a:ea typeface="Lato"/>
              <a:cs typeface="Lato"/>
              <a:sym typeface="Lato"/>
            </a:endParaRPr>
          </a:p>
        </p:txBody>
      </p:sp>
      <p:sp>
        <p:nvSpPr>
          <p:cNvPr id="86" name="Google Shape;86;p17"/>
          <p:cNvSpPr/>
          <p:nvPr/>
        </p:nvSpPr>
        <p:spPr>
          <a:xfrm>
            <a:off x="0" y="5065125"/>
            <a:ext cx="9144000" cy="783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8"/>
          <p:cNvSpPr/>
          <p:nvPr/>
        </p:nvSpPr>
        <p:spPr>
          <a:xfrm>
            <a:off x="267469" y="246888"/>
            <a:ext cx="8572729"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i="0" lang="en-GB" sz="2000" u="none" cap="none" strike="noStrike">
                <a:solidFill>
                  <a:srgbClr val="F65B60"/>
                </a:solidFill>
                <a:latin typeface="Georgia"/>
                <a:ea typeface="Georgia"/>
                <a:cs typeface="Georgia"/>
                <a:sym typeface="Georgia"/>
              </a:rPr>
              <a:t>Introduction: Families of </a:t>
            </a:r>
            <a:r>
              <a:rPr b="1" lang="en-GB" sz="2000">
                <a:solidFill>
                  <a:srgbClr val="F65B60"/>
                </a:solidFill>
                <a:latin typeface="Georgia"/>
                <a:ea typeface="Georgia"/>
                <a:cs typeface="Georgia"/>
                <a:sym typeface="Georgia"/>
              </a:rPr>
              <a:t>E</a:t>
            </a:r>
            <a:r>
              <a:rPr b="1" i="0" lang="en-GB" sz="2000" u="none" cap="none" strike="noStrike">
                <a:solidFill>
                  <a:srgbClr val="F65B60"/>
                </a:solidFill>
                <a:latin typeface="Georgia"/>
                <a:ea typeface="Georgia"/>
                <a:cs typeface="Georgia"/>
                <a:sym typeface="Georgia"/>
              </a:rPr>
              <a:t>dge </a:t>
            </a:r>
            <a:r>
              <a:rPr b="1" lang="en-GB" sz="2000">
                <a:solidFill>
                  <a:srgbClr val="F65B60"/>
                </a:solidFill>
                <a:latin typeface="Georgia"/>
                <a:ea typeface="Georgia"/>
                <a:cs typeface="Georgia"/>
                <a:sym typeface="Georgia"/>
              </a:rPr>
              <a:t>D</a:t>
            </a:r>
            <a:r>
              <a:rPr b="1" i="0" lang="en-GB" sz="2000" u="none" cap="none" strike="noStrike">
                <a:solidFill>
                  <a:srgbClr val="F65B60"/>
                </a:solidFill>
                <a:latin typeface="Georgia"/>
                <a:ea typeface="Georgia"/>
                <a:cs typeface="Georgia"/>
                <a:sym typeface="Georgia"/>
              </a:rPr>
              <a:t>etectors</a:t>
            </a:r>
            <a:endParaRPr b="0" i="0" sz="2000" u="none" cap="none" strike="noStrike">
              <a:solidFill>
                <a:schemeClr val="dk1"/>
              </a:solidFill>
              <a:latin typeface="Arial"/>
              <a:ea typeface="Arial"/>
              <a:cs typeface="Arial"/>
              <a:sym typeface="Arial"/>
            </a:endParaRPr>
          </a:p>
        </p:txBody>
      </p:sp>
      <p:sp>
        <p:nvSpPr>
          <p:cNvPr id="93" name="Google Shape;93;p18"/>
          <p:cNvSpPr/>
          <p:nvPr/>
        </p:nvSpPr>
        <p:spPr>
          <a:xfrm>
            <a:off x="377200" y="754380"/>
            <a:ext cx="7818328"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400"/>
              <a:buFont typeface="Arial"/>
              <a:buNone/>
            </a:pPr>
            <a:r>
              <a:rPr b="0" i="0" lang="en-GB" sz="1400" u="none" cap="none" strike="noStrike">
                <a:solidFill>
                  <a:srgbClr val="5E6A6F"/>
                </a:solidFill>
                <a:latin typeface="Arial"/>
                <a:ea typeface="Arial"/>
                <a:cs typeface="Arial"/>
                <a:sym typeface="Arial"/>
              </a:rPr>
              <a:t>The operators in our presentation detect the same idea in different ways:</a:t>
            </a:r>
            <a:endParaRPr b="0" i="0" sz="1400" u="none" cap="none" strike="noStrike">
              <a:solidFill>
                <a:schemeClr val="dk1"/>
              </a:solidFill>
              <a:latin typeface="Arial"/>
              <a:ea typeface="Arial"/>
              <a:cs typeface="Arial"/>
              <a:sym typeface="Arial"/>
            </a:endParaRPr>
          </a:p>
        </p:txBody>
      </p:sp>
      <p:sp>
        <p:nvSpPr>
          <p:cNvPr id="94" name="Google Shape;94;p18"/>
          <p:cNvSpPr/>
          <p:nvPr/>
        </p:nvSpPr>
        <p:spPr>
          <a:xfrm>
            <a:off x="508526" y="2084828"/>
            <a:ext cx="2229000" cy="973800"/>
          </a:xfrm>
          <a:prstGeom prst="roundRect">
            <a:avLst>
              <a:gd fmla="val 8451"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8"/>
          <p:cNvSpPr/>
          <p:nvPr/>
        </p:nvSpPr>
        <p:spPr>
          <a:xfrm>
            <a:off x="590824" y="2139692"/>
            <a:ext cx="2064300" cy="8640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100"/>
              <a:buFont typeface="Arial"/>
              <a:buNone/>
            </a:pPr>
            <a:r>
              <a:rPr b="1" i="0" lang="en-GB" sz="1100" u="none" cap="none" strike="noStrike">
                <a:solidFill>
                  <a:srgbClr val="000000"/>
                </a:solidFill>
              </a:rPr>
              <a:t>First-order </a:t>
            </a:r>
            <a:r>
              <a:rPr b="1" lang="en-GB" sz="1100"/>
              <a:t>G</a:t>
            </a:r>
            <a:r>
              <a:rPr b="1" i="0" lang="en-GB" sz="1100" u="none" cap="none" strike="noStrike">
                <a:solidFill>
                  <a:srgbClr val="000000"/>
                </a:solidFill>
              </a:rPr>
              <a:t>radients:</a:t>
            </a:r>
            <a:endParaRPr b="1" i="0" sz="1100" u="none" cap="none" strike="noStrike">
              <a:solidFill>
                <a:schemeClr val="dk1"/>
              </a:solidFill>
            </a:endParaRPr>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Sobel + Prewitt:</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100"/>
              <a:buFont typeface="Arial"/>
              <a:buNone/>
            </a:pPr>
            <a:r>
              <a:rPr lang="en-GB" sz="1100"/>
              <a:t>F</a:t>
            </a:r>
            <a:r>
              <a:rPr b="0" i="0" lang="en-GB" sz="1100" u="none" cap="none" strike="noStrike">
                <a:solidFill>
                  <a:srgbClr val="000000"/>
                </a:solidFill>
                <a:latin typeface="Arial"/>
                <a:ea typeface="Arial"/>
                <a:cs typeface="Arial"/>
                <a:sym typeface="Arial"/>
              </a:rPr>
              <a:t>ind where change is strong.</a:t>
            </a:r>
            <a:endParaRPr b="0" i="0" sz="1100" u="none" cap="none" strike="noStrike">
              <a:solidFill>
                <a:schemeClr val="dk1"/>
              </a:solidFill>
              <a:latin typeface="Arial"/>
              <a:ea typeface="Arial"/>
              <a:cs typeface="Arial"/>
              <a:sym typeface="Arial"/>
            </a:endParaRPr>
          </a:p>
        </p:txBody>
      </p:sp>
      <p:sp>
        <p:nvSpPr>
          <p:cNvPr id="96" name="Google Shape;96;p18"/>
          <p:cNvSpPr/>
          <p:nvPr/>
        </p:nvSpPr>
        <p:spPr>
          <a:xfrm>
            <a:off x="3457545" y="2084828"/>
            <a:ext cx="2229000" cy="973800"/>
          </a:xfrm>
          <a:prstGeom prst="roundRect">
            <a:avLst>
              <a:gd fmla="val 8451" name="adj"/>
            </a:avLst>
          </a:prstGeom>
          <a:solidFill>
            <a:srgbClr val="F65B60"/>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p18"/>
          <p:cNvSpPr/>
          <p:nvPr/>
        </p:nvSpPr>
        <p:spPr>
          <a:xfrm>
            <a:off x="3539843" y="2139692"/>
            <a:ext cx="2064300" cy="8640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100"/>
              <a:buFont typeface="Arial"/>
              <a:buNone/>
            </a:pPr>
            <a:r>
              <a:rPr b="1" i="0" lang="en-GB" sz="1100" u="none" cap="none" strike="noStrike">
                <a:solidFill>
                  <a:schemeClr val="lt1"/>
                </a:solidFill>
              </a:rPr>
              <a:t>Second-order </a:t>
            </a:r>
            <a:r>
              <a:rPr b="1" lang="en-GB" sz="1100">
                <a:solidFill>
                  <a:schemeClr val="lt1"/>
                </a:solidFill>
              </a:rPr>
              <a:t>R</a:t>
            </a:r>
            <a:r>
              <a:rPr b="1" i="0" lang="en-GB" sz="1100" u="none" cap="none" strike="noStrike">
                <a:solidFill>
                  <a:schemeClr val="lt1"/>
                </a:solidFill>
              </a:rPr>
              <a:t>esponse</a:t>
            </a:r>
            <a:endParaRPr b="1" i="0" sz="1100" u="none" cap="none" strike="noStrike">
              <a:solidFill>
                <a:schemeClr val="lt1"/>
              </a:solidFill>
            </a:endParaRPr>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ctr">
              <a:spcBef>
                <a:spcPts val="0"/>
              </a:spcBef>
              <a:spcAft>
                <a:spcPts val="0"/>
              </a:spcAft>
              <a:buClr>
                <a:srgbClr val="000000"/>
              </a:buClr>
              <a:buSzPts val="1100"/>
              <a:buFont typeface="Arial"/>
              <a:buNone/>
            </a:pPr>
            <a:r>
              <a:rPr b="0" i="0" lang="en-GB" sz="1100" u="none" cap="none" strike="noStrike">
                <a:solidFill>
                  <a:schemeClr val="lt1"/>
                </a:solidFill>
                <a:latin typeface="Arial"/>
                <a:ea typeface="Arial"/>
                <a:cs typeface="Arial"/>
                <a:sym typeface="Arial"/>
              </a:rPr>
              <a:t>LoG:</a:t>
            </a:r>
            <a:endParaRPr sz="1100">
              <a:solidFill>
                <a:schemeClr val="lt1"/>
              </a:solidFill>
            </a:endParaRPr>
          </a:p>
          <a:p>
            <a:pPr indent="0" lvl="0" marL="0" marR="0" rtl="0" algn="ctr">
              <a:spcBef>
                <a:spcPts val="0"/>
              </a:spcBef>
              <a:spcAft>
                <a:spcPts val="0"/>
              </a:spcAft>
              <a:buClr>
                <a:srgbClr val="000000"/>
              </a:buClr>
              <a:buSzPts val="1100"/>
              <a:buFont typeface="Arial"/>
              <a:buNone/>
            </a:pPr>
            <a:r>
              <a:rPr lang="en-GB" sz="1100">
                <a:solidFill>
                  <a:schemeClr val="lt1"/>
                </a:solidFill>
              </a:rPr>
              <a:t>F</a:t>
            </a:r>
            <a:r>
              <a:rPr b="0" i="0" lang="en-GB" sz="1100" u="none" cap="none" strike="noStrike">
                <a:solidFill>
                  <a:schemeClr val="lt1"/>
                </a:solidFill>
                <a:latin typeface="Arial"/>
                <a:ea typeface="Arial"/>
                <a:cs typeface="Arial"/>
                <a:sym typeface="Arial"/>
              </a:rPr>
              <a:t>inds where the</a:t>
            </a:r>
            <a:r>
              <a:rPr lang="en-GB" sz="1100">
                <a:solidFill>
                  <a:schemeClr val="lt1"/>
                </a:solidFill>
              </a:rPr>
              <a:t> </a:t>
            </a:r>
            <a:endParaRPr sz="1100">
              <a:solidFill>
                <a:schemeClr val="lt1"/>
              </a:solidFill>
            </a:endParaRPr>
          </a:p>
          <a:p>
            <a:pPr indent="0" lvl="0" marL="0" marR="0" rtl="0" algn="ctr">
              <a:spcBef>
                <a:spcPts val="0"/>
              </a:spcBef>
              <a:spcAft>
                <a:spcPts val="0"/>
              </a:spcAft>
              <a:buClr>
                <a:srgbClr val="000000"/>
              </a:buClr>
              <a:buSzPts val="1100"/>
              <a:buFont typeface="Arial"/>
              <a:buNone/>
            </a:pPr>
            <a:r>
              <a:rPr lang="en-GB" sz="1100">
                <a:solidFill>
                  <a:schemeClr val="lt1"/>
                </a:solidFill>
              </a:rPr>
              <a:t>First-order gradients </a:t>
            </a:r>
            <a:r>
              <a:rPr b="0" i="0" lang="en-GB" sz="1100" u="none" cap="none" strike="noStrike">
                <a:solidFill>
                  <a:schemeClr val="lt1"/>
                </a:solidFill>
                <a:latin typeface="Arial"/>
                <a:ea typeface="Arial"/>
                <a:cs typeface="Arial"/>
                <a:sym typeface="Arial"/>
              </a:rPr>
              <a:t>flips sign.</a:t>
            </a:r>
            <a:endParaRPr b="0" i="0" sz="1100" u="none" cap="none" strike="noStrike">
              <a:solidFill>
                <a:schemeClr val="lt1"/>
              </a:solidFill>
              <a:latin typeface="Arial"/>
              <a:ea typeface="Arial"/>
              <a:cs typeface="Arial"/>
              <a:sym typeface="Arial"/>
            </a:endParaRPr>
          </a:p>
        </p:txBody>
      </p:sp>
      <p:sp>
        <p:nvSpPr>
          <p:cNvPr id="98" name="Google Shape;98;p18"/>
          <p:cNvSpPr/>
          <p:nvPr/>
        </p:nvSpPr>
        <p:spPr>
          <a:xfrm>
            <a:off x="6406563" y="2084828"/>
            <a:ext cx="2229000" cy="973800"/>
          </a:xfrm>
          <a:prstGeom prst="roundRect">
            <a:avLst>
              <a:gd fmla="val 8451"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8"/>
          <p:cNvSpPr/>
          <p:nvPr/>
        </p:nvSpPr>
        <p:spPr>
          <a:xfrm>
            <a:off x="6488862" y="2139692"/>
            <a:ext cx="2064300" cy="8640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100"/>
              <a:buFont typeface="Arial"/>
              <a:buNone/>
            </a:pPr>
            <a:r>
              <a:rPr b="1" i="0" lang="en-GB" sz="1100" u="none" cap="none" strike="noStrike">
                <a:solidFill>
                  <a:srgbClr val="000000"/>
                </a:solidFill>
              </a:rPr>
              <a:t>Multi-stage </a:t>
            </a:r>
            <a:r>
              <a:rPr b="1" lang="en-GB" sz="1100"/>
              <a:t>D</a:t>
            </a:r>
            <a:r>
              <a:rPr b="1" i="0" lang="en-GB" sz="1100" u="none" cap="none" strike="noStrike">
                <a:solidFill>
                  <a:srgbClr val="000000"/>
                </a:solidFill>
              </a:rPr>
              <a:t>etector</a:t>
            </a:r>
            <a:endParaRPr b="1" i="0" sz="1100" u="none" cap="none" strike="noStrike">
              <a:solidFill>
                <a:schemeClr val="dk1"/>
              </a:solidFill>
            </a:endParaRPr>
          </a:p>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Canny:</a:t>
            </a:r>
            <a:endParaRPr b="0" i="0" sz="1100" u="none" cap="none" strike="noStrike">
              <a:solidFill>
                <a:srgbClr val="000000"/>
              </a:solidFill>
              <a:latin typeface="Arial"/>
              <a:ea typeface="Arial"/>
              <a:cs typeface="Arial"/>
              <a:sym typeface="Arial"/>
            </a:endParaRPr>
          </a:p>
          <a:p>
            <a:pPr indent="0" lvl="0" marL="0" marR="0" rtl="0" algn="ctr">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 </a:t>
            </a:r>
            <a:r>
              <a:rPr lang="en-GB" sz="1100"/>
              <a:t>C</a:t>
            </a:r>
            <a:r>
              <a:rPr b="0" i="0" lang="en-GB" sz="1100" u="none" cap="none" strike="noStrike">
                <a:solidFill>
                  <a:srgbClr val="000000"/>
                </a:solidFill>
                <a:latin typeface="Arial"/>
                <a:ea typeface="Arial"/>
                <a:cs typeface="Arial"/>
                <a:sym typeface="Arial"/>
              </a:rPr>
              <a:t>ombines smoothing,</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thinning and thresholding.</a:t>
            </a:r>
            <a:endParaRPr b="0" i="0" sz="1100" u="none" cap="none" strike="noStrike">
              <a:solidFill>
                <a:schemeClr val="dk1"/>
              </a:solidFill>
              <a:latin typeface="Arial"/>
              <a:ea typeface="Arial"/>
              <a:cs typeface="Arial"/>
              <a:sym typeface="Arial"/>
            </a:endParaRPr>
          </a:p>
        </p:txBody>
      </p:sp>
      <p:cxnSp>
        <p:nvCxnSpPr>
          <p:cNvPr id="100" name="Google Shape;100;p18"/>
          <p:cNvCxnSpPr/>
          <p:nvPr/>
        </p:nvCxnSpPr>
        <p:spPr>
          <a:xfrm>
            <a:off x="2730577" y="2571746"/>
            <a:ext cx="726900" cy="0"/>
          </a:xfrm>
          <a:prstGeom prst="straightConnector1">
            <a:avLst/>
          </a:prstGeom>
          <a:noFill/>
          <a:ln cap="flat" cmpd="sng" w="22850">
            <a:solidFill>
              <a:srgbClr val="000000"/>
            </a:solidFill>
            <a:prstDash val="solid"/>
            <a:round/>
            <a:headEnd len="sm" w="sm" type="none"/>
            <a:tailEnd len="med" w="med" type="triangle"/>
          </a:ln>
        </p:spPr>
      </p:cxnSp>
      <p:cxnSp>
        <p:nvCxnSpPr>
          <p:cNvPr id="101" name="Google Shape;101;p18"/>
          <p:cNvCxnSpPr/>
          <p:nvPr/>
        </p:nvCxnSpPr>
        <p:spPr>
          <a:xfrm>
            <a:off x="5686454" y="2571746"/>
            <a:ext cx="726900" cy="0"/>
          </a:xfrm>
          <a:prstGeom prst="straightConnector1">
            <a:avLst/>
          </a:prstGeom>
          <a:noFill/>
          <a:ln cap="flat" cmpd="sng" w="22850">
            <a:solidFill>
              <a:srgbClr val="000000"/>
            </a:solidFill>
            <a:prstDash val="solid"/>
            <a:round/>
            <a:headEnd len="sm" w="sm" type="none"/>
            <a:tailEnd len="med" w="med" type="triangle"/>
          </a:ln>
        </p:spPr>
      </p:cxnSp>
      <p:sp>
        <p:nvSpPr>
          <p:cNvPr id="102" name="Google Shape;102;p18"/>
          <p:cNvSpPr/>
          <p:nvPr/>
        </p:nvSpPr>
        <p:spPr>
          <a:xfrm>
            <a:off x="0" y="5065125"/>
            <a:ext cx="9144000" cy="783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t>Sobel Operator</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20"/>
          <p:cNvSpPr/>
          <p:nvPr/>
        </p:nvSpPr>
        <p:spPr>
          <a:xfrm>
            <a:off x="267469" y="246888"/>
            <a:ext cx="8572729"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i="0" lang="en-GB" sz="2000" u="none" cap="none" strike="noStrike">
                <a:solidFill>
                  <a:srgbClr val="F65B60"/>
                </a:solidFill>
                <a:latin typeface="Georgia"/>
                <a:ea typeface="Georgia"/>
                <a:cs typeface="Georgia"/>
                <a:sym typeface="Georgia"/>
              </a:rPr>
              <a:t>Sobel: Gradient-</a:t>
            </a:r>
            <a:r>
              <a:rPr b="1" lang="en-GB" sz="2000">
                <a:solidFill>
                  <a:srgbClr val="F65B60"/>
                </a:solidFill>
                <a:latin typeface="Georgia"/>
                <a:ea typeface="Georgia"/>
                <a:cs typeface="Georgia"/>
                <a:sym typeface="Georgia"/>
              </a:rPr>
              <a:t>B</a:t>
            </a:r>
            <a:r>
              <a:rPr b="1" i="0" lang="en-GB" sz="2000" u="none" cap="none" strike="noStrike">
                <a:solidFill>
                  <a:srgbClr val="F65B60"/>
                </a:solidFill>
                <a:latin typeface="Georgia"/>
                <a:ea typeface="Georgia"/>
                <a:cs typeface="Georgia"/>
                <a:sym typeface="Georgia"/>
              </a:rPr>
              <a:t>ased </a:t>
            </a:r>
            <a:r>
              <a:rPr b="1" lang="en-GB" sz="2000">
                <a:solidFill>
                  <a:srgbClr val="F65B60"/>
                </a:solidFill>
                <a:latin typeface="Georgia"/>
                <a:ea typeface="Georgia"/>
                <a:cs typeface="Georgia"/>
                <a:sym typeface="Georgia"/>
              </a:rPr>
              <a:t>E</a:t>
            </a:r>
            <a:r>
              <a:rPr b="1" i="0" lang="en-GB" sz="2000" u="none" cap="none" strike="noStrike">
                <a:solidFill>
                  <a:srgbClr val="F65B60"/>
                </a:solidFill>
                <a:latin typeface="Georgia"/>
                <a:ea typeface="Georgia"/>
                <a:cs typeface="Georgia"/>
                <a:sym typeface="Georgia"/>
              </a:rPr>
              <a:t>dge </a:t>
            </a:r>
            <a:r>
              <a:rPr b="1" lang="en-GB" sz="2000">
                <a:solidFill>
                  <a:srgbClr val="F65B60"/>
                </a:solidFill>
                <a:latin typeface="Georgia"/>
                <a:ea typeface="Georgia"/>
                <a:cs typeface="Georgia"/>
                <a:sym typeface="Georgia"/>
              </a:rPr>
              <a:t>D</a:t>
            </a:r>
            <a:r>
              <a:rPr b="1" i="0" lang="en-GB" sz="2000" u="none" cap="none" strike="noStrike">
                <a:solidFill>
                  <a:srgbClr val="F65B60"/>
                </a:solidFill>
                <a:latin typeface="Georgia"/>
                <a:ea typeface="Georgia"/>
                <a:cs typeface="Georgia"/>
                <a:sym typeface="Georgia"/>
              </a:rPr>
              <a:t>etection</a:t>
            </a:r>
            <a:endParaRPr b="0" i="0" sz="2000" u="none" cap="none" strike="noStrike">
              <a:solidFill>
                <a:schemeClr val="dk1"/>
              </a:solidFill>
              <a:latin typeface="Arial"/>
              <a:ea typeface="Arial"/>
              <a:cs typeface="Arial"/>
              <a:sym typeface="Arial"/>
            </a:endParaRPr>
          </a:p>
        </p:txBody>
      </p:sp>
      <p:cxnSp>
        <p:nvCxnSpPr>
          <p:cNvPr id="114" name="Google Shape;114;p20"/>
          <p:cNvCxnSpPr/>
          <p:nvPr/>
        </p:nvCxnSpPr>
        <p:spPr>
          <a:xfrm>
            <a:off x="1474509" y="1172718"/>
            <a:ext cx="432066" cy="0"/>
          </a:xfrm>
          <a:prstGeom prst="straightConnector1">
            <a:avLst/>
          </a:prstGeom>
          <a:noFill/>
          <a:ln cap="flat" cmpd="sng" w="22850">
            <a:solidFill>
              <a:srgbClr val="000000"/>
            </a:solidFill>
            <a:prstDash val="solid"/>
            <a:round/>
            <a:headEnd len="sm" w="sm" type="none"/>
            <a:tailEnd len="med" w="med" type="triangle"/>
          </a:ln>
        </p:spPr>
      </p:cxnSp>
      <p:cxnSp>
        <p:nvCxnSpPr>
          <p:cNvPr id="115" name="Google Shape;115;p20"/>
          <p:cNvCxnSpPr/>
          <p:nvPr/>
        </p:nvCxnSpPr>
        <p:spPr>
          <a:xfrm>
            <a:off x="2901011" y="1172718"/>
            <a:ext cx="432066" cy="0"/>
          </a:xfrm>
          <a:prstGeom prst="straightConnector1">
            <a:avLst/>
          </a:prstGeom>
          <a:noFill/>
          <a:ln cap="flat" cmpd="sng" w="22850">
            <a:solidFill>
              <a:srgbClr val="000000"/>
            </a:solidFill>
            <a:prstDash val="solid"/>
            <a:round/>
            <a:headEnd len="sm" w="sm" type="none"/>
            <a:tailEnd len="med" w="med" type="triangle"/>
          </a:ln>
        </p:spPr>
      </p:cxnSp>
      <p:cxnSp>
        <p:nvCxnSpPr>
          <p:cNvPr id="116" name="Google Shape;116;p20"/>
          <p:cNvCxnSpPr/>
          <p:nvPr/>
        </p:nvCxnSpPr>
        <p:spPr>
          <a:xfrm>
            <a:off x="4327513" y="1172718"/>
            <a:ext cx="432066" cy="0"/>
          </a:xfrm>
          <a:prstGeom prst="straightConnector1">
            <a:avLst/>
          </a:prstGeom>
          <a:noFill/>
          <a:ln cap="flat" cmpd="sng" w="22850">
            <a:solidFill>
              <a:srgbClr val="000000"/>
            </a:solidFill>
            <a:prstDash val="solid"/>
            <a:round/>
            <a:headEnd len="sm" w="sm" type="none"/>
            <a:tailEnd len="med" w="med" type="triangle"/>
          </a:ln>
        </p:spPr>
      </p:cxnSp>
      <p:cxnSp>
        <p:nvCxnSpPr>
          <p:cNvPr id="117" name="Google Shape;117;p20"/>
          <p:cNvCxnSpPr/>
          <p:nvPr/>
        </p:nvCxnSpPr>
        <p:spPr>
          <a:xfrm>
            <a:off x="5754015" y="1172718"/>
            <a:ext cx="432066" cy="0"/>
          </a:xfrm>
          <a:prstGeom prst="straightConnector1">
            <a:avLst/>
          </a:prstGeom>
          <a:noFill/>
          <a:ln cap="flat" cmpd="sng" w="22850">
            <a:solidFill>
              <a:srgbClr val="000000"/>
            </a:solidFill>
            <a:prstDash val="solid"/>
            <a:round/>
            <a:headEnd len="sm" w="sm" type="none"/>
            <a:tailEnd len="med" w="med" type="triangle"/>
          </a:ln>
        </p:spPr>
      </p:cxnSp>
      <p:sp>
        <p:nvSpPr>
          <p:cNvPr id="118" name="Google Shape;118;p20"/>
          <p:cNvSpPr/>
          <p:nvPr/>
        </p:nvSpPr>
        <p:spPr>
          <a:xfrm>
            <a:off x="480073" y="905256"/>
            <a:ext cx="994437" cy="534924"/>
          </a:xfrm>
          <a:prstGeom prst="roundRect">
            <a:avLst>
              <a:gd fmla="val 15385" name="adj"/>
            </a:avLst>
          </a:prstGeom>
          <a:solidFill>
            <a:srgbClr val="FFFFFF"/>
          </a:solidFill>
          <a:ln cap="flat" cmpd="sng" w="21575">
            <a:solidFill>
              <a:srgbClr val="333333"/>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19" name="Google Shape;119;p20"/>
          <p:cNvSpPr/>
          <p:nvPr/>
        </p:nvSpPr>
        <p:spPr>
          <a:xfrm>
            <a:off x="562371" y="960120"/>
            <a:ext cx="829840" cy="425196"/>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700"/>
              <a:buFont typeface="Arial"/>
              <a:buNone/>
            </a:pPr>
            <a:r>
              <a:rPr b="1" i="0" lang="en-GB" sz="900" u="none" cap="none" strike="noStrike">
                <a:solidFill>
                  <a:srgbClr val="000000"/>
                </a:solidFill>
                <a:latin typeface="Lato"/>
                <a:ea typeface="Lato"/>
                <a:cs typeface="Lato"/>
                <a:sym typeface="Lato"/>
              </a:rPr>
              <a:t>Input</a:t>
            </a:r>
            <a:endParaRPr sz="900">
              <a:solidFill>
                <a:schemeClr val="dk1"/>
              </a:solidFill>
              <a:latin typeface="Lato"/>
              <a:ea typeface="Lato"/>
              <a:cs typeface="Lato"/>
              <a:sym typeface="Lato"/>
            </a:endParaRPr>
          </a:p>
          <a:p>
            <a:pPr indent="0" lvl="0" marL="0" marR="0" rtl="0" algn="ctr">
              <a:spcBef>
                <a:spcPts val="0"/>
              </a:spcBef>
              <a:spcAft>
                <a:spcPts val="0"/>
              </a:spcAft>
              <a:buClr>
                <a:srgbClr val="000000"/>
              </a:buClr>
              <a:buSzPts val="700"/>
              <a:buFont typeface="Arial"/>
              <a:buNone/>
            </a:pPr>
            <a:r>
              <a:rPr b="1" i="0" lang="en-GB" sz="900" u="none" cap="none" strike="noStrike">
                <a:solidFill>
                  <a:srgbClr val="000000"/>
                </a:solidFill>
                <a:latin typeface="Lato"/>
                <a:ea typeface="Lato"/>
                <a:cs typeface="Lato"/>
                <a:sym typeface="Lato"/>
              </a:rPr>
              <a:t>image</a:t>
            </a:r>
            <a:endParaRPr i="0" sz="900" u="none" cap="none" strike="noStrike">
              <a:solidFill>
                <a:schemeClr val="dk1"/>
              </a:solidFill>
              <a:latin typeface="Lato"/>
              <a:ea typeface="Lato"/>
              <a:cs typeface="Lato"/>
              <a:sym typeface="Lato"/>
            </a:endParaRPr>
          </a:p>
        </p:txBody>
      </p:sp>
      <p:sp>
        <p:nvSpPr>
          <p:cNvPr id="120" name="Google Shape;120;p20"/>
          <p:cNvSpPr/>
          <p:nvPr/>
        </p:nvSpPr>
        <p:spPr>
          <a:xfrm>
            <a:off x="1906575" y="905256"/>
            <a:ext cx="994437" cy="534924"/>
          </a:xfrm>
          <a:prstGeom prst="roundRect">
            <a:avLst>
              <a:gd fmla="val 15385" name="adj"/>
            </a:avLst>
          </a:prstGeom>
          <a:solidFill>
            <a:srgbClr val="F65B60"/>
          </a:solidFill>
          <a:ln cap="flat" cmpd="sng" w="21575">
            <a:solidFill>
              <a:srgbClr val="333333"/>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21" name="Google Shape;121;p20"/>
          <p:cNvSpPr/>
          <p:nvPr/>
        </p:nvSpPr>
        <p:spPr>
          <a:xfrm>
            <a:off x="1988873" y="960120"/>
            <a:ext cx="829840" cy="425196"/>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700"/>
              <a:buFont typeface="Arial"/>
              <a:buNone/>
            </a:pPr>
            <a:r>
              <a:rPr b="1" i="0" lang="en-GB" sz="900" u="none" cap="none" strike="noStrike">
                <a:solidFill>
                  <a:schemeClr val="lt1"/>
                </a:solidFill>
                <a:latin typeface="Lato"/>
                <a:ea typeface="Lato"/>
                <a:cs typeface="Lato"/>
                <a:sym typeface="Lato"/>
              </a:rPr>
              <a:t>Gx kernel:</a:t>
            </a:r>
            <a:endParaRPr i="0" sz="900" u="none" cap="none" strike="noStrike">
              <a:solidFill>
                <a:schemeClr val="lt1"/>
              </a:solidFill>
              <a:latin typeface="Lato"/>
              <a:ea typeface="Lato"/>
              <a:cs typeface="Lato"/>
              <a:sym typeface="Lato"/>
            </a:endParaRPr>
          </a:p>
          <a:p>
            <a:pPr indent="0" lvl="0" marL="0" marR="0" rtl="0" algn="ctr">
              <a:spcBef>
                <a:spcPts val="0"/>
              </a:spcBef>
              <a:spcAft>
                <a:spcPts val="0"/>
              </a:spcAft>
              <a:buClr>
                <a:srgbClr val="000000"/>
              </a:buClr>
              <a:buSzPts val="700"/>
              <a:buFont typeface="Arial"/>
              <a:buNone/>
            </a:pPr>
            <a:r>
              <a:rPr b="1" i="0" lang="en-GB" sz="900" u="none" cap="none" strike="noStrike">
                <a:solidFill>
                  <a:schemeClr val="lt1"/>
                </a:solidFill>
                <a:latin typeface="Lato"/>
                <a:ea typeface="Lato"/>
                <a:cs typeface="Lato"/>
                <a:sym typeface="Lato"/>
              </a:rPr>
              <a:t>vertical edges</a:t>
            </a:r>
            <a:endParaRPr i="0" sz="900" u="none" cap="none" strike="noStrike">
              <a:solidFill>
                <a:schemeClr val="lt1"/>
              </a:solidFill>
              <a:latin typeface="Lato"/>
              <a:ea typeface="Lato"/>
              <a:cs typeface="Lato"/>
              <a:sym typeface="Lato"/>
            </a:endParaRPr>
          </a:p>
        </p:txBody>
      </p:sp>
      <p:sp>
        <p:nvSpPr>
          <p:cNvPr id="122" name="Google Shape;122;p20"/>
          <p:cNvSpPr/>
          <p:nvPr/>
        </p:nvSpPr>
        <p:spPr>
          <a:xfrm>
            <a:off x="3333077" y="905256"/>
            <a:ext cx="994437" cy="534924"/>
          </a:xfrm>
          <a:prstGeom prst="roundRect">
            <a:avLst>
              <a:gd fmla="val 15385" name="adj"/>
            </a:avLst>
          </a:prstGeom>
          <a:solidFill>
            <a:srgbClr val="F65B60"/>
          </a:solidFill>
          <a:ln cap="flat" cmpd="sng" w="21575">
            <a:solidFill>
              <a:srgbClr val="333333"/>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23" name="Google Shape;123;p20"/>
          <p:cNvSpPr/>
          <p:nvPr/>
        </p:nvSpPr>
        <p:spPr>
          <a:xfrm>
            <a:off x="3415375" y="960120"/>
            <a:ext cx="829840" cy="425196"/>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700"/>
              <a:buFont typeface="Arial"/>
              <a:buNone/>
            </a:pPr>
            <a:r>
              <a:rPr b="1" i="0" lang="en-GB" sz="900" u="none" cap="none" strike="noStrike">
                <a:solidFill>
                  <a:schemeClr val="lt1"/>
                </a:solidFill>
                <a:latin typeface="Lato"/>
                <a:ea typeface="Lato"/>
                <a:cs typeface="Lato"/>
                <a:sym typeface="Lato"/>
              </a:rPr>
              <a:t>Gy kernel:</a:t>
            </a:r>
            <a:endParaRPr sz="900">
              <a:solidFill>
                <a:schemeClr val="lt1"/>
              </a:solidFill>
              <a:latin typeface="Lato"/>
              <a:ea typeface="Lato"/>
              <a:cs typeface="Lato"/>
              <a:sym typeface="Lato"/>
            </a:endParaRPr>
          </a:p>
          <a:p>
            <a:pPr indent="0" lvl="0" marL="0" marR="0" rtl="0" algn="ctr">
              <a:spcBef>
                <a:spcPts val="0"/>
              </a:spcBef>
              <a:spcAft>
                <a:spcPts val="0"/>
              </a:spcAft>
              <a:buClr>
                <a:srgbClr val="000000"/>
              </a:buClr>
              <a:buSzPts val="700"/>
              <a:buFont typeface="Arial"/>
              <a:buNone/>
            </a:pPr>
            <a:r>
              <a:rPr b="1" i="0" lang="en-GB" sz="900" u="none" cap="none" strike="noStrike">
                <a:solidFill>
                  <a:schemeClr val="lt1"/>
                </a:solidFill>
                <a:latin typeface="Lato"/>
                <a:ea typeface="Lato"/>
                <a:cs typeface="Lato"/>
                <a:sym typeface="Lato"/>
              </a:rPr>
              <a:t>horizontal edges</a:t>
            </a:r>
            <a:endParaRPr i="0" sz="900" u="none" cap="none" strike="noStrike">
              <a:solidFill>
                <a:schemeClr val="lt1"/>
              </a:solidFill>
              <a:latin typeface="Lato"/>
              <a:ea typeface="Lato"/>
              <a:cs typeface="Lato"/>
              <a:sym typeface="Lato"/>
            </a:endParaRPr>
          </a:p>
        </p:txBody>
      </p:sp>
      <p:sp>
        <p:nvSpPr>
          <p:cNvPr id="124" name="Google Shape;124;p20"/>
          <p:cNvSpPr/>
          <p:nvPr/>
        </p:nvSpPr>
        <p:spPr>
          <a:xfrm>
            <a:off x="4759579" y="905256"/>
            <a:ext cx="994437" cy="534924"/>
          </a:xfrm>
          <a:prstGeom prst="roundRect">
            <a:avLst>
              <a:gd fmla="val 15385" name="adj"/>
            </a:avLst>
          </a:prstGeom>
          <a:solidFill>
            <a:srgbClr val="F65B60"/>
          </a:solidFill>
          <a:ln cap="flat" cmpd="sng" w="21575">
            <a:solidFill>
              <a:srgbClr val="333333"/>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25" name="Google Shape;125;p20"/>
          <p:cNvSpPr/>
          <p:nvPr/>
        </p:nvSpPr>
        <p:spPr>
          <a:xfrm>
            <a:off x="4841877" y="960120"/>
            <a:ext cx="829840" cy="425196"/>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700"/>
              <a:buFont typeface="Arial"/>
              <a:buNone/>
            </a:pPr>
            <a:r>
              <a:rPr b="1" i="0" lang="en-GB" sz="900" u="none" cap="none" strike="noStrike">
                <a:solidFill>
                  <a:schemeClr val="lt1"/>
                </a:solidFill>
                <a:latin typeface="Lato"/>
                <a:ea typeface="Lato"/>
                <a:cs typeface="Lato"/>
                <a:sym typeface="Lato"/>
              </a:rPr>
              <a:t>Combine</a:t>
            </a:r>
            <a:endParaRPr i="0" sz="900" u="none" cap="none" strike="noStrike">
              <a:solidFill>
                <a:schemeClr val="lt1"/>
              </a:solidFill>
              <a:latin typeface="Lato"/>
              <a:ea typeface="Lato"/>
              <a:cs typeface="Lato"/>
              <a:sym typeface="Lato"/>
            </a:endParaRPr>
          </a:p>
          <a:p>
            <a:pPr indent="0" lvl="0" marL="0" marR="0" rtl="0" algn="ctr">
              <a:spcBef>
                <a:spcPts val="0"/>
              </a:spcBef>
              <a:spcAft>
                <a:spcPts val="0"/>
              </a:spcAft>
              <a:buClr>
                <a:srgbClr val="000000"/>
              </a:buClr>
              <a:buSzPts val="700"/>
              <a:buFont typeface="Arial"/>
              <a:buNone/>
            </a:pPr>
            <a:r>
              <a:rPr b="1" i="0" lang="en-GB" sz="900" u="none" cap="none" strike="noStrike">
                <a:solidFill>
                  <a:schemeClr val="lt1"/>
                </a:solidFill>
                <a:latin typeface="Lato"/>
                <a:ea typeface="Lato"/>
                <a:cs typeface="Lato"/>
                <a:sym typeface="Lato"/>
              </a:rPr>
              <a:t>responses</a:t>
            </a:r>
            <a:endParaRPr i="0" sz="900" u="none" cap="none" strike="noStrike">
              <a:solidFill>
                <a:schemeClr val="lt1"/>
              </a:solidFill>
              <a:latin typeface="Lato"/>
              <a:ea typeface="Lato"/>
              <a:cs typeface="Lato"/>
              <a:sym typeface="Lato"/>
            </a:endParaRPr>
          </a:p>
        </p:txBody>
      </p:sp>
      <p:sp>
        <p:nvSpPr>
          <p:cNvPr id="126" name="Google Shape;126;p20"/>
          <p:cNvSpPr/>
          <p:nvPr/>
        </p:nvSpPr>
        <p:spPr>
          <a:xfrm>
            <a:off x="6186081" y="905256"/>
            <a:ext cx="994437" cy="534924"/>
          </a:xfrm>
          <a:prstGeom prst="roundRect">
            <a:avLst>
              <a:gd fmla="val 15385" name="adj"/>
            </a:avLst>
          </a:prstGeom>
          <a:solidFill>
            <a:srgbClr val="FFFFFF"/>
          </a:solidFill>
          <a:ln cap="flat" cmpd="sng" w="21575">
            <a:solidFill>
              <a:srgbClr val="333333"/>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27" name="Google Shape;127;p20"/>
          <p:cNvSpPr/>
          <p:nvPr/>
        </p:nvSpPr>
        <p:spPr>
          <a:xfrm>
            <a:off x="6268379" y="960120"/>
            <a:ext cx="829840" cy="425196"/>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700"/>
              <a:buFont typeface="Arial"/>
              <a:buNone/>
            </a:pPr>
            <a:r>
              <a:rPr b="1" i="0" lang="en-GB" sz="900" u="none" cap="none" strike="noStrike">
                <a:solidFill>
                  <a:srgbClr val="000000"/>
                </a:solidFill>
                <a:latin typeface="Lato"/>
                <a:ea typeface="Lato"/>
                <a:cs typeface="Lato"/>
                <a:sym typeface="Lato"/>
              </a:rPr>
              <a:t>Edge</a:t>
            </a:r>
            <a:endParaRPr b="1" i="0" sz="900" u="none" cap="none" strike="noStrike">
              <a:solidFill>
                <a:schemeClr val="dk1"/>
              </a:solidFill>
              <a:latin typeface="Lato"/>
              <a:ea typeface="Lato"/>
              <a:cs typeface="Lato"/>
              <a:sym typeface="Lato"/>
            </a:endParaRPr>
          </a:p>
          <a:p>
            <a:pPr indent="0" lvl="0" marL="0" marR="0" rtl="0" algn="ctr">
              <a:spcBef>
                <a:spcPts val="0"/>
              </a:spcBef>
              <a:spcAft>
                <a:spcPts val="0"/>
              </a:spcAft>
              <a:buClr>
                <a:srgbClr val="000000"/>
              </a:buClr>
              <a:buSzPts val="700"/>
              <a:buFont typeface="Arial"/>
              <a:buNone/>
            </a:pPr>
            <a:r>
              <a:rPr b="1" i="0" lang="en-GB" sz="900" u="none" cap="none" strike="noStrike">
                <a:solidFill>
                  <a:srgbClr val="000000"/>
                </a:solidFill>
                <a:latin typeface="Lato"/>
                <a:ea typeface="Lato"/>
                <a:cs typeface="Lato"/>
                <a:sym typeface="Lato"/>
              </a:rPr>
              <a:t>map</a:t>
            </a:r>
            <a:endParaRPr b="1" i="0" sz="900" u="none" cap="none" strike="noStrike">
              <a:solidFill>
                <a:schemeClr val="dk1"/>
              </a:solidFill>
              <a:latin typeface="Lato"/>
              <a:ea typeface="Lato"/>
              <a:cs typeface="Lato"/>
              <a:sym typeface="Lato"/>
            </a:endParaRPr>
          </a:p>
        </p:txBody>
      </p:sp>
      <p:sp>
        <p:nvSpPr>
          <p:cNvPr id="128" name="Google Shape;128;p20"/>
          <p:cNvSpPr/>
          <p:nvPr/>
        </p:nvSpPr>
        <p:spPr>
          <a:xfrm>
            <a:off x="851399" y="1776175"/>
            <a:ext cx="74412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300"/>
              <a:buFont typeface="Arial"/>
              <a:buNone/>
            </a:pPr>
            <a:r>
              <a:rPr i="0" lang="en-GB" sz="1300" u="none" cap="none" strike="noStrike">
                <a:solidFill>
                  <a:schemeClr val="dk2"/>
                </a:solidFill>
                <a:latin typeface="Lato"/>
                <a:ea typeface="Lato"/>
                <a:cs typeface="Lato"/>
                <a:sym typeface="Lato"/>
              </a:rPr>
              <a:t>Sobel is a first-order derivative method: it looks for large local intensity changes, not zero-crossings.</a:t>
            </a:r>
            <a:endParaRPr i="0" sz="1300" u="none" cap="none" strike="noStrike">
              <a:solidFill>
                <a:schemeClr val="dk2"/>
              </a:solidFill>
              <a:latin typeface="Lato"/>
              <a:ea typeface="Lato"/>
              <a:cs typeface="Lato"/>
              <a:sym typeface="Lato"/>
            </a:endParaRPr>
          </a:p>
        </p:txBody>
      </p:sp>
      <p:sp>
        <p:nvSpPr>
          <p:cNvPr id="129" name="Google Shape;129;p20"/>
          <p:cNvSpPr/>
          <p:nvPr/>
        </p:nvSpPr>
        <p:spPr>
          <a:xfrm>
            <a:off x="1131600" y="2249424"/>
            <a:ext cx="1063018" cy="1714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000"/>
              <a:buFont typeface="Arial"/>
              <a:buNone/>
            </a:pPr>
            <a:r>
              <a:rPr b="1" i="0" lang="en-GB" sz="1000" u="none" cap="none" strike="noStrike">
                <a:solidFill>
                  <a:srgbClr val="202020"/>
                </a:solidFill>
                <a:latin typeface="Lato"/>
                <a:ea typeface="Lato"/>
                <a:cs typeface="Lato"/>
                <a:sym typeface="Lato"/>
              </a:rPr>
              <a:t>Gx</a:t>
            </a:r>
            <a:endParaRPr i="0" sz="1000" u="none" cap="none" strike="noStrike">
              <a:solidFill>
                <a:schemeClr val="dk1"/>
              </a:solidFill>
              <a:latin typeface="Lato"/>
              <a:ea typeface="Lato"/>
              <a:cs typeface="Lato"/>
              <a:sym typeface="Lato"/>
            </a:endParaRPr>
          </a:p>
        </p:txBody>
      </p:sp>
      <p:sp>
        <p:nvSpPr>
          <p:cNvPr id="130" name="Google Shape;130;p20"/>
          <p:cNvSpPr/>
          <p:nvPr/>
        </p:nvSpPr>
        <p:spPr>
          <a:xfrm>
            <a:off x="1131600" y="246888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31" name="Google Shape;131;p20"/>
          <p:cNvSpPr/>
          <p:nvPr/>
        </p:nvSpPr>
        <p:spPr>
          <a:xfrm>
            <a:off x="1131600" y="247573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132" name="Google Shape;132;p20"/>
          <p:cNvSpPr/>
          <p:nvPr/>
        </p:nvSpPr>
        <p:spPr>
          <a:xfrm>
            <a:off x="1485940" y="246888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33" name="Google Shape;133;p20"/>
          <p:cNvSpPr/>
          <p:nvPr/>
        </p:nvSpPr>
        <p:spPr>
          <a:xfrm>
            <a:off x="1485940" y="247573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34" name="Google Shape;134;p20"/>
          <p:cNvSpPr/>
          <p:nvPr/>
        </p:nvSpPr>
        <p:spPr>
          <a:xfrm>
            <a:off x="1840279" y="246888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35" name="Google Shape;135;p20"/>
          <p:cNvSpPr/>
          <p:nvPr/>
        </p:nvSpPr>
        <p:spPr>
          <a:xfrm>
            <a:off x="1840279" y="247573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136" name="Google Shape;136;p20"/>
          <p:cNvSpPr/>
          <p:nvPr/>
        </p:nvSpPr>
        <p:spPr>
          <a:xfrm>
            <a:off x="1131600" y="273177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37" name="Google Shape;137;p20"/>
          <p:cNvSpPr/>
          <p:nvPr/>
        </p:nvSpPr>
        <p:spPr>
          <a:xfrm>
            <a:off x="1131600" y="273862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b="1" i="0" lang="en-GB" sz="900" u="none" cap="none" strike="noStrike">
                <a:solidFill>
                  <a:srgbClr val="202020"/>
                </a:solidFill>
                <a:latin typeface="Lato"/>
                <a:ea typeface="Lato"/>
                <a:cs typeface="Lato"/>
                <a:sym typeface="Lato"/>
              </a:rPr>
              <a:t>-2</a:t>
            </a:r>
            <a:endParaRPr b="1" i="0" sz="900" u="none" cap="none" strike="noStrike">
              <a:solidFill>
                <a:schemeClr val="dk1"/>
              </a:solidFill>
              <a:latin typeface="Lato"/>
              <a:ea typeface="Lato"/>
              <a:cs typeface="Lato"/>
              <a:sym typeface="Lato"/>
            </a:endParaRPr>
          </a:p>
        </p:txBody>
      </p:sp>
      <p:sp>
        <p:nvSpPr>
          <p:cNvPr id="138" name="Google Shape;138;p20"/>
          <p:cNvSpPr/>
          <p:nvPr/>
        </p:nvSpPr>
        <p:spPr>
          <a:xfrm>
            <a:off x="1485940" y="273177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39" name="Google Shape;139;p20"/>
          <p:cNvSpPr/>
          <p:nvPr/>
        </p:nvSpPr>
        <p:spPr>
          <a:xfrm>
            <a:off x="1485940" y="273862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40" name="Google Shape;140;p20"/>
          <p:cNvSpPr/>
          <p:nvPr/>
        </p:nvSpPr>
        <p:spPr>
          <a:xfrm>
            <a:off x="1840279" y="273177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41" name="Google Shape;141;p20"/>
          <p:cNvSpPr/>
          <p:nvPr/>
        </p:nvSpPr>
        <p:spPr>
          <a:xfrm>
            <a:off x="1840279" y="273862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b="1" i="0" lang="en-GB" sz="900" u="none" cap="none" strike="noStrike">
                <a:solidFill>
                  <a:srgbClr val="202020"/>
                </a:solidFill>
                <a:latin typeface="Lato"/>
                <a:ea typeface="Lato"/>
                <a:cs typeface="Lato"/>
                <a:sym typeface="Lato"/>
              </a:rPr>
              <a:t>2</a:t>
            </a:r>
            <a:endParaRPr i="0" sz="900" u="none" cap="none" strike="noStrike">
              <a:solidFill>
                <a:schemeClr val="dk1"/>
              </a:solidFill>
              <a:latin typeface="Lato"/>
              <a:ea typeface="Lato"/>
              <a:cs typeface="Lato"/>
              <a:sym typeface="Lato"/>
            </a:endParaRPr>
          </a:p>
        </p:txBody>
      </p:sp>
      <p:sp>
        <p:nvSpPr>
          <p:cNvPr id="142" name="Google Shape;142;p20"/>
          <p:cNvSpPr/>
          <p:nvPr/>
        </p:nvSpPr>
        <p:spPr>
          <a:xfrm>
            <a:off x="1131600" y="299466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43" name="Google Shape;143;p20"/>
          <p:cNvSpPr/>
          <p:nvPr/>
        </p:nvSpPr>
        <p:spPr>
          <a:xfrm>
            <a:off x="1131600" y="300151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144" name="Google Shape;144;p20"/>
          <p:cNvSpPr/>
          <p:nvPr/>
        </p:nvSpPr>
        <p:spPr>
          <a:xfrm>
            <a:off x="1485940" y="299466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45" name="Google Shape;145;p20"/>
          <p:cNvSpPr/>
          <p:nvPr/>
        </p:nvSpPr>
        <p:spPr>
          <a:xfrm>
            <a:off x="1485940" y="300151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46" name="Google Shape;146;p20"/>
          <p:cNvSpPr/>
          <p:nvPr/>
        </p:nvSpPr>
        <p:spPr>
          <a:xfrm>
            <a:off x="1840279" y="299466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47" name="Google Shape;147;p20"/>
          <p:cNvSpPr/>
          <p:nvPr/>
        </p:nvSpPr>
        <p:spPr>
          <a:xfrm>
            <a:off x="1840279" y="300151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148" name="Google Shape;148;p20"/>
          <p:cNvSpPr/>
          <p:nvPr/>
        </p:nvSpPr>
        <p:spPr>
          <a:xfrm>
            <a:off x="2846146" y="2249424"/>
            <a:ext cx="1063018" cy="1714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000"/>
              <a:buFont typeface="Arial"/>
              <a:buNone/>
            </a:pPr>
            <a:r>
              <a:rPr b="1" i="0" lang="en-GB" sz="1000" u="none" cap="none" strike="noStrike">
                <a:solidFill>
                  <a:srgbClr val="202020"/>
                </a:solidFill>
                <a:latin typeface="Lato"/>
                <a:ea typeface="Lato"/>
                <a:cs typeface="Lato"/>
                <a:sym typeface="Lato"/>
              </a:rPr>
              <a:t>Gy</a:t>
            </a:r>
            <a:endParaRPr i="0" sz="1000" u="none" cap="none" strike="noStrike">
              <a:solidFill>
                <a:schemeClr val="dk1"/>
              </a:solidFill>
              <a:latin typeface="Lato"/>
              <a:ea typeface="Lato"/>
              <a:cs typeface="Lato"/>
              <a:sym typeface="Lato"/>
            </a:endParaRPr>
          </a:p>
        </p:txBody>
      </p:sp>
      <p:sp>
        <p:nvSpPr>
          <p:cNvPr id="149" name="Google Shape;149;p20"/>
          <p:cNvSpPr/>
          <p:nvPr/>
        </p:nvSpPr>
        <p:spPr>
          <a:xfrm>
            <a:off x="2846146" y="246888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50" name="Google Shape;150;p20"/>
          <p:cNvSpPr/>
          <p:nvPr/>
        </p:nvSpPr>
        <p:spPr>
          <a:xfrm>
            <a:off x="2846146" y="247573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151" name="Google Shape;151;p20"/>
          <p:cNvSpPr/>
          <p:nvPr/>
        </p:nvSpPr>
        <p:spPr>
          <a:xfrm>
            <a:off x="3200485" y="246888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52" name="Google Shape;152;p20"/>
          <p:cNvSpPr/>
          <p:nvPr/>
        </p:nvSpPr>
        <p:spPr>
          <a:xfrm>
            <a:off x="3200485" y="247573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b="1" i="0" lang="en-GB" sz="900" u="none" cap="none" strike="noStrike">
                <a:solidFill>
                  <a:srgbClr val="202020"/>
                </a:solidFill>
                <a:latin typeface="Lato"/>
                <a:ea typeface="Lato"/>
                <a:cs typeface="Lato"/>
                <a:sym typeface="Lato"/>
              </a:rPr>
              <a:t>2</a:t>
            </a:r>
            <a:endParaRPr i="0" sz="900" u="none" cap="none" strike="noStrike">
              <a:solidFill>
                <a:schemeClr val="dk1"/>
              </a:solidFill>
              <a:latin typeface="Lato"/>
              <a:ea typeface="Lato"/>
              <a:cs typeface="Lato"/>
              <a:sym typeface="Lato"/>
            </a:endParaRPr>
          </a:p>
        </p:txBody>
      </p:sp>
      <p:sp>
        <p:nvSpPr>
          <p:cNvPr id="153" name="Google Shape;153;p20"/>
          <p:cNvSpPr/>
          <p:nvPr/>
        </p:nvSpPr>
        <p:spPr>
          <a:xfrm>
            <a:off x="3554825" y="246888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54" name="Google Shape;154;p20"/>
          <p:cNvSpPr/>
          <p:nvPr/>
        </p:nvSpPr>
        <p:spPr>
          <a:xfrm>
            <a:off x="3554825" y="247573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155" name="Google Shape;155;p20"/>
          <p:cNvSpPr/>
          <p:nvPr/>
        </p:nvSpPr>
        <p:spPr>
          <a:xfrm>
            <a:off x="2846146" y="273177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56" name="Google Shape;156;p20"/>
          <p:cNvSpPr/>
          <p:nvPr/>
        </p:nvSpPr>
        <p:spPr>
          <a:xfrm>
            <a:off x="2846146" y="273862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57" name="Google Shape;157;p20"/>
          <p:cNvSpPr/>
          <p:nvPr/>
        </p:nvSpPr>
        <p:spPr>
          <a:xfrm>
            <a:off x="3200485" y="273177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58" name="Google Shape;158;p20"/>
          <p:cNvSpPr/>
          <p:nvPr/>
        </p:nvSpPr>
        <p:spPr>
          <a:xfrm>
            <a:off x="3200485" y="273862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59" name="Google Shape;159;p20"/>
          <p:cNvSpPr/>
          <p:nvPr/>
        </p:nvSpPr>
        <p:spPr>
          <a:xfrm>
            <a:off x="3554825" y="273177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60" name="Google Shape;160;p20"/>
          <p:cNvSpPr/>
          <p:nvPr/>
        </p:nvSpPr>
        <p:spPr>
          <a:xfrm>
            <a:off x="3554825" y="273862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61" name="Google Shape;161;p20"/>
          <p:cNvSpPr/>
          <p:nvPr/>
        </p:nvSpPr>
        <p:spPr>
          <a:xfrm>
            <a:off x="2846146" y="299466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62" name="Google Shape;162;p20"/>
          <p:cNvSpPr/>
          <p:nvPr/>
        </p:nvSpPr>
        <p:spPr>
          <a:xfrm>
            <a:off x="2846146" y="300151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163" name="Google Shape;163;p20"/>
          <p:cNvSpPr/>
          <p:nvPr/>
        </p:nvSpPr>
        <p:spPr>
          <a:xfrm>
            <a:off x="3200485" y="299466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64" name="Google Shape;164;p20"/>
          <p:cNvSpPr/>
          <p:nvPr/>
        </p:nvSpPr>
        <p:spPr>
          <a:xfrm>
            <a:off x="3200485" y="300151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b="1" i="0" lang="en-GB" sz="900" u="none" cap="none" strike="noStrike">
                <a:solidFill>
                  <a:srgbClr val="202020"/>
                </a:solidFill>
                <a:latin typeface="Lato"/>
                <a:ea typeface="Lato"/>
                <a:cs typeface="Lato"/>
                <a:sym typeface="Lato"/>
              </a:rPr>
              <a:t>-2</a:t>
            </a:r>
            <a:endParaRPr i="0" sz="900" u="none" cap="none" strike="noStrike">
              <a:solidFill>
                <a:schemeClr val="dk1"/>
              </a:solidFill>
              <a:latin typeface="Lato"/>
              <a:ea typeface="Lato"/>
              <a:cs typeface="Lato"/>
              <a:sym typeface="Lato"/>
            </a:endParaRPr>
          </a:p>
        </p:txBody>
      </p:sp>
      <p:sp>
        <p:nvSpPr>
          <p:cNvPr id="165" name="Google Shape;165;p20"/>
          <p:cNvSpPr/>
          <p:nvPr/>
        </p:nvSpPr>
        <p:spPr>
          <a:xfrm>
            <a:off x="3554825" y="2994660"/>
            <a:ext cx="354339" cy="26289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66" name="Google Shape;166;p20"/>
          <p:cNvSpPr/>
          <p:nvPr/>
        </p:nvSpPr>
        <p:spPr>
          <a:xfrm>
            <a:off x="3554825" y="3001518"/>
            <a:ext cx="354339" cy="24917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167" name="Google Shape;167;p20"/>
          <p:cNvSpPr/>
          <p:nvPr/>
        </p:nvSpPr>
        <p:spPr>
          <a:xfrm>
            <a:off x="4903601" y="2420874"/>
            <a:ext cx="150880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100"/>
              <a:buFont typeface="Arial"/>
              <a:buNone/>
            </a:pPr>
            <a:r>
              <a:rPr b="1" lang="en-GB" sz="1100">
                <a:solidFill>
                  <a:srgbClr val="5E6A6F"/>
                </a:solidFill>
                <a:latin typeface="Lato"/>
                <a:ea typeface="Lato"/>
                <a:cs typeface="Lato"/>
                <a:sym typeface="Lato"/>
              </a:rPr>
              <a:t>Gradient </a:t>
            </a:r>
            <a:r>
              <a:rPr b="1" i="0" lang="en-GB" sz="1100" u="none" cap="none" strike="noStrike">
                <a:solidFill>
                  <a:srgbClr val="5E6A6F"/>
                </a:solidFill>
                <a:latin typeface="Lato"/>
                <a:ea typeface="Lato"/>
                <a:cs typeface="Lato"/>
                <a:sym typeface="Lato"/>
              </a:rPr>
              <a:t>Magnitude:</a:t>
            </a:r>
            <a:endParaRPr i="0" sz="1100" u="none" cap="none" strike="noStrike">
              <a:solidFill>
                <a:schemeClr val="dk1"/>
              </a:solidFill>
              <a:latin typeface="Lato"/>
              <a:ea typeface="Lato"/>
              <a:cs typeface="Lato"/>
              <a:sym typeface="Lato"/>
            </a:endParaRPr>
          </a:p>
        </p:txBody>
      </p:sp>
      <p:sp>
        <p:nvSpPr>
          <p:cNvPr id="168" name="Google Shape;168;p20"/>
          <p:cNvSpPr/>
          <p:nvPr/>
        </p:nvSpPr>
        <p:spPr>
          <a:xfrm>
            <a:off x="4869310" y="2674620"/>
            <a:ext cx="1474509" cy="445770"/>
          </a:xfrm>
          <a:prstGeom prst="roundRect">
            <a:avLst>
              <a:gd fmla="val 18462"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69" name="Google Shape;169;p20"/>
          <p:cNvSpPr/>
          <p:nvPr/>
        </p:nvSpPr>
        <p:spPr>
          <a:xfrm>
            <a:off x="4951608" y="2729484"/>
            <a:ext cx="1309913" cy="336042"/>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200"/>
              <a:buFont typeface="Arial"/>
              <a:buNone/>
            </a:pPr>
            <a:r>
              <a:rPr b="1" lang="en-GB" sz="1200">
                <a:latin typeface="Lato"/>
                <a:ea typeface="Lato"/>
                <a:cs typeface="Lato"/>
                <a:sym typeface="Lato"/>
              </a:rPr>
              <a:t>√</a:t>
            </a:r>
            <a:r>
              <a:rPr b="1" i="0" lang="en-GB" sz="1200" u="none" cap="none" strike="noStrike">
                <a:solidFill>
                  <a:srgbClr val="000000"/>
                </a:solidFill>
                <a:latin typeface="Lato"/>
                <a:ea typeface="Lato"/>
                <a:cs typeface="Lato"/>
                <a:sym typeface="Lato"/>
              </a:rPr>
              <a:t>(Gx² + Gy²</a:t>
            </a:r>
            <a:r>
              <a:rPr b="1" i="0" lang="en-GB" sz="1200" u="none" cap="none" strike="noStrike">
                <a:solidFill>
                  <a:srgbClr val="000000"/>
                </a:solidFill>
                <a:latin typeface="Lato"/>
                <a:ea typeface="Lato"/>
                <a:cs typeface="Lato"/>
                <a:sym typeface="Lato"/>
              </a:rPr>
              <a:t>)</a:t>
            </a:r>
            <a:endParaRPr i="0" sz="1200" u="none" cap="none" strike="noStrike">
              <a:solidFill>
                <a:schemeClr val="dk1"/>
              </a:solidFill>
              <a:latin typeface="Lato"/>
              <a:ea typeface="Lato"/>
              <a:cs typeface="Lato"/>
              <a:sym typeface="Lato"/>
            </a:endParaRPr>
          </a:p>
        </p:txBody>
      </p:sp>
      <p:sp>
        <p:nvSpPr>
          <p:cNvPr id="170" name="Google Shape;170;p20"/>
          <p:cNvSpPr/>
          <p:nvPr/>
        </p:nvSpPr>
        <p:spPr>
          <a:xfrm>
            <a:off x="6823892" y="2420874"/>
            <a:ext cx="1097309"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100"/>
              <a:buFont typeface="Arial"/>
              <a:buNone/>
            </a:pPr>
            <a:r>
              <a:rPr b="1" lang="en-GB" sz="1100">
                <a:solidFill>
                  <a:srgbClr val="5E6A6F"/>
                </a:solidFill>
                <a:latin typeface="Lato"/>
                <a:ea typeface="Lato"/>
                <a:cs typeface="Lato"/>
                <a:sym typeface="Lato"/>
              </a:rPr>
              <a:t>Edge </a:t>
            </a:r>
            <a:r>
              <a:rPr b="1" i="0" lang="en-GB" sz="1100" u="none" cap="none" strike="noStrike">
                <a:solidFill>
                  <a:srgbClr val="5E6A6F"/>
                </a:solidFill>
                <a:latin typeface="Lato"/>
                <a:ea typeface="Lato"/>
                <a:cs typeface="Lato"/>
                <a:sym typeface="Lato"/>
              </a:rPr>
              <a:t>Direction:</a:t>
            </a:r>
            <a:endParaRPr i="0" sz="1100" u="none" cap="none" strike="noStrike">
              <a:solidFill>
                <a:schemeClr val="dk1"/>
              </a:solidFill>
              <a:latin typeface="Lato"/>
              <a:ea typeface="Lato"/>
              <a:cs typeface="Lato"/>
              <a:sym typeface="Lato"/>
            </a:endParaRPr>
          </a:p>
        </p:txBody>
      </p:sp>
      <p:sp>
        <p:nvSpPr>
          <p:cNvPr id="171" name="Google Shape;171;p20"/>
          <p:cNvSpPr/>
          <p:nvPr/>
        </p:nvSpPr>
        <p:spPr>
          <a:xfrm>
            <a:off x="6686728" y="2674620"/>
            <a:ext cx="1543091" cy="445770"/>
          </a:xfrm>
          <a:prstGeom prst="roundRect">
            <a:avLst>
              <a:gd fmla="val 18462" name="adj"/>
            </a:avLst>
          </a:prstGeom>
          <a:solidFill>
            <a:srgbClr val="F65B60"/>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72" name="Google Shape;172;p20"/>
          <p:cNvSpPr/>
          <p:nvPr/>
        </p:nvSpPr>
        <p:spPr>
          <a:xfrm>
            <a:off x="6769026" y="2729484"/>
            <a:ext cx="1378495" cy="336042"/>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100"/>
              <a:buFont typeface="Arial"/>
              <a:buNone/>
            </a:pPr>
            <a:r>
              <a:rPr b="1" i="0" lang="en-GB" sz="1100" u="none" cap="none" strike="noStrike">
                <a:solidFill>
                  <a:schemeClr val="lt1"/>
                </a:solidFill>
                <a:latin typeface="Lato"/>
                <a:ea typeface="Lato"/>
                <a:cs typeface="Lato"/>
                <a:sym typeface="Lato"/>
              </a:rPr>
              <a:t>tan⁻¹(Gy / Gx)</a:t>
            </a:r>
            <a:endParaRPr i="0" sz="1100" u="none" cap="none" strike="noStrike">
              <a:solidFill>
                <a:schemeClr val="lt1"/>
              </a:solidFill>
              <a:latin typeface="Lato"/>
              <a:ea typeface="Lato"/>
              <a:cs typeface="Lato"/>
              <a:sym typeface="Lato"/>
            </a:endParaRPr>
          </a:p>
        </p:txBody>
      </p:sp>
      <p:sp>
        <p:nvSpPr>
          <p:cNvPr id="173" name="Google Shape;173;p20"/>
          <p:cNvSpPr/>
          <p:nvPr/>
        </p:nvSpPr>
        <p:spPr>
          <a:xfrm>
            <a:off x="459675" y="3881588"/>
            <a:ext cx="8064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300"/>
              <a:buFont typeface="Arial"/>
              <a:buNone/>
            </a:pPr>
            <a:r>
              <a:rPr b="1" i="0" lang="en-GB" sz="1300" u="none" cap="none" strike="noStrike">
                <a:solidFill>
                  <a:srgbClr val="5E6A6F"/>
                </a:solidFill>
                <a:latin typeface="Lato"/>
                <a:ea typeface="Lato"/>
                <a:cs typeface="Lato"/>
                <a:sym typeface="Lato"/>
              </a:rPr>
              <a:t>The centre row/column is weighted more strongly, so Sobel smooths slightly while</a:t>
            </a:r>
            <a:r>
              <a:rPr b="1" lang="en-GB" sz="1300">
                <a:solidFill>
                  <a:srgbClr val="5E6A6F"/>
                </a:solidFill>
                <a:latin typeface="Lato"/>
                <a:ea typeface="Lato"/>
                <a:cs typeface="Lato"/>
                <a:sym typeface="Lato"/>
              </a:rPr>
              <a:t> </a:t>
            </a:r>
            <a:r>
              <a:rPr b="1" i="0" lang="en-GB" sz="1300" u="none" cap="none" strike="noStrike">
                <a:solidFill>
                  <a:srgbClr val="5E6A6F"/>
                </a:solidFill>
                <a:latin typeface="Lato"/>
                <a:ea typeface="Lato"/>
                <a:cs typeface="Lato"/>
                <a:sym typeface="Lato"/>
              </a:rPr>
              <a:t>differentiating.</a:t>
            </a:r>
            <a:endParaRPr i="0" sz="1300" u="none" cap="none" strike="noStrike">
              <a:solidFill>
                <a:schemeClr val="dk1"/>
              </a:solidFill>
              <a:latin typeface="Lato"/>
              <a:ea typeface="Lato"/>
              <a:cs typeface="Lato"/>
              <a:sym typeface="Lato"/>
            </a:endParaRPr>
          </a:p>
        </p:txBody>
      </p:sp>
      <p:sp>
        <p:nvSpPr>
          <p:cNvPr id="174" name="Google Shape;174;p20"/>
          <p:cNvSpPr/>
          <p:nvPr/>
        </p:nvSpPr>
        <p:spPr>
          <a:xfrm>
            <a:off x="0" y="5077250"/>
            <a:ext cx="9144000" cy="663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 name="Google Shape;175;p20"/>
          <p:cNvSpPr txBox="1"/>
          <p:nvPr/>
        </p:nvSpPr>
        <p:spPr>
          <a:xfrm>
            <a:off x="4730263" y="3163050"/>
            <a:ext cx="1752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200"/>
              <a:buFont typeface="Arial"/>
              <a:buNone/>
            </a:pPr>
            <a:r>
              <a:rPr b="1" lang="en-GB" sz="1200">
                <a:solidFill>
                  <a:schemeClr val="dk2"/>
                </a:solidFill>
                <a:latin typeface="Lato"/>
                <a:ea typeface="Lato"/>
                <a:cs typeface="Lato"/>
                <a:sym typeface="Lato"/>
              </a:rPr>
              <a:t>≈ [</a:t>
            </a:r>
            <a:r>
              <a:rPr b="1" lang="en-GB" sz="1200">
                <a:solidFill>
                  <a:schemeClr val="dk2"/>
                </a:solidFill>
                <a:latin typeface="Lato"/>
                <a:ea typeface="Lato"/>
                <a:cs typeface="Lato"/>
                <a:sym typeface="Lato"/>
              </a:rPr>
              <a:t>Gx] + [Gy]</a:t>
            </a:r>
            <a:endParaRPr>
              <a:solidFill>
                <a:schemeClr val="dk2"/>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21"/>
          <p:cNvSpPr/>
          <p:nvPr/>
        </p:nvSpPr>
        <p:spPr>
          <a:xfrm>
            <a:off x="246094" y="241938"/>
            <a:ext cx="8572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i="0" lang="en-GB" sz="2000" u="none" cap="none" strike="noStrike">
                <a:solidFill>
                  <a:srgbClr val="F65B60"/>
                </a:solidFill>
                <a:latin typeface="Georgia"/>
                <a:ea typeface="Georgia"/>
                <a:cs typeface="Georgia"/>
                <a:sym typeface="Georgia"/>
              </a:rPr>
              <a:t>Sobel: Worked </a:t>
            </a:r>
            <a:r>
              <a:rPr b="1" lang="en-GB" sz="2000">
                <a:solidFill>
                  <a:srgbClr val="F65B60"/>
                </a:solidFill>
                <a:latin typeface="Georgia"/>
                <a:ea typeface="Georgia"/>
                <a:cs typeface="Georgia"/>
                <a:sym typeface="Georgia"/>
              </a:rPr>
              <a:t>E</a:t>
            </a:r>
            <a:r>
              <a:rPr b="1" i="0" lang="en-GB" sz="2000" u="none" cap="none" strike="noStrike">
                <a:solidFill>
                  <a:srgbClr val="F65B60"/>
                </a:solidFill>
                <a:latin typeface="Georgia"/>
                <a:ea typeface="Georgia"/>
                <a:cs typeface="Georgia"/>
                <a:sym typeface="Georgia"/>
              </a:rPr>
              <a:t>xample</a:t>
            </a:r>
            <a:endParaRPr b="0" i="0" sz="2000" u="none" cap="none" strike="noStrike">
              <a:solidFill>
                <a:schemeClr val="dk1"/>
              </a:solidFill>
              <a:latin typeface="Arial"/>
              <a:ea typeface="Arial"/>
              <a:cs typeface="Arial"/>
              <a:sym typeface="Arial"/>
            </a:endParaRPr>
          </a:p>
        </p:txBody>
      </p:sp>
      <p:sp>
        <p:nvSpPr>
          <p:cNvPr id="182" name="Google Shape;182;p21"/>
          <p:cNvSpPr/>
          <p:nvPr/>
        </p:nvSpPr>
        <p:spPr>
          <a:xfrm>
            <a:off x="789865" y="1250874"/>
            <a:ext cx="1200300" cy="1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000"/>
              <a:buFont typeface="Arial"/>
              <a:buNone/>
            </a:pPr>
            <a:r>
              <a:rPr b="1" i="0" lang="en-GB" sz="1000" u="none" cap="none" strike="noStrike">
                <a:solidFill>
                  <a:srgbClr val="202020"/>
                </a:solidFill>
                <a:latin typeface="Lato"/>
                <a:ea typeface="Lato"/>
                <a:cs typeface="Lato"/>
                <a:sym typeface="Lato"/>
              </a:rPr>
              <a:t>3×3 image patch</a:t>
            </a:r>
            <a:endParaRPr i="0" sz="1000" u="none" cap="none" strike="noStrike">
              <a:solidFill>
                <a:schemeClr val="dk1"/>
              </a:solidFill>
              <a:latin typeface="Lato"/>
              <a:ea typeface="Lato"/>
              <a:cs typeface="Lato"/>
              <a:sym typeface="Lato"/>
            </a:endParaRPr>
          </a:p>
        </p:txBody>
      </p:sp>
      <p:sp>
        <p:nvSpPr>
          <p:cNvPr id="183" name="Google Shape;183;p21"/>
          <p:cNvSpPr/>
          <p:nvPr/>
        </p:nvSpPr>
        <p:spPr>
          <a:xfrm>
            <a:off x="789865" y="147033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84" name="Google Shape;184;p21"/>
          <p:cNvSpPr/>
          <p:nvPr/>
        </p:nvSpPr>
        <p:spPr>
          <a:xfrm>
            <a:off x="789865" y="147718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10</a:t>
            </a:r>
            <a:endParaRPr i="0" sz="900" u="none" cap="none" strike="noStrike">
              <a:solidFill>
                <a:schemeClr val="dk1"/>
              </a:solidFill>
              <a:latin typeface="Lato"/>
              <a:ea typeface="Lato"/>
              <a:cs typeface="Lato"/>
              <a:sym typeface="Lato"/>
            </a:endParaRPr>
          </a:p>
        </p:txBody>
      </p:sp>
      <p:sp>
        <p:nvSpPr>
          <p:cNvPr id="185" name="Google Shape;185;p21"/>
          <p:cNvSpPr/>
          <p:nvPr/>
        </p:nvSpPr>
        <p:spPr>
          <a:xfrm>
            <a:off x="1189926" y="147033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86" name="Google Shape;186;p21"/>
          <p:cNvSpPr/>
          <p:nvPr/>
        </p:nvSpPr>
        <p:spPr>
          <a:xfrm>
            <a:off x="1189926" y="147718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10</a:t>
            </a:r>
            <a:endParaRPr i="0" sz="900" u="none" cap="none" strike="noStrike">
              <a:solidFill>
                <a:schemeClr val="dk1"/>
              </a:solidFill>
              <a:latin typeface="Lato"/>
              <a:ea typeface="Lato"/>
              <a:cs typeface="Lato"/>
              <a:sym typeface="Lato"/>
            </a:endParaRPr>
          </a:p>
        </p:txBody>
      </p:sp>
      <p:sp>
        <p:nvSpPr>
          <p:cNvPr id="187" name="Google Shape;187;p21"/>
          <p:cNvSpPr/>
          <p:nvPr/>
        </p:nvSpPr>
        <p:spPr>
          <a:xfrm>
            <a:off x="1589986" y="147033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88" name="Google Shape;188;p21"/>
          <p:cNvSpPr/>
          <p:nvPr/>
        </p:nvSpPr>
        <p:spPr>
          <a:xfrm>
            <a:off x="1589986" y="147718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10</a:t>
            </a:r>
            <a:endParaRPr i="0" sz="900" u="none" cap="none" strike="noStrike">
              <a:solidFill>
                <a:schemeClr val="dk1"/>
              </a:solidFill>
              <a:latin typeface="Lato"/>
              <a:ea typeface="Lato"/>
              <a:cs typeface="Lato"/>
              <a:sym typeface="Lato"/>
            </a:endParaRPr>
          </a:p>
        </p:txBody>
      </p:sp>
      <p:sp>
        <p:nvSpPr>
          <p:cNvPr id="189" name="Google Shape;189;p21"/>
          <p:cNvSpPr/>
          <p:nvPr/>
        </p:nvSpPr>
        <p:spPr>
          <a:xfrm>
            <a:off x="789865" y="175608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90" name="Google Shape;190;p21"/>
          <p:cNvSpPr/>
          <p:nvPr/>
        </p:nvSpPr>
        <p:spPr>
          <a:xfrm>
            <a:off x="789865" y="17629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91" name="Google Shape;191;p21"/>
          <p:cNvSpPr/>
          <p:nvPr/>
        </p:nvSpPr>
        <p:spPr>
          <a:xfrm>
            <a:off x="1189926" y="175608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92" name="Google Shape;192;p21"/>
          <p:cNvSpPr/>
          <p:nvPr/>
        </p:nvSpPr>
        <p:spPr>
          <a:xfrm>
            <a:off x="1189926" y="17629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93" name="Google Shape;193;p21"/>
          <p:cNvSpPr/>
          <p:nvPr/>
        </p:nvSpPr>
        <p:spPr>
          <a:xfrm>
            <a:off x="1589986" y="175608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94" name="Google Shape;194;p21"/>
          <p:cNvSpPr/>
          <p:nvPr/>
        </p:nvSpPr>
        <p:spPr>
          <a:xfrm>
            <a:off x="1589986" y="17629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95" name="Google Shape;195;p21"/>
          <p:cNvSpPr/>
          <p:nvPr/>
        </p:nvSpPr>
        <p:spPr>
          <a:xfrm>
            <a:off x="789865" y="204183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96" name="Google Shape;196;p21"/>
          <p:cNvSpPr/>
          <p:nvPr/>
        </p:nvSpPr>
        <p:spPr>
          <a:xfrm>
            <a:off x="789865" y="204868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97" name="Google Shape;197;p21"/>
          <p:cNvSpPr/>
          <p:nvPr/>
        </p:nvSpPr>
        <p:spPr>
          <a:xfrm>
            <a:off x="1189926" y="204183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98" name="Google Shape;198;p21"/>
          <p:cNvSpPr/>
          <p:nvPr/>
        </p:nvSpPr>
        <p:spPr>
          <a:xfrm>
            <a:off x="1189926" y="204868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199" name="Google Shape;199;p21"/>
          <p:cNvSpPr/>
          <p:nvPr/>
        </p:nvSpPr>
        <p:spPr>
          <a:xfrm>
            <a:off x="1589986" y="2041830"/>
            <a:ext cx="400200" cy="285900"/>
          </a:xfrm>
          <a:prstGeom prst="rect">
            <a:avLst/>
          </a:prstGeom>
          <a:solidFill>
            <a:srgbClr val="F7F7F7"/>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00" name="Google Shape;200;p21"/>
          <p:cNvSpPr/>
          <p:nvPr/>
        </p:nvSpPr>
        <p:spPr>
          <a:xfrm>
            <a:off x="1589986" y="20487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201" name="Google Shape;201;p21"/>
          <p:cNvSpPr/>
          <p:nvPr/>
        </p:nvSpPr>
        <p:spPr>
          <a:xfrm>
            <a:off x="2879317" y="678024"/>
            <a:ext cx="1200300" cy="1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000"/>
              <a:buFont typeface="Arial"/>
              <a:buNone/>
            </a:pPr>
            <a:r>
              <a:rPr b="1" i="0" lang="en-GB" sz="1000" u="none" cap="none" strike="noStrike">
                <a:solidFill>
                  <a:srgbClr val="202020"/>
                </a:solidFill>
                <a:latin typeface="Lato"/>
                <a:ea typeface="Lato"/>
                <a:cs typeface="Lato"/>
                <a:sym typeface="Lato"/>
              </a:rPr>
              <a:t>Gy kernel</a:t>
            </a:r>
            <a:endParaRPr i="0" sz="1000" u="none" cap="none" strike="noStrike">
              <a:solidFill>
                <a:schemeClr val="dk1"/>
              </a:solidFill>
              <a:latin typeface="Lato"/>
              <a:ea typeface="Lato"/>
              <a:cs typeface="Lato"/>
              <a:sym typeface="Lato"/>
            </a:endParaRPr>
          </a:p>
        </p:txBody>
      </p:sp>
      <p:sp>
        <p:nvSpPr>
          <p:cNvPr id="202" name="Google Shape;202;p21"/>
          <p:cNvSpPr/>
          <p:nvPr/>
        </p:nvSpPr>
        <p:spPr>
          <a:xfrm>
            <a:off x="2879317" y="89748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03" name="Google Shape;203;p21"/>
          <p:cNvSpPr/>
          <p:nvPr/>
        </p:nvSpPr>
        <p:spPr>
          <a:xfrm>
            <a:off x="2879317" y="9043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204" name="Google Shape;204;p21"/>
          <p:cNvSpPr/>
          <p:nvPr/>
        </p:nvSpPr>
        <p:spPr>
          <a:xfrm>
            <a:off x="3279378" y="89748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05" name="Google Shape;205;p21"/>
          <p:cNvSpPr/>
          <p:nvPr/>
        </p:nvSpPr>
        <p:spPr>
          <a:xfrm>
            <a:off x="3279378" y="9043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b="1" i="0" lang="en-GB" sz="900" u="none" cap="none" strike="noStrike">
                <a:solidFill>
                  <a:srgbClr val="202020"/>
                </a:solidFill>
                <a:latin typeface="Lato"/>
                <a:ea typeface="Lato"/>
                <a:cs typeface="Lato"/>
                <a:sym typeface="Lato"/>
              </a:rPr>
              <a:t>2</a:t>
            </a:r>
            <a:endParaRPr i="0" sz="900" u="none" cap="none" strike="noStrike">
              <a:solidFill>
                <a:schemeClr val="dk1"/>
              </a:solidFill>
              <a:latin typeface="Lato"/>
              <a:ea typeface="Lato"/>
              <a:cs typeface="Lato"/>
              <a:sym typeface="Lato"/>
            </a:endParaRPr>
          </a:p>
        </p:txBody>
      </p:sp>
      <p:sp>
        <p:nvSpPr>
          <p:cNvPr id="206" name="Google Shape;206;p21"/>
          <p:cNvSpPr/>
          <p:nvPr/>
        </p:nvSpPr>
        <p:spPr>
          <a:xfrm>
            <a:off x="3679439" y="89748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07" name="Google Shape;207;p21"/>
          <p:cNvSpPr/>
          <p:nvPr/>
        </p:nvSpPr>
        <p:spPr>
          <a:xfrm>
            <a:off x="3679439" y="9043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208" name="Google Shape;208;p21"/>
          <p:cNvSpPr/>
          <p:nvPr/>
        </p:nvSpPr>
        <p:spPr>
          <a:xfrm>
            <a:off x="2879317" y="118323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09" name="Google Shape;209;p21"/>
          <p:cNvSpPr/>
          <p:nvPr/>
        </p:nvSpPr>
        <p:spPr>
          <a:xfrm>
            <a:off x="2879317" y="119008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210" name="Google Shape;210;p21"/>
          <p:cNvSpPr/>
          <p:nvPr/>
        </p:nvSpPr>
        <p:spPr>
          <a:xfrm>
            <a:off x="3279378" y="118323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11" name="Google Shape;211;p21"/>
          <p:cNvSpPr/>
          <p:nvPr/>
        </p:nvSpPr>
        <p:spPr>
          <a:xfrm>
            <a:off x="3279378" y="119008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212" name="Google Shape;212;p21"/>
          <p:cNvSpPr/>
          <p:nvPr/>
        </p:nvSpPr>
        <p:spPr>
          <a:xfrm>
            <a:off x="3679439" y="118323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13" name="Google Shape;213;p21"/>
          <p:cNvSpPr/>
          <p:nvPr/>
        </p:nvSpPr>
        <p:spPr>
          <a:xfrm>
            <a:off x="3679439" y="119008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214" name="Google Shape;214;p21"/>
          <p:cNvSpPr/>
          <p:nvPr/>
        </p:nvSpPr>
        <p:spPr>
          <a:xfrm>
            <a:off x="2879317" y="146898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15" name="Google Shape;215;p21"/>
          <p:cNvSpPr/>
          <p:nvPr/>
        </p:nvSpPr>
        <p:spPr>
          <a:xfrm>
            <a:off x="2879317" y="14758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216" name="Google Shape;216;p21"/>
          <p:cNvSpPr/>
          <p:nvPr/>
        </p:nvSpPr>
        <p:spPr>
          <a:xfrm>
            <a:off x="3279378" y="146898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17" name="Google Shape;217;p21"/>
          <p:cNvSpPr/>
          <p:nvPr/>
        </p:nvSpPr>
        <p:spPr>
          <a:xfrm>
            <a:off x="3279378" y="14758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b="1" i="0" lang="en-GB" sz="900" u="none" cap="none" strike="noStrike">
                <a:solidFill>
                  <a:srgbClr val="202020"/>
                </a:solidFill>
                <a:latin typeface="Lato"/>
                <a:ea typeface="Lato"/>
                <a:cs typeface="Lato"/>
                <a:sym typeface="Lato"/>
              </a:rPr>
              <a:t>-2</a:t>
            </a:r>
            <a:endParaRPr i="0" sz="900" u="none" cap="none" strike="noStrike">
              <a:solidFill>
                <a:schemeClr val="dk1"/>
              </a:solidFill>
              <a:latin typeface="Lato"/>
              <a:ea typeface="Lato"/>
              <a:cs typeface="Lato"/>
              <a:sym typeface="Lato"/>
            </a:endParaRPr>
          </a:p>
        </p:txBody>
      </p:sp>
      <p:sp>
        <p:nvSpPr>
          <p:cNvPr id="218" name="Google Shape;218;p21"/>
          <p:cNvSpPr/>
          <p:nvPr/>
        </p:nvSpPr>
        <p:spPr>
          <a:xfrm>
            <a:off x="3679439" y="1468980"/>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19" name="Google Shape;219;p21"/>
          <p:cNvSpPr/>
          <p:nvPr/>
        </p:nvSpPr>
        <p:spPr>
          <a:xfrm>
            <a:off x="3679439" y="1475838"/>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220" name="Google Shape;220;p21"/>
          <p:cNvSpPr/>
          <p:nvPr/>
        </p:nvSpPr>
        <p:spPr>
          <a:xfrm>
            <a:off x="2467826" y="1206090"/>
            <a:ext cx="2058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800"/>
              <a:buFont typeface="Arial"/>
              <a:buNone/>
            </a:pPr>
            <a:r>
              <a:rPr b="1" i="0" lang="en-GB"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21" name="Google Shape;221;p21"/>
          <p:cNvSpPr/>
          <p:nvPr/>
        </p:nvSpPr>
        <p:spPr>
          <a:xfrm>
            <a:off x="4422409" y="1206090"/>
            <a:ext cx="2058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800"/>
              <a:buFont typeface="Arial"/>
              <a:buNone/>
            </a:pPr>
            <a:r>
              <a:rPr b="1" i="0" lang="en-GB"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22" name="Google Shape;222;p21"/>
          <p:cNvSpPr/>
          <p:nvPr/>
        </p:nvSpPr>
        <p:spPr>
          <a:xfrm>
            <a:off x="4815114" y="729553"/>
            <a:ext cx="3435900" cy="1158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500"/>
              <a:buFont typeface="Arial"/>
              <a:buNone/>
            </a:pPr>
            <a:r>
              <a:rPr b="1" i="0" lang="en-GB" sz="1500" u="none" cap="none" strike="noStrike">
                <a:solidFill>
                  <a:srgbClr val="000000"/>
                </a:solidFill>
                <a:latin typeface="Lato"/>
                <a:ea typeface="Lato"/>
                <a:cs typeface="Lato"/>
                <a:sym typeface="Lato"/>
              </a:rPr>
              <a:t>(10×1 + 10×2 + 10×1) + 0 + 0</a:t>
            </a:r>
            <a:r>
              <a:rPr lang="en-GB" sz="1500">
                <a:solidFill>
                  <a:schemeClr val="dk1"/>
                </a:solidFill>
                <a:latin typeface="Lato"/>
                <a:ea typeface="Lato"/>
                <a:cs typeface="Lato"/>
                <a:sym typeface="Lato"/>
              </a:rPr>
              <a:t> </a:t>
            </a:r>
            <a:r>
              <a:rPr b="1" i="0" lang="en-GB" sz="1500" u="none" cap="none" strike="noStrike">
                <a:solidFill>
                  <a:srgbClr val="000000"/>
                </a:solidFill>
                <a:latin typeface="Lato"/>
                <a:ea typeface="Lato"/>
                <a:cs typeface="Lato"/>
                <a:sym typeface="Lato"/>
              </a:rPr>
              <a:t>= 40</a:t>
            </a:r>
            <a:endParaRPr i="0" sz="1500" u="none" cap="none" strike="noStrike">
              <a:solidFill>
                <a:schemeClr val="dk1"/>
              </a:solidFill>
              <a:latin typeface="Lato"/>
              <a:ea typeface="Lato"/>
              <a:cs typeface="Lato"/>
              <a:sym typeface="Lato"/>
            </a:endParaRPr>
          </a:p>
        </p:txBody>
      </p:sp>
      <p:sp>
        <p:nvSpPr>
          <p:cNvPr id="223" name="Google Shape;223;p21"/>
          <p:cNvSpPr/>
          <p:nvPr/>
        </p:nvSpPr>
        <p:spPr>
          <a:xfrm>
            <a:off x="2361757" y="3522553"/>
            <a:ext cx="2229000" cy="562500"/>
          </a:xfrm>
          <a:prstGeom prst="roundRect">
            <a:avLst>
              <a:gd fmla="val 14634" name="adj"/>
            </a:avLst>
          </a:prstGeom>
          <a:solidFill>
            <a:srgbClr val="F65B60"/>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24" name="Google Shape;224;p21"/>
          <p:cNvSpPr/>
          <p:nvPr/>
        </p:nvSpPr>
        <p:spPr>
          <a:xfrm>
            <a:off x="2444055" y="3577417"/>
            <a:ext cx="2064300" cy="4527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700"/>
              <a:buFont typeface="Arial"/>
              <a:buNone/>
            </a:pPr>
            <a:r>
              <a:rPr b="1" i="0" lang="en-GB" sz="1700" u="none" cap="none" strike="noStrike">
                <a:solidFill>
                  <a:srgbClr val="000000"/>
                </a:solidFill>
                <a:latin typeface="Lato"/>
                <a:ea typeface="Lato"/>
                <a:cs typeface="Lato"/>
                <a:sym typeface="Lato"/>
              </a:rPr>
              <a:t>Gy = 40</a:t>
            </a:r>
            <a:endParaRPr i="0" sz="1700" u="none" cap="none" strike="noStrike">
              <a:solidFill>
                <a:schemeClr val="dk1"/>
              </a:solidFill>
              <a:latin typeface="Lato"/>
              <a:ea typeface="Lato"/>
              <a:cs typeface="Lato"/>
              <a:sym typeface="Lato"/>
            </a:endParaRPr>
          </a:p>
        </p:txBody>
      </p:sp>
      <p:sp>
        <p:nvSpPr>
          <p:cNvPr id="225" name="Google Shape;225;p21"/>
          <p:cNvSpPr/>
          <p:nvPr/>
        </p:nvSpPr>
        <p:spPr>
          <a:xfrm>
            <a:off x="5002157" y="3522553"/>
            <a:ext cx="2229000" cy="562500"/>
          </a:xfrm>
          <a:prstGeom prst="roundRect">
            <a:avLst>
              <a:gd fmla="val 14634"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26" name="Google Shape;226;p21"/>
          <p:cNvSpPr/>
          <p:nvPr/>
        </p:nvSpPr>
        <p:spPr>
          <a:xfrm>
            <a:off x="5084456" y="3577417"/>
            <a:ext cx="2064300" cy="4527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700"/>
              <a:buFont typeface="Arial"/>
              <a:buNone/>
            </a:pPr>
            <a:r>
              <a:rPr b="1" i="0" lang="en-GB" sz="1700" u="none" cap="none" strike="noStrike">
                <a:solidFill>
                  <a:srgbClr val="000000"/>
                </a:solidFill>
                <a:latin typeface="Lato"/>
                <a:ea typeface="Lato"/>
                <a:cs typeface="Lato"/>
                <a:sym typeface="Lato"/>
              </a:rPr>
              <a:t>Gx </a:t>
            </a:r>
            <a:r>
              <a:rPr b="1" lang="en-GB" sz="1700">
                <a:latin typeface="Lato"/>
                <a:ea typeface="Lato"/>
                <a:cs typeface="Lato"/>
                <a:sym typeface="Lato"/>
              </a:rPr>
              <a:t>=</a:t>
            </a:r>
            <a:r>
              <a:rPr b="1" i="0" lang="en-GB" sz="1700" u="none" cap="none" strike="noStrike">
                <a:solidFill>
                  <a:srgbClr val="000000"/>
                </a:solidFill>
                <a:latin typeface="Lato"/>
                <a:ea typeface="Lato"/>
                <a:cs typeface="Lato"/>
                <a:sym typeface="Lato"/>
              </a:rPr>
              <a:t> 0</a:t>
            </a:r>
            <a:endParaRPr i="0" sz="1700" u="none" cap="none" strike="noStrike">
              <a:solidFill>
                <a:schemeClr val="dk1"/>
              </a:solidFill>
              <a:latin typeface="Lato"/>
              <a:ea typeface="Lato"/>
              <a:cs typeface="Lato"/>
              <a:sym typeface="Lato"/>
            </a:endParaRPr>
          </a:p>
        </p:txBody>
      </p:sp>
      <p:sp>
        <p:nvSpPr>
          <p:cNvPr id="227" name="Google Shape;227;p21"/>
          <p:cNvSpPr/>
          <p:nvPr/>
        </p:nvSpPr>
        <p:spPr>
          <a:xfrm>
            <a:off x="0" y="5073950"/>
            <a:ext cx="9144000" cy="696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21"/>
          <p:cNvSpPr/>
          <p:nvPr/>
        </p:nvSpPr>
        <p:spPr>
          <a:xfrm>
            <a:off x="2879317" y="1799649"/>
            <a:ext cx="1200300" cy="1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000"/>
              <a:buFont typeface="Arial"/>
              <a:buNone/>
            </a:pPr>
            <a:r>
              <a:rPr b="1" i="0" lang="en-GB" sz="1000" u="none" cap="none" strike="noStrike">
                <a:solidFill>
                  <a:srgbClr val="202020"/>
                </a:solidFill>
                <a:latin typeface="Lato"/>
                <a:ea typeface="Lato"/>
                <a:cs typeface="Lato"/>
                <a:sym typeface="Lato"/>
              </a:rPr>
              <a:t>G</a:t>
            </a:r>
            <a:r>
              <a:rPr b="1" lang="en-GB" sz="1000">
                <a:solidFill>
                  <a:srgbClr val="202020"/>
                </a:solidFill>
                <a:latin typeface="Lato"/>
                <a:ea typeface="Lato"/>
                <a:cs typeface="Lato"/>
                <a:sym typeface="Lato"/>
              </a:rPr>
              <a:t>x </a:t>
            </a:r>
            <a:r>
              <a:rPr b="1" i="0" lang="en-GB" sz="1000" u="none" cap="none" strike="noStrike">
                <a:solidFill>
                  <a:srgbClr val="202020"/>
                </a:solidFill>
                <a:latin typeface="Lato"/>
                <a:ea typeface="Lato"/>
                <a:cs typeface="Lato"/>
                <a:sym typeface="Lato"/>
              </a:rPr>
              <a:t>kernel</a:t>
            </a:r>
            <a:endParaRPr i="0" sz="1000" u="none" cap="none" strike="noStrike">
              <a:solidFill>
                <a:schemeClr val="dk1"/>
              </a:solidFill>
              <a:latin typeface="Lato"/>
              <a:ea typeface="Lato"/>
              <a:cs typeface="Lato"/>
              <a:sym typeface="Lato"/>
            </a:endParaRPr>
          </a:p>
        </p:txBody>
      </p:sp>
      <p:sp>
        <p:nvSpPr>
          <p:cNvPr id="229" name="Google Shape;229;p21"/>
          <p:cNvSpPr/>
          <p:nvPr/>
        </p:nvSpPr>
        <p:spPr>
          <a:xfrm>
            <a:off x="2879317" y="201910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30" name="Google Shape;230;p21"/>
          <p:cNvSpPr/>
          <p:nvPr/>
        </p:nvSpPr>
        <p:spPr>
          <a:xfrm>
            <a:off x="2879317" y="202596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lang="en-GB" sz="900">
                <a:solidFill>
                  <a:srgbClr val="202020"/>
                </a:solidFill>
                <a:latin typeface="Lato"/>
                <a:ea typeface="Lato"/>
                <a:cs typeface="Lato"/>
                <a:sym typeface="Lato"/>
              </a:rPr>
              <a:t>-</a:t>
            </a: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231" name="Google Shape;231;p21"/>
          <p:cNvSpPr/>
          <p:nvPr/>
        </p:nvSpPr>
        <p:spPr>
          <a:xfrm>
            <a:off x="3279378" y="201910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32" name="Google Shape;232;p21"/>
          <p:cNvSpPr/>
          <p:nvPr/>
        </p:nvSpPr>
        <p:spPr>
          <a:xfrm>
            <a:off x="3279378" y="202596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lang="en-GB" sz="900">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233" name="Google Shape;233;p21"/>
          <p:cNvSpPr/>
          <p:nvPr/>
        </p:nvSpPr>
        <p:spPr>
          <a:xfrm>
            <a:off x="3679439" y="201910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34" name="Google Shape;234;p21"/>
          <p:cNvSpPr/>
          <p:nvPr/>
        </p:nvSpPr>
        <p:spPr>
          <a:xfrm>
            <a:off x="3679439" y="202596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235" name="Google Shape;235;p21"/>
          <p:cNvSpPr/>
          <p:nvPr/>
        </p:nvSpPr>
        <p:spPr>
          <a:xfrm>
            <a:off x="2879317" y="230485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36" name="Google Shape;236;p21"/>
          <p:cNvSpPr/>
          <p:nvPr/>
        </p:nvSpPr>
        <p:spPr>
          <a:xfrm>
            <a:off x="2879317" y="231171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b="1" lang="en-GB" sz="900">
                <a:solidFill>
                  <a:srgbClr val="202020"/>
                </a:solidFill>
                <a:latin typeface="Lato"/>
                <a:ea typeface="Lato"/>
                <a:cs typeface="Lato"/>
                <a:sym typeface="Lato"/>
              </a:rPr>
              <a:t>-2</a:t>
            </a:r>
            <a:endParaRPr b="1" i="0" sz="900" u="none" cap="none" strike="noStrike">
              <a:solidFill>
                <a:schemeClr val="dk1"/>
              </a:solidFill>
              <a:latin typeface="Lato"/>
              <a:ea typeface="Lato"/>
              <a:cs typeface="Lato"/>
              <a:sym typeface="Lato"/>
            </a:endParaRPr>
          </a:p>
        </p:txBody>
      </p:sp>
      <p:sp>
        <p:nvSpPr>
          <p:cNvPr id="237" name="Google Shape;237;p21"/>
          <p:cNvSpPr/>
          <p:nvPr/>
        </p:nvSpPr>
        <p:spPr>
          <a:xfrm>
            <a:off x="3279378" y="230485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38" name="Google Shape;238;p21"/>
          <p:cNvSpPr/>
          <p:nvPr/>
        </p:nvSpPr>
        <p:spPr>
          <a:xfrm>
            <a:off x="3279378" y="231171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239" name="Google Shape;239;p21"/>
          <p:cNvSpPr/>
          <p:nvPr/>
        </p:nvSpPr>
        <p:spPr>
          <a:xfrm>
            <a:off x="3679439" y="230485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40" name="Google Shape;240;p21"/>
          <p:cNvSpPr/>
          <p:nvPr/>
        </p:nvSpPr>
        <p:spPr>
          <a:xfrm>
            <a:off x="3679439" y="231171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b="1" lang="en-GB" sz="900">
                <a:solidFill>
                  <a:srgbClr val="202020"/>
                </a:solidFill>
                <a:latin typeface="Lato"/>
                <a:ea typeface="Lato"/>
                <a:cs typeface="Lato"/>
                <a:sym typeface="Lato"/>
              </a:rPr>
              <a:t>2</a:t>
            </a:r>
            <a:endParaRPr b="1" i="0" sz="900" u="none" cap="none" strike="noStrike">
              <a:solidFill>
                <a:schemeClr val="dk1"/>
              </a:solidFill>
              <a:latin typeface="Lato"/>
              <a:ea typeface="Lato"/>
              <a:cs typeface="Lato"/>
              <a:sym typeface="Lato"/>
            </a:endParaRPr>
          </a:p>
        </p:txBody>
      </p:sp>
      <p:sp>
        <p:nvSpPr>
          <p:cNvPr id="241" name="Google Shape;241;p21"/>
          <p:cNvSpPr/>
          <p:nvPr/>
        </p:nvSpPr>
        <p:spPr>
          <a:xfrm>
            <a:off x="2879317" y="259060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42" name="Google Shape;242;p21"/>
          <p:cNvSpPr/>
          <p:nvPr/>
        </p:nvSpPr>
        <p:spPr>
          <a:xfrm>
            <a:off x="2879317" y="259746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243" name="Google Shape;243;p21"/>
          <p:cNvSpPr/>
          <p:nvPr/>
        </p:nvSpPr>
        <p:spPr>
          <a:xfrm>
            <a:off x="3279378" y="259060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44" name="Google Shape;244;p21"/>
          <p:cNvSpPr/>
          <p:nvPr/>
        </p:nvSpPr>
        <p:spPr>
          <a:xfrm>
            <a:off x="3279378" y="259746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lang="en-GB" sz="900">
                <a:solidFill>
                  <a:srgbClr val="202020"/>
                </a:solidFill>
                <a:latin typeface="Lato"/>
                <a:ea typeface="Lato"/>
                <a:cs typeface="Lato"/>
                <a:sym typeface="Lato"/>
              </a:rPr>
              <a:t>0</a:t>
            </a:r>
            <a:endParaRPr i="0" sz="900" u="none" cap="none" strike="noStrike">
              <a:solidFill>
                <a:schemeClr val="dk1"/>
              </a:solidFill>
              <a:latin typeface="Lato"/>
              <a:ea typeface="Lato"/>
              <a:cs typeface="Lato"/>
              <a:sym typeface="Lato"/>
            </a:endParaRPr>
          </a:p>
        </p:txBody>
      </p:sp>
      <p:sp>
        <p:nvSpPr>
          <p:cNvPr id="245" name="Google Shape;245;p21"/>
          <p:cNvSpPr/>
          <p:nvPr/>
        </p:nvSpPr>
        <p:spPr>
          <a:xfrm>
            <a:off x="3679439" y="2590605"/>
            <a:ext cx="400200" cy="285900"/>
          </a:xfrm>
          <a:prstGeom prst="rect">
            <a:avLst/>
          </a:prstGeom>
          <a:solidFill>
            <a:srgbClr val="FFFFFF"/>
          </a:solidFill>
          <a:ln cap="flat" cmpd="sng" w="9525">
            <a:solidFill>
              <a:srgbClr val="7777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46" name="Google Shape;246;p21"/>
          <p:cNvSpPr/>
          <p:nvPr/>
        </p:nvSpPr>
        <p:spPr>
          <a:xfrm>
            <a:off x="3679439" y="2597463"/>
            <a:ext cx="400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00"/>
              <a:buFont typeface="Arial"/>
              <a:buNone/>
            </a:pPr>
            <a:r>
              <a:rPr i="0" lang="en-GB" sz="900" u="none" cap="none" strike="noStrike">
                <a:solidFill>
                  <a:srgbClr val="202020"/>
                </a:solidFill>
                <a:latin typeface="Lato"/>
                <a:ea typeface="Lato"/>
                <a:cs typeface="Lato"/>
                <a:sym typeface="Lato"/>
              </a:rPr>
              <a:t>-1</a:t>
            </a:r>
            <a:endParaRPr i="0" sz="900" u="none" cap="none" strike="noStrike">
              <a:solidFill>
                <a:schemeClr val="dk1"/>
              </a:solidFill>
              <a:latin typeface="Lato"/>
              <a:ea typeface="Lato"/>
              <a:cs typeface="Lato"/>
              <a:sym typeface="Lato"/>
            </a:endParaRPr>
          </a:p>
        </p:txBody>
      </p:sp>
      <p:sp>
        <p:nvSpPr>
          <p:cNvPr id="247" name="Google Shape;247;p21"/>
          <p:cNvSpPr/>
          <p:nvPr/>
        </p:nvSpPr>
        <p:spPr>
          <a:xfrm>
            <a:off x="2467826" y="2327715"/>
            <a:ext cx="2058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800"/>
              <a:buFont typeface="Arial"/>
              <a:buNone/>
            </a:pPr>
            <a:r>
              <a:rPr b="1" i="0" lang="en-GB"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48" name="Google Shape;248;p21"/>
          <p:cNvSpPr/>
          <p:nvPr/>
        </p:nvSpPr>
        <p:spPr>
          <a:xfrm>
            <a:off x="4422409" y="2327715"/>
            <a:ext cx="2058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800"/>
              <a:buFont typeface="Arial"/>
              <a:buNone/>
            </a:pPr>
            <a:r>
              <a:rPr b="1" i="0" lang="en-GB"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49" name="Google Shape;249;p21"/>
          <p:cNvSpPr/>
          <p:nvPr/>
        </p:nvSpPr>
        <p:spPr>
          <a:xfrm>
            <a:off x="4879237" y="1868325"/>
            <a:ext cx="3474900" cy="1158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500"/>
              <a:buFont typeface="Arial"/>
              <a:buNone/>
            </a:pPr>
            <a:r>
              <a:rPr b="1" i="0" lang="en-GB" sz="1500" u="none" cap="none" strike="noStrike">
                <a:solidFill>
                  <a:srgbClr val="000000"/>
                </a:solidFill>
                <a:latin typeface="Lato"/>
                <a:ea typeface="Lato"/>
                <a:cs typeface="Lato"/>
                <a:sym typeface="Lato"/>
              </a:rPr>
              <a:t>(10×-1 + 10×</a:t>
            </a:r>
            <a:r>
              <a:rPr b="1" lang="en-GB" sz="1500">
                <a:latin typeface="Lato"/>
                <a:ea typeface="Lato"/>
                <a:cs typeface="Lato"/>
                <a:sym typeface="Lato"/>
              </a:rPr>
              <a:t>0</a:t>
            </a:r>
            <a:r>
              <a:rPr b="1" i="0" lang="en-GB" sz="1500" u="none" cap="none" strike="noStrike">
                <a:solidFill>
                  <a:srgbClr val="000000"/>
                </a:solidFill>
                <a:latin typeface="Lato"/>
                <a:ea typeface="Lato"/>
                <a:cs typeface="Lato"/>
                <a:sym typeface="Lato"/>
              </a:rPr>
              <a:t> + 10×1) + 0 + 0</a:t>
            </a:r>
            <a:r>
              <a:rPr lang="en-GB" sz="1500">
                <a:solidFill>
                  <a:schemeClr val="dk1"/>
                </a:solidFill>
                <a:latin typeface="Lato"/>
                <a:ea typeface="Lato"/>
                <a:cs typeface="Lato"/>
                <a:sym typeface="Lato"/>
              </a:rPr>
              <a:t> </a:t>
            </a:r>
            <a:r>
              <a:rPr b="1" i="0" lang="en-GB" sz="1500" u="none" cap="none" strike="noStrike">
                <a:solidFill>
                  <a:srgbClr val="000000"/>
                </a:solidFill>
                <a:latin typeface="Lato"/>
                <a:ea typeface="Lato"/>
                <a:cs typeface="Lato"/>
                <a:sym typeface="Lato"/>
              </a:rPr>
              <a:t>= </a:t>
            </a:r>
            <a:r>
              <a:rPr b="1" lang="en-GB" sz="1500">
                <a:latin typeface="Lato"/>
                <a:ea typeface="Lato"/>
                <a:cs typeface="Lato"/>
                <a:sym typeface="Lato"/>
              </a:rPr>
              <a:t>0</a:t>
            </a:r>
            <a:endParaRPr i="0" sz="1500" u="none" cap="none" strike="noStrike">
              <a:solidFill>
                <a:schemeClr val="dk1"/>
              </a:solidFill>
              <a:latin typeface="Lato"/>
              <a:ea typeface="Lato"/>
              <a:cs typeface="Lato"/>
              <a:sym typeface="Lato"/>
            </a:endParaRPr>
          </a:p>
        </p:txBody>
      </p:sp>
      <p:cxnSp>
        <p:nvCxnSpPr>
          <p:cNvPr id="250" name="Google Shape;250;p21"/>
          <p:cNvCxnSpPr/>
          <p:nvPr/>
        </p:nvCxnSpPr>
        <p:spPr>
          <a:xfrm flipH="1" rot="10800000">
            <a:off x="1990186" y="1380588"/>
            <a:ext cx="514800" cy="518400"/>
          </a:xfrm>
          <a:prstGeom prst="straightConnector1">
            <a:avLst/>
          </a:prstGeom>
          <a:noFill/>
          <a:ln cap="flat" cmpd="sng" w="9525">
            <a:solidFill>
              <a:schemeClr val="dk1"/>
            </a:solidFill>
            <a:prstDash val="solid"/>
            <a:round/>
            <a:headEnd len="med" w="med" type="none"/>
            <a:tailEnd len="med" w="med" type="triangle"/>
          </a:ln>
        </p:spPr>
      </p:cxnSp>
      <p:cxnSp>
        <p:nvCxnSpPr>
          <p:cNvPr id="251" name="Google Shape;251;p21"/>
          <p:cNvCxnSpPr/>
          <p:nvPr/>
        </p:nvCxnSpPr>
        <p:spPr>
          <a:xfrm>
            <a:off x="1990185" y="1899025"/>
            <a:ext cx="514800" cy="4968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22"/>
          <p:cNvSpPr/>
          <p:nvPr/>
        </p:nvSpPr>
        <p:spPr>
          <a:xfrm>
            <a:off x="246094" y="241938"/>
            <a:ext cx="8572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i="0" lang="en-GB" sz="2000" u="none" cap="none" strike="noStrike">
                <a:solidFill>
                  <a:srgbClr val="F65B60"/>
                </a:solidFill>
                <a:latin typeface="Georgia"/>
                <a:ea typeface="Georgia"/>
                <a:cs typeface="Georgia"/>
                <a:sym typeface="Georgia"/>
              </a:rPr>
              <a:t>Sobel: Worked </a:t>
            </a:r>
            <a:r>
              <a:rPr b="1" lang="en-GB" sz="2000">
                <a:solidFill>
                  <a:srgbClr val="F65B60"/>
                </a:solidFill>
                <a:latin typeface="Georgia"/>
                <a:ea typeface="Georgia"/>
                <a:cs typeface="Georgia"/>
                <a:sym typeface="Georgia"/>
              </a:rPr>
              <a:t>E</a:t>
            </a:r>
            <a:r>
              <a:rPr b="1" i="0" lang="en-GB" sz="2000" u="none" cap="none" strike="noStrike">
                <a:solidFill>
                  <a:srgbClr val="F65B60"/>
                </a:solidFill>
                <a:latin typeface="Georgia"/>
                <a:ea typeface="Georgia"/>
                <a:cs typeface="Georgia"/>
                <a:sym typeface="Georgia"/>
              </a:rPr>
              <a:t>xample (cont.)</a:t>
            </a:r>
            <a:endParaRPr b="0" i="0" sz="2000" u="none" cap="none" strike="noStrike">
              <a:solidFill>
                <a:schemeClr val="dk1"/>
              </a:solidFill>
              <a:latin typeface="Arial"/>
              <a:ea typeface="Arial"/>
              <a:cs typeface="Arial"/>
              <a:sym typeface="Arial"/>
            </a:endParaRPr>
          </a:p>
        </p:txBody>
      </p:sp>
      <p:sp>
        <p:nvSpPr>
          <p:cNvPr id="258" name="Google Shape;258;p22"/>
          <p:cNvSpPr/>
          <p:nvPr/>
        </p:nvSpPr>
        <p:spPr>
          <a:xfrm>
            <a:off x="2097807" y="748090"/>
            <a:ext cx="2229000" cy="562500"/>
          </a:xfrm>
          <a:prstGeom prst="roundRect">
            <a:avLst>
              <a:gd fmla="val 14634" name="adj"/>
            </a:avLst>
          </a:prstGeom>
          <a:solidFill>
            <a:srgbClr val="F65B60"/>
          </a:solidFill>
          <a:ln cap="flat" cmpd="sng" w="21575">
            <a:solidFill>
              <a:srgbClr val="000000"/>
            </a:solidFill>
            <a:prstDash val="solid"/>
            <a:round/>
            <a:headEnd len="sm" w="sm" type="none"/>
            <a:tailEnd len="sm" w="sm" type="none"/>
          </a:ln>
          <a:effectLst>
            <a:outerShdw blurRad="25400" rotWithShape="0" algn="bl" dir="2700000" dist="50800">
              <a:srgbClr val="999999">
                <a:alpha val="2509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59" name="Google Shape;259;p22"/>
          <p:cNvSpPr/>
          <p:nvPr/>
        </p:nvSpPr>
        <p:spPr>
          <a:xfrm>
            <a:off x="2180105" y="802954"/>
            <a:ext cx="2064300" cy="4527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700"/>
              <a:buFont typeface="Arial"/>
              <a:buNone/>
            </a:pPr>
            <a:r>
              <a:rPr b="1" i="0" lang="en-GB" sz="1700" u="none" cap="none" strike="noStrike">
                <a:solidFill>
                  <a:srgbClr val="000000"/>
                </a:solidFill>
                <a:latin typeface="Lato"/>
                <a:ea typeface="Lato"/>
                <a:cs typeface="Lato"/>
                <a:sym typeface="Lato"/>
              </a:rPr>
              <a:t>Gy = 40</a:t>
            </a:r>
            <a:endParaRPr i="0" sz="1700" u="none" cap="none" strike="noStrike">
              <a:solidFill>
                <a:schemeClr val="dk1"/>
              </a:solidFill>
              <a:latin typeface="Lato"/>
              <a:ea typeface="Lato"/>
              <a:cs typeface="Lato"/>
              <a:sym typeface="Lato"/>
            </a:endParaRPr>
          </a:p>
        </p:txBody>
      </p:sp>
      <p:sp>
        <p:nvSpPr>
          <p:cNvPr id="260" name="Google Shape;260;p22"/>
          <p:cNvSpPr/>
          <p:nvPr/>
        </p:nvSpPr>
        <p:spPr>
          <a:xfrm>
            <a:off x="4738207" y="748090"/>
            <a:ext cx="2229000" cy="562500"/>
          </a:xfrm>
          <a:prstGeom prst="roundRect">
            <a:avLst>
              <a:gd fmla="val 14634"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61" name="Google Shape;261;p22"/>
          <p:cNvSpPr/>
          <p:nvPr/>
        </p:nvSpPr>
        <p:spPr>
          <a:xfrm>
            <a:off x="4820506" y="802954"/>
            <a:ext cx="2064300" cy="4527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700"/>
              <a:buFont typeface="Arial"/>
              <a:buNone/>
            </a:pPr>
            <a:r>
              <a:rPr b="1" i="0" lang="en-GB" sz="1700" u="none" cap="none" strike="noStrike">
                <a:solidFill>
                  <a:srgbClr val="000000"/>
                </a:solidFill>
                <a:latin typeface="Lato"/>
                <a:ea typeface="Lato"/>
                <a:cs typeface="Lato"/>
                <a:sym typeface="Lato"/>
              </a:rPr>
              <a:t>Gx </a:t>
            </a:r>
            <a:r>
              <a:rPr b="1" lang="en-GB" sz="1700">
                <a:latin typeface="Lato"/>
                <a:ea typeface="Lato"/>
                <a:cs typeface="Lato"/>
                <a:sym typeface="Lato"/>
              </a:rPr>
              <a:t>=</a:t>
            </a:r>
            <a:r>
              <a:rPr b="1" i="0" lang="en-GB" sz="1700" u="none" cap="none" strike="noStrike">
                <a:solidFill>
                  <a:srgbClr val="000000"/>
                </a:solidFill>
                <a:latin typeface="Lato"/>
                <a:ea typeface="Lato"/>
                <a:cs typeface="Lato"/>
                <a:sym typeface="Lato"/>
              </a:rPr>
              <a:t> 0</a:t>
            </a:r>
            <a:endParaRPr i="0" sz="1700" u="none" cap="none" strike="noStrike">
              <a:solidFill>
                <a:schemeClr val="dk1"/>
              </a:solidFill>
              <a:latin typeface="Lato"/>
              <a:ea typeface="Lato"/>
              <a:cs typeface="Lato"/>
              <a:sym typeface="Lato"/>
            </a:endParaRPr>
          </a:p>
        </p:txBody>
      </p:sp>
      <p:sp>
        <p:nvSpPr>
          <p:cNvPr id="262" name="Google Shape;262;p22"/>
          <p:cNvSpPr/>
          <p:nvPr/>
        </p:nvSpPr>
        <p:spPr>
          <a:xfrm>
            <a:off x="831416" y="2197916"/>
            <a:ext cx="76125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400"/>
              <a:buFont typeface="Arial"/>
              <a:buNone/>
            </a:pPr>
            <a:r>
              <a:rPr b="1" i="0" lang="en-GB" sz="1400" u="none" cap="none" strike="noStrike">
                <a:solidFill>
                  <a:srgbClr val="5E6A6F"/>
                </a:solidFill>
                <a:latin typeface="Lato"/>
                <a:ea typeface="Lato"/>
                <a:cs typeface="Lato"/>
                <a:sym typeface="Lato"/>
              </a:rPr>
              <a:t>A high magnitude means Sobel has detected a strong intensity change.</a:t>
            </a:r>
            <a:endParaRPr b="1">
              <a:solidFill>
                <a:srgbClr val="5E6A6F"/>
              </a:solidFill>
              <a:latin typeface="Lato"/>
              <a:ea typeface="Lato"/>
              <a:cs typeface="Lato"/>
              <a:sym typeface="Lato"/>
            </a:endParaRPr>
          </a:p>
        </p:txBody>
      </p:sp>
      <p:sp>
        <p:nvSpPr>
          <p:cNvPr id="263" name="Google Shape;263;p22"/>
          <p:cNvSpPr/>
          <p:nvPr/>
        </p:nvSpPr>
        <p:spPr>
          <a:xfrm>
            <a:off x="0" y="5073950"/>
            <a:ext cx="9144000" cy="696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4" name="Google Shape;264;p22"/>
          <p:cNvSpPr txBox="1"/>
          <p:nvPr/>
        </p:nvSpPr>
        <p:spPr>
          <a:xfrm>
            <a:off x="788700" y="1688375"/>
            <a:ext cx="79881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500">
                <a:solidFill>
                  <a:schemeClr val="dk1"/>
                </a:solidFill>
                <a:latin typeface="Lato"/>
                <a:ea typeface="Lato"/>
                <a:cs typeface="Lato"/>
                <a:sym typeface="Lato"/>
              </a:rPr>
              <a:t>Gradient Magnitude = </a:t>
            </a:r>
            <a:r>
              <a:rPr b="1" lang="en-GB" sz="1700">
                <a:solidFill>
                  <a:schemeClr val="dk1"/>
                </a:solidFill>
                <a:latin typeface="Lato"/>
                <a:ea typeface="Lato"/>
                <a:cs typeface="Lato"/>
                <a:sym typeface="Lato"/>
              </a:rPr>
              <a:t>√(Gx² + Gy²) = √(40² + 0²) = 40</a:t>
            </a:r>
            <a:endParaRPr b="1" sz="1500">
              <a:solidFill>
                <a:schemeClr val="dk1"/>
              </a:solidFill>
              <a:latin typeface="Lato"/>
              <a:ea typeface="Lato"/>
              <a:cs typeface="Lato"/>
              <a:sym typeface="Lato"/>
            </a:endParaRPr>
          </a:p>
        </p:txBody>
      </p:sp>
      <p:sp>
        <p:nvSpPr>
          <p:cNvPr id="265" name="Google Shape;265;p22"/>
          <p:cNvSpPr txBox="1"/>
          <p:nvPr/>
        </p:nvSpPr>
        <p:spPr>
          <a:xfrm>
            <a:off x="2756975" y="1873600"/>
            <a:ext cx="410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
        <p:nvSpPr>
          <p:cNvPr id="266" name="Google Shape;266;p22"/>
          <p:cNvSpPr txBox="1"/>
          <p:nvPr/>
        </p:nvSpPr>
        <p:spPr>
          <a:xfrm>
            <a:off x="891225" y="2606200"/>
            <a:ext cx="79881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500">
                <a:solidFill>
                  <a:schemeClr val="dk1"/>
                </a:solidFill>
                <a:latin typeface="Lato"/>
                <a:ea typeface="Lato"/>
                <a:cs typeface="Lato"/>
                <a:sym typeface="Lato"/>
              </a:rPr>
              <a:t>Edge direction </a:t>
            </a:r>
            <a:r>
              <a:rPr b="1" lang="en-GB" sz="1500">
                <a:solidFill>
                  <a:schemeClr val="dk1"/>
                </a:solidFill>
                <a:latin typeface="Lato"/>
                <a:ea typeface="Lato"/>
                <a:cs typeface="Lato"/>
                <a:sym typeface="Lato"/>
              </a:rPr>
              <a:t>= </a:t>
            </a:r>
            <a:r>
              <a:rPr b="1" lang="en-GB" sz="1700">
                <a:solidFill>
                  <a:schemeClr val="dk1"/>
                </a:solidFill>
                <a:latin typeface="Lato"/>
                <a:ea typeface="Lato"/>
                <a:cs typeface="Lato"/>
                <a:sym typeface="Lato"/>
              </a:rPr>
              <a:t>tan⁻¹(Gy / Gx)</a:t>
            </a:r>
            <a:r>
              <a:rPr b="1" lang="en-GB" sz="1700">
                <a:solidFill>
                  <a:schemeClr val="dk1"/>
                </a:solidFill>
                <a:latin typeface="Lato"/>
                <a:ea typeface="Lato"/>
                <a:cs typeface="Lato"/>
                <a:sym typeface="Lato"/>
              </a:rPr>
              <a:t> = </a:t>
            </a:r>
            <a:r>
              <a:rPr b="1" lang="en-GB" sz="1700">
                <a:solidFill>
                  <a:schemeClr val="dk1"/>
                </a:solidFill>
                <a:latin typeface="Lato"/>
                <a:ea typeface="Lato"/>
                <a:cs typeface="Lato"/>
                <a:sym typeface="Lato"/>
              </a:rPr>
              <a:t>tan⁻¹(40 / 0) = undefined </a:t>
            </a:r>
            <a:endParaRPr b="1" sz="1500">
              <a:solidFill>
                <a:schemeClr val="dk1"/>
              </a:solidFill>
              <a:latin typeface="Lato"/>
              <a:ea typeface="Lato"/>
              <a:cs typeface="Lato"/>
              <a:sym typeface="Lato"/>
            </a:endParaRPr>
          </a:p>
        </p:txBody>
      </p:sp>
      <p:sp>
        <p:nvSpPr>
          <p:cNvPr id="267" name="Google Shape;267;p22"/>
          <p:cNvSpPr/>
          <p:nvPr/>
        </p:nvSpPr>
        <p:spPr>
          <a:xfrm>
            <a:off x="1002425" y="3072275"/>
            <a:ext cx="7612500" cy="71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400"/>
              <a:buFont typeface="Arial"/>
              <a:buNone/>
            </a:pPr>
            <a:r>
              <a:rPr b="1" lang="en-GB">
                <a:solidFill>
                  <a:srgbClr val="5E6A6F"/>
                </a:solidFill>
                <a:latin typeface="Lato"/>
                <a:ea typeface="Lato"/>
                <a:cs typeface="Lato"/>
                <a:sym typeface="Lato"/>
              </a:rPr>
              <a:t>This is a special case where the Edge direction is not computable.</a:t>
            </a:r>
            <a:endParaRPr b="1">
              <a:solidFill>
                <a:srgbClr val="5E6A6F"/>
              </a:solidFill>
              <a:latin typeface="Lato"/>
              <a:ea typeface="Lato"/>
              <a:cs typeface="Lato"/>
              <a:sym typeface="Lato"/>
            </a:endParaRPr>
          </a:p>
          <a:p>
            <a:pPr indent="0" lvl="0" marL="0" marR="0" rtl="0" algn="ctr">
              <a:spcBef>
                <a:spcPts val="0"/>
              </a:spcBef>
              <a:spcAft>
                <a:spcPts val="0"/>
              </a:spcAft>
              <a:buClr>
                <a:srgbClr val="5E6A6F"/>
              </a:buClr>
              <a:buSzPts val="1400"/>
              <a:buFont typeface="Arial"/>
              <a:buNone/>
            </a:pPr>
            <a:r>
              <a:rPr b="1" lang="en-GB">
                <a:solidFill>
                  <a:srgbClr val="5E6A6F"/>
                </a:solidFill>
                <a:latin typeface="Lato"/>
                <a:ea typeface="Lato"/>
                <a:cs typeface="Lato"/>
                <a:sym typeface="Lato"/>
              </a:rPr>
              <a:t>This means that the edge line is perpendicular to the gradient direction</a:t>
            </a:r>
            <a:endParaRPr b="1">
              <a:solidFill>
                <a:srgbClr val="5E6A6F"/>
              </a:solidFill>
              <a:latin typeface="Lato"/>
              <a:ea typeface="Lato"/>
              <a:cs typeface="Lato"/>
              <a:sym typeface="Lato"/>
            </a:endParaRPr>
          </a:p>
          <a:p>
            <a:pPr indent="0" lvl="0" marL="0" marR="0" rtl="0" algn="ctr">
              <a:spcBef>
                <a:spcPts val="0"/>
              </a:spcBef>
              <a:spcAft>
                <a:spcPts val="0"/>
              </a:spcAft>
              <a:buClr>
                <a:srgbClr val="5E6A6F"/>
              </a:buClr>
              <a:buSzPts val="1400"/>
              <a:buFont typeface="Arial"/>
              <a:buNone/>
            </a:pPr>
            <a:r>
              <a:rPr b="1" lang="en-GB">
                <a:solidFill>
                  <a:srgbClr val="5E6A6F"/>
                </a:solidFill>
                <a:latin typeface="Lato"/>
                <a:ea typeface="Lato"/>
                <a:cs typeface="Lato"/>
                <a:sym typeface="Lato"/>
              </a:rPr>
              <a:t>Therefore, in practice it is taken as a 90 degree gradient direction </a:t>
            </a:r>
            <a:endParaRPr b="1">
              <a:solidFill>
                <a:srgbClr val="5E6A6F"/>
              </a:solidFill>
              <a:latin typeface="Lato"/>
              <a:ea typeface="Lato"/>
              <a:cs typeface="Lato"/>
              <a:sym typeface="Lato"/>
            </a:endParaRPr>
          </a:p>
        </p:txBody>
      </p:sp>
      <p:sp>
        <p:nvSpPr>
          <p:cNvPr id="268" name="Google Shape;268;p22"/>
          <p:cNvSpPr txBox="1"/>
          <p:nvPr/>
        </p:nvSpPr>
        <p:spPr>
          <a:xfrm>
            <a:off x="591300" y="816750"/>
            <a:ext cx="13515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n-GB">
                <a:solidFill>
                  <a:srgbClr val="5E6A6F"/>
                </a:solidFill>
                <a:latin typeface="Lato"/>
                <a:ea typeface="Lato"/>
                <a:cs typeface="Lato"/>
                <a:sym typeface="Lato"/>
              </a:rPr>
              <a:t>Remember:</a:t>
            </a:r>
            <a:r>
              <a:rPr lang="en-GB">
                <a:latin typeface="Lato"/>
                <a:ea typeface="Lato"/>
                <a:cs typeface="Lato"/>
                <a:sym typeface="Lato"/>
              </a:rPr>
              <a:t> </a:t>
            </a:r>
            <a:endParaRPr>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23"/>
          <p:cNvSpPr/>
          <p:nvPr/>
        </p:nvSpPr>
        <p:spPr>
          <a:xfrm>
            <a:off x="267469" y="246888"/>
            <a:ext cx="8572729"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i="0" lang="en-GB" sz="2000" u="none" cap="none" strike="noStrike">
                <a:solidFill>
                  <a:srgbClr val="F65B60"/>
                </a:solidFill>
                <a:latin typeface="Georgia"/>
                <a:ea typeface="Georgia"/>
                <a:cs typeface="Georgia"/>
                <a:sym typeface="Georgia"/>
              </a:rPr>
              <a:t>Sobel: Strengths </a:t>
            </a:r>
            <a:r>
              <a:rPr b="1" lang="en-GB" sz="2000">
                <a:solidFill>
                  <a:srgbClr val="F65B60"/>
                </a:solidFill>
                <a:latin typeface="Georgia"/>
                <a:ea typeface="Georgia"/>
                <a:cs typeface="Georgia"/>
                <a:sym typeface="Georgia"/>
              </a:rPr>
              <a:t>&amp;</a:t>
            </a:r>
            <a:r>
              <a:rPr b="1" i="0" lang="en-GB" sz="2000" u="none" cap="none" strike="noStrike">
                <a:solidFill>
                  <a:srgbClr val="F65B60"/>
                </a:solidFill>
                <a:latin typeface="Georgia"/>
                <a:ea typeface="Georgia"/>
                <a:cs typeface="Georgia"/>
                <a:sym typeface="Georgia"/>
              </a:rPr>
              <a:t> Weaknesses</a:t>
            </a:r>
            <a:endParaRPr b="0" i="0" sz="2000" u="none" cap="none" strike="noStrike">
              <a:solidFill>
                <a:schemeClr val="dk1"/>
              </a:solidFill>
              <a:latin typeface="Arial"/>
              <a:ea typeface="Arial"/>
              <a:cs typeface="Arial"/>
              <a:sym typeface="Arial"/>
            </a:endParaRPr>
          </a:p>
        </p:txBody>
      </p:sp>
      <p:sp>
        <p:nvSpPr>
          <p:cNvPr id="275" name="Google Shape;275;p23"/>
          <p:cNvSpPr/>
          <p:nvPr/>
        </p:nvSpPr>
        <p:spPr>
          <a:xfrm>
            <a:off x="1516030" y="1063203"/>
            <a:ext cx="2640300" cy="1748700"/>
          </a:xfrm>
          <a:prstGeom prst="roundRect">
            <a:avLst>
              <a:gd fmla="val 4706"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76" name="Google Shape;276;p23"/>
          <p:cNvSpPr/>
          <p:nvPr/>
        </p:nvSpPr>
        <p:spPr>
          <a:xfrm>
            <a:off x="1598328" y="1118067"/>
            <a:ext cx="2475900" cy="16392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chemeClr val="dk1"/>
              </a:buClr>
              <a:buSzPts val="1200"/>
              <a:buFont typeface="Arial"/>
              <a:buNone/>
            </a:pPr>
            <a:r>
              <a:t/>
            </a:r>
            <a:endParaRPr i="0" sz="1200" u="none" cap="none" strike="noStrike">
              <a:solidFill>
                <a:schemeClr val="dk1"/>
              </a:solidFill>
              <a:latin typeface="Lato"/>
              <a:ea typeface="Lato"/>
              <a:cs typeface="Lato"/>
              <a:sym typeface="Lato"/>
            </a:endParaRPr>
          </a:p>
        </p:txBody>
      </p:sp>
      <p:sp>
        <p:nvSpPr>
          <p:cNvPr id="277" name="Google Shape;277;p23"/>
          <p:cNvSpPr/>
          <p:nvPr/>
        </p:nvSpPr>
        <p:spPr>
          <a:xfrm>
            <a:off x="1673769" y="1172712"/>
            <a:ext cx="23661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200"/>
              <a:buFont typeface="Arial"/>
              <a:buNone/>
            </a:pPr>
            <a:r>
              <a:rPr b="1" i="0" lang="en-GB" sz="1200" u="none" cap="none" strike="noStrike">
                <a:solidFill>
                  <a:schemeClr val="dk1"/>
                </a:solidFill>
                <a:latin typeface="Lato"/>
                <a:ea typeface="Lato"/>
                <a:cs typeface="Lato"/>
                <a:sym typeface="Lato"/>
              </a:rPr>
              <a:t>Strengths</a:t>
            </a:r>
            <a:endParaRPr i="0" sz="1200" u="none" cap="none" strike="noStrike">
              <a:solidFill>
                <a:schemeClr val="dk1"/>
              </a:solidFill>
              <a:latin typeface="Lato"/>
              <a:ea typeface="Lato"/>
              <a:cs typeface="Lato"/>
              <a:sym typeface="Lato"/>
            </a:endParaRPr>
          </a:p>
        </p:txBody>
      </p:sp>
      <p:sp>
        <p:nvSpPr>
          <p:cNvPr id="278" name="Google Shape;278;p23"/>
          <p:cNvSpPr/>
          <p:nvPr/>
        </p:nvSpPr>
        <p:spPr>
          <a:xfrm>
            <a:off x="1673768" y="1543263"/>
            <a:ext cx="2297400" cy="1062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E6A6F"/>
              </a:buClr>
              <a:buSzPts val="1100"/>
              <a:buFont typeface="Arial"/>
              <a:buNone/>
            </a:pPr>
            <a:r>
              <a:rPr i="0" lang="en-GB" sz="1100" cap="none" strike="noStrike">
                <a:solidFill>
                  <a:schemeClr val="dk1"/>
                </a:solidFill>
                <a:latin typeface="Lato"/>
                <a:ea typeface="Lato"/>
                <a:cs typeface="Lato"/>
                <a:sym typeface="Lato"/>
              </a:rPr>
              <a:t>Simple, fast and easy to implement.</a:t>
            </a:r>
            <a:endParaRPr i="0" sz="1100" cap="none" strike="noStrike">
              <a:solidFill>
                <a:schemeClr val="dk1"/>
              </a:solidFill>
              <a:latin typeface="Lato"/>
              <a:ea typeface="Lato"/>
              <a:cs typeface="Lato"/>
              <a:sym typeface="Lato"/>
            </a:endParaRPr>
          </a:p>
          <a:p>
            <a:pPr indent="0" lvl="0" marL="0" marR="0" rtl="0" algn="l">
              <a:spcBef>
                <a:spcPts val="0"/>
              </a:spcBef>
              <a:spcAft>
                <a:spcPts val="0"/>
              </a:spcAft>
              <a:buClr>
                <a:schemeClr val="dk1"/>
              </a:buClr>
              <a:buSzPts val="1100"/>
              <a:buFont typeface="Arial"/>
              <a:buNone/>
            </a:pPr>
            <a:r>
              <a:t/>
            </a:r>
            <a:endParaRPr i="0" sz="1100" cap="none" strike="noStrike">
              <a:solidFill>
                <a:schemeClr val="dk1"/>
              </a:solidFill>
              <a:latin typeface="Lato"/>
              <a:ea typeface="Lato"/>
              <a:cs typeface="Lato"/>
              <a:sym typeface="Lato"/>
            </a:endParaRPr>
          </a:p>
          <a:p>
            <a:pPr indent="0" lvl="0" marL="0" marR="0" rtl="0" algn="l">
              <a:spcBef>
                <a:spcPts val="0"/>
              </a:spcBef>
              <a:spcAft>
                <a:spcPts val="0"/>
              </a:spcAft>
              <a:buClr>
                <a:srgbClr val="5E6A6F"/>
              </a:buClr>
              <a:buSzPts val="1100"/>
              <a:buFont typeface="Arial"/>
              <a:buNone/>
            </a:pPr>
            <a:r>
              <a:rPr i="0" lang="en-GB" sz="1100" cap="none" strike="noStrike">
                <a:solidFill>
                  <a:schemeClr val="dk1"/>
                </a:solidFill>
                <a:latin typeface="Lato"/>
                <a:ea typeface="Lato"/>
                <a:cs typeface="Lato"/>
                <a:sym typeface="Lato"/>
              </a:rPr>
              <a:t>Works well for strong outer boundaries.</a:t>
            </a:r>
            <a:endParaRPr i="0" sz="1100" cap="none" strike="noStrike">
              <a:solidFill>
                <a:schemeClr val="dk1"/>
              </a:solidFill>
              <a:latin typeface="Lato"/>
              <a:ea typeface="Lato"/>
              <a:cs typeface="Lato"/>
              <a:sym typeface="Lato"/>
            </a:endParaRPr>
          </a:p>
          <a:p>
            <a:pPr indent="0" lvl="0" marL="0" marR="0" rtl="0" algn="l">
              <a:spcBef>
                <a:spcPts val="0"/>
              </a:spcBef>
              <a:spcAft>
                <a:spcPts val="0"/>
              </a:spcAft>
              <a:buClr>
                <a:schemeClr val="dk1"/>
              </a:buClr>
              <a:buSzPts val="1100"/>
              <a:buFont typeface="Arial"/>
              <a:buNone/>
            </a:pPr>
            <a:r>
              <a:t/>
            </a:r>
            <a:endParaRPr i="0" sz="1100" cap="none" strike="noStrike">
              <a:solidFill>
                <a:schemeClr val="dk1"/>
              </a:solidFill>
              <a:latin typeface="Lato"/>
              <a:ea typeface="Lato"/>
              <a:cs typeface="Lato"/>
              <a:sym typeface="Lato"/>
            </a:endParaRPr>
          </a:p>
          <a:p>
            <a:pPr indent="0" lvl="0" marL="0" marR="0" rtl="0" algn="l">
              <a:spcBef>
                <a:spcPts val="0"/>
              </a:spcBef>
              <a:spcAft>
                <a:spcPts val="0"/>
              </a:spcAft>
              <a:buClr>
                <a:srgbClr val="5E6A6F"/>
              </a:buClr>
              <a:buSzPts val="1100"/>
              <a:buFont typeface="Arial"/>
              <a:buNone/>
            </a:pPr>
            <a:r>
              <a:rPr i="0" lang="en-GB" sz="1100" cap="none" strike="noStrike">
                <a:solidFill>
                  <a:schemeClr val="dk1"/>
                </a:solidFill>
                <a:latin typeface="Lato"/>
                <a:ea typeface="Lato"/>
                <a:cs typeface="Lato"/>
                <a:sym typeface="Lato"/>
              </a:rPr>
              <a:t>Gives useful edge orientation from Gx and Gy.</a:t>
            </a:r>
            <a:endParaRPr i="0" sz="1100" cap="none" strike="noStrike">
              <a:solidFill>
                <a:schemeClr val="dk1"/>
              </a:solidFill>
              <a:latin typeface="Lato"/>
              <a:ea typeface="Lato"/>
              <a:cs typeface="Lato"/>
              <a:sym typeface="Lato"/>
            </a:endParaRPr>
          </a:p>
        </p:txBody>
      </p:sp>
      <p:sp>
        <p:nvSpPr>
          <p:cNvPr id="279" name="Google Shape;279;p23"/>
          <p:cNvSpPr/>
          <p:nvPr/>
        </p:nvSpPr>
        <p:spPr>
          <a:xfrm>
            <a:off x="4782444" y="1089865"/>
            <a:ext cx="2709000" cy="1748700"/>
          </a:xfrm>
          <a:prstGeom prst="roundRect">
            <a:avLst>
              <a:gd fmla="val 4706" name="adj"/>
            </a:avLst>
          </a:prstGeom>
          <a:solidFill>
            <a:srgbClr val="F65B60"/>
          </a:solidFill>
          <a:ln cap="flat" cmpd="sng" w="21575">
            <a:solidFill>
              <a:srgbClr val="000000"/>
            </a:solidFill>
            <a:prstDash val="solid"/>
            <a:round/>
            <a:headEnd len="sm" w="sm" type="none"/>
            <a:tailEnd len="sm" w="sm" type="none"/>
          </a:ln>
          <a:effectLst>
            <a:outerShdw blurRad="25400" rotWithShape="0" algn="bl" dir="2700000" dist="50800">
              <a:srgbClr val="999999">
                <a:alpha val="2509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80" name="Google Shape;280;p23"/>
          <p:cNvSpPr/>
          <p:nvPr/>
        </p:nvSpPr>
        <p:spPr>
          <a:xfrm>
            <a:off x="4947117" y="1172704"/>
            <a:ext cx="2544300" cy="16392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chemeClr val="dk1"/>
              </a:buClr>
              <a:buSzPts val="1200"/>
              <a:buFont typeface="Arial"/>
              <a:buNone/>
            </a:pPr>
            <a:r>
              <a:t/>
            </a:r>
            <a:endParaRPr i="0" sz="1200" u="none" cap="none" strike="noStrike">
              <a:solidFill>
                <a:schemeClr val="dk1"/>
              </a:solidFill>
              <a:latin typeface="Lato"/>
              <a:ea typeface="Lato"/>
              <a:cs typeface="Lato"/>
              <a:sym typeface="Lato"/>
            </a:endParaRPr>
          </a:p>
        </p:txBody>
      </p:sp>
      <p:sp>
        <p:nvSpPr>
          <p:cNvPr id="281" name="Google Shape;281;p23"/>
          <p:cNvSpPr/>
          <p:nvPr/>
        </p:nvSpPr>
        <p:spPr>
          <a:xfrm>
            <a:off x="4912649" y="1172699"/>
            <a:ext cx="23661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GB" sz="1200" u="none" cap="none" strike="noStrike">
                <a:solidFill>
                  <a:schemeClr val="lt1"/>
                </a:solidFill>
                <a:latin typeface="Lato"/>
                <a:ea typeface="Lato"/>
                <a:cs typeface="Lato"/>
                <a:sym typeface="Lato"/>
              </a:rPr>
              <a:t>Limitations / Failure Cases</a:t>
            </a:r>
            <a:endParaRPr i="0" sz="1200" u="none" cap="none" strike="noStrike">
              <a:solidFill>
                <a:schemeClr val="lt1"/>
              </a:solidFill>
              <a:latin typeface="Lato"/>
              <a:ea typeface="Lato"/>
              <a:cs typeface="Lato"/>
              <a:sym typeface="Lato"/>
            </a:endParaRPr>
          </a:p>
        </p:txBody>
      </p:sp>
      <p:sp>
        <p:nvSpPr>
          <p:cNvPr id="282" name="Google Shape;282;p23"/>
          <p:cNvSpPr/>
          <p:nvPr/>
        </p:nvSpPr>
        <p:spPr>
          <a:xfrm>
            <a:off x="5036236" y="1543275"/>
            <a:ext cx="2366100" cy="1062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000000"/>
              </a:buClr>
              <a:buSzPts val="1100"/>
              <a:buFont typeface="Arial"/>
              <a:buNone/>
            </a:pPr>
            <a:r>
              <a:rPr i="0" lang="en-GB" sz="1100" u="none" cap="none" strike="noStrike">
                <a:solidFill>
                  <a:schemeClr val="lt1"/>
                </a:solidFill>
                <a:latin typeface="Lato"/>
                <a:ea typeface="Lato"/>
                <a:cs typeface="Lato"/>
                <a:sym typeface="Lato"/>
              </a:rPr>
              <a:t>Still sensitive to noise, weak contrast and heavy texture.</a:t>
            </a:r>
            <a:endParaRPr i="0" sz="1100" u="none" cap="none" strike="noStrike">
              <a:solidFill>
                <a:schemeClr val="lt1"/>
              </a:solidFill>
              <a:latin typeface="Lato"/>
              <a:ea typeface="Lato"/>
              <a:cs typeface="Lato"/>
              <a:sym typeface="Lato"/>
            </a:endParaRPr>
          </a:p>
          <a:p>
            <a:pPr indent="0" lvl="0" marL="0" marR="0" rtl="0" algn="l">
              <a:spcBef>
                <a:spcPts val="0"/>
              </a:spcBef>
              <a:spcAft>
                <a:spcPts val="0"/>
              </a:spcAft>
              <a:buClr>
                <a:schemeClr val="dk1"/>
              </a:buClr>
              <a:buSzPts val="1100"/>
              <a:buFont typeface="Arial"/>
              <a:buNone/>
            </a:pPr>
            <a:r>
              <a:t/>
            </a:r>
            <a:endParaRPr i="0" sz="1100" u="none" cap="none" strike="noStrike">
              <a:solidFill>
                <a:schemeClr val="lt1"/>
              </a:solidFill>
              <a:latin typeface="Lato"/>
              <a:ea typeface="Lato"/>
              <a:cs typeface="Lato"/>
              <a:sym typeface="Lato"/>
            </a:endParaRPr>
          </a:p>
          <a:p>
            <a:pPr indent="0" lvl="0" marL="0" marR="0" rtl="0" algn="l">
              <a:spcBef>
                <a:spcPts val="0"/>
              </a:spcBef>
              <a:spcAft>
                <a:spcPts val="0"/>
              </a:spcAft>
              <a:buClr>
                <a:srgbClr val="000000"/>
              </a:buClr>
              <a:buSzPts val="1100"/>
              <a:buFont typeface="Arial"/>
              <a:buNone/>
            </a:pPr>
            <a:r>
              <a:rPr i="0" lang="en-GB" sz="1100" u="none" cap="none" strike="noStrike">
                <a:solidFill>
                  <a:schemeClr val="lt1"/>
                </a:solidFill>
                <a:latin typeface="Lato"/>
                <a:ea typeface="Lato"/>
                <a:cs typeface="Lato"/>
                <a:sym typeface="Lato"/>
              </a:rPr>
              <a:t>Can produce thick, broken or false edges.</a:t>
            </a:r>
            <a:endParaRPr i="0" sz="1100" u="none" cap="none" strike="noStrike">
              <a:solidFill>
                <a:schemeClr val="lt1"/>
              </a:solidFill>
              <a:latin typeface="Lato"/>
              <a:ea typeface="Lato"/>
              <a:cs typeface="Lato"/>
              <a:sym typeface="Lato"/>
            </a:endParaRPr>
          </a:p>
          <a:p>
            <a:pPr indent="0" lvl="0" marL="0" marR="0" rtl="0" algn="l">
              <a:spcBef>
                <a:spcPts val="0"/>
              </a:spcBef>
              <a:spcAft>
                <a:spcPts val="0"/>
              </a:spcAft>
              <a:buClr>
                <a:schemeClr val="dk1"/>
              </a:buClr>
              <a:buSzPts val="1100"/>
              <a:buFont typeface="Arial"/>
              <a:buNone/>
            </a:pPr>
            <a:r>
              <a:t/>
            </a:r>
            <a:endParaRPr i="0" sz="1100" u="none" cap="none" strike="noStrike">
              <a:solidFill>
                <a:schemeClr val="lt1"/>
              </a:solidFill>
              <a:latin typeface="Lato"/>
              <a:ea typeface="Lato"/>
              <a:cs typeface="Lato"/>
              <a:sym typeface="Lato"/>
            </a:endParaRPr>
          </a:p>
          <a:p>
            <a:pPr indent="0" lvl="0" marL="0" marR="0" rtl="0" algn="l">
              <a:spcBef>
                <a:spcPts val="0"/>
              </a:spcBef>
              <a:spcAft>
                <a:spcPts val="0"/>
              </a:spcAft>
              <a:buClr>
                <a:srgbClr val="000000"/>
              </a:buClr>
              <a:buSzPts val="1100"/>
              <a:buFont typeface="Arial"/>
              <a:buNone/>
            </a:pPr>
            <a:r>
              <a:rPr i="0" lang="en-GB" sz="1100" u="none" cap="none" strike="noStrike">
                <a:solidFill>
                  <a:schemeClr val="lt1"/>
                </a:solidFill>
                <a:latin typeface="Lato"/>
                <a:ea typeface="Lato"/>
                <a:cs typeface="Lato"/>
                <a:sym typeface="Lato"/>
              </a:rPr>
              <a:t>Does not do edge thinning or linking like Canny.</a:t>
            </a:r>
            <a:endParaRPr i="0" sz="1100" u="none" cap="none" strike="noStrike">
              <a:solidFill>
                <a:schemeClr val="lt1"/>
              </a:solidFill>
              <a:latin typeface="Lato"/>
              <a:ea typeface="Lato"/>
              <a:cs typeface="Lato"/>
              <a:sym typeface="Lato"/>
            </a:endParaRPr>
          </a:p>
        </p:txBody>
      </p:sp>
      <p:sp>
        <p:nvSpPr>
          <p:cNvPr id="283" name="Google Shape;283;p23"/>
          <p:cNvSpPr/>
          <p:nvPr/>
        </p:nvSpPr>
        <p:spPr>
          <a:xfrm>
            <a:off x="881388" y="3676013"/>
            <a:ext cx="73449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500"/>
              <a:buFont typeface="Arial"/>
              <a:buNone/>
            </a:pPr>
            <a:r>
              <a:rPr b="1" i="0" lang="en-GB" sz="1500" cap="none" strike="noStrike">
                <a:solidFill>
                  <a:srgbClr val="5E6A6F"/>
                </a:solidFill>
                <a:latin typeface="Lato"/>
                <a:ea typeface="Lato"/>
                <a:cs typeface="Lato"/>
                <a:sym typeface="Lato"/>
              </a:rPr>
              <a:t>Best use of Sobel</a:t>
            </a:r>
            <a:r>
              <a:rPr b="1" lang="en-GB" sz="1500">
                <a:solidFill>
                  <a:srgbClr val="5E6A6F"/>
                </a:solidFill>
                <a:latin typeface="Lato"/>
                <a:ea typeface="Lato"/>
                <a:cs typeface="Lato"/>
                <a:sym typeface="Lato"/>
              </a:rPr>
              <a:t> Operator</a:t>
            </a:r>
            <a:r>
              <a:rPr b="1" i="0" lang="en-GB" sz="1500" cap="none" strike="noStrike">
                <a:solidFill>
                  <a:srgbClr val="5E6A6F"/>
                </a:solidFill>
                <a:latin typeface="Lato"/>
                <a:ea typeface="Lato"/>
                <a:cs typeface="Lato"/>
                <a:sym typeface="Lato"/>
              </a:rPr>
              <a:t>: </a:t>
            </a:r>
            <a:endParaRPr b="1" i="0" sz="1500" cap="none" strike="noStrike">
              <a:solidFill>
                <a:srgbClr val="5E6A6F"/>
              </a:solidFill>
              <a:latin typeface="Lato"/>
              <a:ea typeface="Lato"/>
              <a:cs typeface="Lato"/>
              <a:sym typeface="Lato"/>
            </a:endParaRPr>
          </a:p>
          <a:p>
            <a:pPr indent="0" lvl="0" marL="0" marR="0" rtl="0" algn="ctr">
              <a:spcBef>
                <a:spcPts val="0"/>
              </a:spcBef>
              <a:spcAft>
                <a:spcPts val="0"/>
              </a:spcAft>
              <a:buClr>
                <a:srgbClr val="5E6A6F"/>
              </a:buClr>
              <a:buSzPts val="1500"/>
              <a:buFont typeface="Arial"/>
              <a:buNone/>
            </a:pPr>
            <a:r>
              <a:rPr lang="en-GB" sz="1500">
                <a:solidFill>
                  <a:srgbClr val="5E6A6F"/>
                </a:solidFill>
                <a:latin typeface="Lato"/>
                <a:ea typeface="Lato"/>
                <a:cs typeface="Lato"/>
                <a:sym typeface="Lato"/>
              </a:rPr>
              <a:t>F</a:t>
            </a:r>
            <a:r>
              <a:rPr i="0" lang="en-GB" sz="1500" u="none" cap="none" strike="noStrike">
                <a:solidFill>
                  <a:srgbClr val="5E6A6F"/>
                </a:solidFill>
                <a:latin typeface="Lato"/>
                <a:ea typeface="Lato"/>
                <a:cs typeface="Lato"/>
                <a:sym typeface="Lato"/>
              </a:rPr>
              <a:t>ast</a:t>
            </a:r>
            <a:r>
              <a:rPr lang="en-GB" sz="1500">
                <a:solidFill>
                  <a:srgbClr val="5E6A6F"/>
                </a:solidFill>
                <a:latin typeface="Lato"/>
                <a:ea typeface="Lato"/>
                <a:cs typeface="Lato"/>
                <a:sym typeface="Lato"/>
              </a:rPr>
              <a:t> &amp;</a:t>
            </a:r>
            <a:r>
              <a:rPr i="0" lang="en-GB" sz="1500" u="none" cap="none" strike="noStrike">
                <a:solidFill>
                  <a:srgbClr val="5E6A6F"/>
                </a:solidFill>
                <a:latin typeface="Lato"/>
                <a:ea typeface="Lato"/>
                <a:cs typeface="Lato"/>
                <a:sym typeface="Lato"/>
              </a:rPr>
              <a:t> basic edge detection where a rough direction estimate is useful</a:t>
            </a:r>
            <a:r>
              <a:rPr b="1" i="0" lang="en-GB" sz="1500" u="none" cap="none" strike="noStrike">
                <a:solidFill>
                  <a:srgbClr val="5E6A6F"/>
                </a:solidFill>
                <a:latin typeface="Lato"/>
                <a:ea typeface="Lato"/>
                <a:cs typeface="Lato"/>
                <a:sym typeface="Lato"/>
              </a:rPr>
              <a:t>.</a:t>
            </a:r>
            <a:endParaRPr i="0" sz="1500" u="none" cap="none" strike="noStrike">
              <a:solidFill>
                <a:schemeClr val="dk1"/>
              </a:solidFill>
              <a:latin typeface="Lato"/>
              <a:ea typeface="Lato"/>
              <a:cs typeface="Lato"/>
              <a:sym typeface="Lato"/>
            </a:endParaRPr>
          </a:p>
        </p:txBody>
      </p:sp>
      <p:sp>
        <p:nvSpPr>
          <p:cNvPr id="284" name="Google Shape;284;p23"/>
          <p:cNvSpPr/>
          <p:nvPr/>
        </p:nvSpPr>
        <p:spPr>
          <a:xfrm>
            <a:off x="0" y="5058000"/>
            <a:ext cx="9144000" cy="855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t>Prewitt</a:t>
            </a:r>
            <a:r>
              <a:rPr b="1" lang="en-GB"/>
              <a:t> Operator</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25"/>
          <p:cNvSpPr/>
          <p:nvPr/>
        </p:nvSpPr>
        <p:spPr>
          <a:xfrm>
            <a:off x="267469" y="246888"/>
            <a:ext cx="8572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lang="en-GB" sz="2000">
                <a:solidFill>
                  <a:srgbClr val="F65B60"/>
                </a:solidFill>
                <a:latin typeface="Georgia"/>
                <a:ea typeface="Georgia"/>
                <a:cs typeface="Georgia"/>
                <a:sym typeface="Georgia"/>
              </a:rPr>
              <a:t>Prewitt </a:t>
            </a:r>
            <a:r>
              <a:rPr b="1" i="0" lang="en-GB" sz="2000" u="none" cap="none" strike="noStrike">
                <a:solidFill>
                  <a:srgbClr val="F65B60"/>
                </a:solidFill>
                <a:latin typeface="Georgia"/>
                <a:ea typeface="Georgia"/>
                <a:cs typeface="Georgia"/>
                <a:sym typeface="Georgia"/>
              </a:rPr>
              <a:t>: Gradient-</a:t>
            </a:r>
            <a:r>
              <a:rPr b="1" lang="en-GB" sz="2000">
                <a:solidFill>
                  <a:srgbClr val="F65B60"/>
                </a:solidFill>
                <a:latin typeface="Georgia"/>
                <a:ea typeface="Georgia"/>
                <a:cs typeface="Georgia"/>
                <a:sym typeface="Georgia"/>
              </a:rPr>
              <a:t>B</a:t>
            </a:r>
            <a:r>
              <a:rPr b="1" i="0" lang="en-GB" sz="2000" u="none" cap="none" strike="noStrike">
                <a:solidFill>
                  <a:srgbClr val="F65B60"/>
                </a:solidFill>
                <a:latin typeface="Georgia"/>
                <a:ea typeface="Georgia"/>
                <a:cs typeface="Georgia"/>
                <a:sym typeface="Georgia"/>
              </a:rPr>
              <a:t>ased </a:t>
            </a:r>
            <a:r>
              <a:rPr b="1" lang="en-GB" sz="2000">
                <a:solidFill>
                  <a:srgbClr val="F65B60"/>
                </a:solidFill>
                <a:latin typeface="Georgia"/>
                <a:ea typeface="Georgia"/>
                <a:cs typeface="Georgia"/>
                <a:sym typeface="Georgia"/>
              </a:rPr>
              <a:t>E</a:t>
            </a:r>
            <a:r>
              <a:rPr b="1" i="0" lang="en-GB" sz="2000" u="none" cap="none" strike="noStrike">
                <a:solidFill>
                  <a:srgbClr val="F65B60"/>
                </a:solidFill>
                <a:latin typeface="Georgia"/>
                <a:ea typeface="Georgia"/>
                <a:cs typeface="Georgia"/>
                <a:sym typeface="Georgia"/>
              </a:rPr>
              <a:t>dge </a:t>
            </a:r>
            <a:r>
              <a:rPr b="1" lang="en-GB" sz="2000">
                <a:solidFill>
                  <a:srgbClr val="F65B60"/>
                </a:solidFill>
                <a:latin typeface="Georgia"/>
                <a:ea typeface="Georgia"/>
                <a:cs typeface="Georgia"/>
                <a:sym typeface="Georgia"/>
              </a:rPr>
              <a:t>D</a:t>
            </a:r>
            <a:r>
              <a:rPr b="1" i="0" lang="en-GB" sz="2000" u="none" cap="none" strike="noStrike">
                <a:solidFill>
                  <a:srgbClr val="F65B60"/>
                </a:solidFill>
                <a:latin typeface="Georgia"/>
                <a:ea typeface="Georgia"/>
                <a:cs typeface="Georgia"/>
                <a:sym typeface="Georgia"/>
              </a:rPr>
              <a:t>etection</a:t>
            </a:r>
            <a:endParaRPr b="0" i="0" sz="2000" u="none" cap="none" strike="noStrike">
              <a:solidFill>
                <a:schemeClr val="dk1"/>
              </a:solidFill>
              <a:latin typeface="Arial"/>
              <a:ea typeface="Arial"/>
              <a:cs typeface="Arial"/>
              <a:sym typeface="Arial"/>
            </a:endParaRPr>
          </a:p>
        </p:txBody>
      </p:sp>
      <p:sp>
        <p:nvSpPr>
          <p:cNvPr id="296" name="Google Shape;296;p25"/>
          <p:cNvSpPr/>
          <p:nvPr/>
        </p:nvSpPr>
        <p:spPr>
          <a:xfrm>
            <a:off x="0" y="5077250"/>
            <a:ext cx="9144000" cy="663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7" name="Google Shape;297;p25"/>
          <p:cNvSpPr/>
          <p:nvPr/>
        </p:nvSpPr>
        <p:spPr>
          <a:xfrm>
            <a:off x="267475" y="906200"/>
            <a:ext cx="4663500" cy="3599700"/>
          </a:xfrm>
          <a:prstGeom prst="roundRect">
            <a:avLst>
              <a:gd fmla="val 8841" name="adj"/>
            </a:avLst>
          </a:prstGeom>
          <a:solidFill>
            <a:srgbClr val="FFFFFF"/>
          </a:solidFill>
          <a:ln cap="flat" cmpd="sng" w="21575">
            <a:solidFill>
              <a:srgbClr val="000000"/>
            </a:solidFill>
            <a:prstDash val="solid"/>
            <a:round/>
            <a:headEnd len="sm" w="sm" type="none"/>
            <a:tailEnd len="sm" w="sm" type="none"/>
          </a:ln>
          <a:effectLst>
            <a:outerShdw blurRad="25400" rotWithShape="0" algn="bl" dir="2700000" dist="50800">
              <a:srgbClr val="999999">
                <a:alpha val="2509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298" name="Google Shape;298;p25"/>
          <p:cNvSpPr/>
          <p:nvPr/>
        </p:nvSpPr>
        <p:spPr>
          <a:xfrm>
            <a:off x="471475" y="1231162"/>
            <a:ext cx="2414700" cy="39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100"/>
              <a:buFont typeface="Arial"/>
              <a:buNone/>
            </a:pPr>
            <a:r>
              <a:rPr b="1" lang="en-GB" sz="1600">
                <a:solidFill>
                  <a:srgbClr val="5E6A6F"/>
                </a:solidFill>
                <a:latin typeface="Lato"/>
                <a:ea typeface="Lato"/>
                <a:cs typeface="Lato"/>
                <a:sym typeface="Lato"/>
              </a:rPr>
              <a:t>Similarities to Sobel: </a:t>
            </a:r>
            <a:endParaRPr i="0" sz="1800" u="none" cap="none" strike="noStrike">
              <a:solidFill>
                <a:schemeClr val="dk1"/>
              </a:solidFill>
              <a:latin typeface="Lato"/>
              <a:ea typeface="Lato"/>
              <a:cs typeface="Lato"/>
              <a:sym typeface="Lato"/>
            </a:endParaRPr>
          </a:p>
        </p:txBody>
      </p:sp>
      <p:sp>
        <p:nvSpPr>
          <p:cNvPr id="299" name="Google Shape;299;p25"/>
          <p:cNvSpPr txBox="1"/>
          <p:nvPr/>
        </p:nvSpPr>
        <p:spPr>
          <a:xfrm>
            <a:off x="418725" y="1791025"/>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latin typeface="Lato"/>
                <a:ea typeface="Lato"/>
                <a:cs typeface="Lato"/>
                <a:sym typeface="Lato"/>
              </a:rPr>
              <a:t>F</a:t>
            </a:r>
            <a:r>
              <a:rPr lang="en-GB" sz="1300">
                <a:solidFill>
                  <a:schemeClr val="dk2"/>
                </a:solidFill>
                <a:latin typeface="Lato"/>
                <a:ea typeface="Lato"/>
                <a:cs typeface="Lato"/>
                <a:sym typeface="Lato"/>
              </a:rPr>
              <a:t>irst-order derivative method:</a:t>
            </a:r>
            <a:endParaRPr/>
          </a:p>
        </p:txBody>
      </p:sp>
      <p:cxnSp>
        <p:nvCxnSpPr>
          <p:cNvPr id="300" name="Google Shape;300;p25"/>
          <p:cNvCxnSpPr/>
          <p:nvPr/>
        </p:nvCxnSpPr>
        <p:spPr>
          <a:xfrm>
            <a:off x="1056210" y="2400308"/>
            <a:ext cx="276900" cy="0"/>
          </a:xfrm>
          <a:prstGeom prst="straightConnector1">
            <a:avLst/>
          </a:prstGeom>
          <a:noFill/>
          <a:ln cap="flat" cmpd="sng" w="14650">
            <a:solidFill>
              <a:srgbClr val="000000"/>
            </a:solidFill>
            <a:prstDash val="solid"/>
            <a:round/>
            <a:headEnd len="sm" w="sm" type="none"/>
            <a:tailEnd len="med" w="med" type="triangle"/>
          </a:ln>
        </p:spPr>
      </p:cxnSp>
      <p:cxnSp>
        <p:nvCxnSpPr>
          <p:cNvPr id="301" name="Google Shape;301;p25"/>
          <p:cNvCxnSpPr/>
          <p:nvPr/>
        </p:nvCxnSpPr>
        <p:spPr>
          <a:xfrm>
            <a:off x="1970672" y="2400308"/>
            <a:ext cx="276900" cy="0"/>
          </a:xfrm>
          <a:prstGeom prst="straightConnector1">
            <a:avLst/>
          </a:prstGeom>
          <a:noFill/>
          <a:ln cap="flat" cmpd="sng" w="14650">
            <a:solidFill>
              <a:srgbClr val="000000"/>
            </a:solidFill>
            <a:prstDash val="solid"/>
            <a:round/>
            <a:headEnd len="sm" w="sm" type="none"/>
            <a:tailEnd len="med" w="med" type="triangle"/>
          </a:ln>
        </p:spPr>
      </p:cxnSp>
      <p:cxnSp>
        <p:nvCxnSpPr>
          <p:cNvPr id="302" name="Google Shape;302;p25"/>
          <p:cNvCxnSpPr/>
          <p:nvPr/>
        </p:nvCxnSpPr>
        <p:spPr>
          <a:xfrm>
            <a:off x="2885133" y="2400308"/>
            <a:ext cx="276900" cy="0"/>
          </a:xfrm>
          <a:prstGeom prst="straightConnector1">
            <a:avLst/>
          </a:prstGeom>
          <a:noFill/>
          <a:ln cap="flat" cmpd="sng" w="14650">
            <a:solidFill>
              <a:srgbClr val="000000"/>
            </a:solidFill>
            <a:prstDash val="solid"/>
            <a:round/>
            <a:headEnd len="sm" w="sm" type="none"/>
            <a:tailEnd len="med" w="med" type="triangle"/>
          </a:ln>
        </p:spPr>
      </p:cxnSp>
      <p:cxnSp>
        <p:nvCxnSpPr>
          <p:cNvPr id="303" name="Google Shape;303;p25"/>
          <p:cNvCxnSpPr/>
          <p:nvPr/>
        </p:nvCxnSpPr>
        <p:spPr>
          <a:xfrm>
            <a:off x="3799595" y="2400308"/>
            <a:ext cx="276900" cy="0"/>
          </a:xfrm>
          <a:prstGeom prst="straightConnector1">
            <a:avLst/>
          </a:prstGeom>
          <a:noFill/>
          <a:ln cap="flat" cmpd="sng" w="14650">
            <a:solidFill>
              <a:srgbClr val="000000"/>
            </a:solidFill>
            <a:prstDash val="solid"/>
            <a:round/>
            <a:headEnd len="sm" w="sm" type="none"/>
            <a:tailEnd len="med" w="med" type="triangle"/>
          </a:ln>
        </p:spPr>
      </p:cxnSp>
      <p:sp>
        <p:nvSpPr>
          <p:cNvPr id="304" name="Google Shape;304;p25"/>
          <p:cNvSpPr/>
          <p:nvPr/>
        </p:nvSpPr>
        <p:spPr>
          <a:xfrm>
            <a:off x="418725" y="2228850"/>
            <a:ext cx="637800" cy="342900"/>
          </a:xfrm>
          <a:prstGeom prst="roundRect">
            <a:avLst>
              <a:gd fmla="val 15385" name="adj"/>
            </a:avLst>
          </a:prstGeom>
          <a:solidFill>
            <a:srgbClr val="FFFFFF"/>
          </a:solidFill>
          <a:ln cap="flat" cmpd="sng" w="13825">
            <a:solidFill>
              <a:srgbClr val="333333"/>
            </a:solidFill>
            <a:prstDash val="solid"/>
            <a:round/>
            <a:headEnd len="sm" w="sm" type="none"/>
            <a:tailEnd len="sm" w="sm" type="none"/>
          </a:ln>
          <a:effectLst>
            <a:outerShdw blurRad="16283" rotWithShape="0" algn="bl" dir="2700000" dist="32565">
              <a:srgbClr val="999999">
                <a:alpha val="25099"/>
              </a:srgbClr>
            </a:outerShdw>
          </a:effectLst>
        </p:spPr>
        <p:txBody>
          <a:bodyPr anchorCtr="0" anchor="ctr" bIns="43975" lIns="43975" spcFirstLastPara="1" rIns="43975" wrap="square" tIns="43975">
            <a:noAutofit/>
          </a:bodyPr>
          <a:lstStyle/>
          <a:p>
            <a:pPr indent="0" lvl="0" marL="0" rtl="0" algn="l">
              <a:spcBef>
                <a:spcPts val="0"/>
              </a:spcBef>
              <a:spcAft>
                <a:spcPts val="0"/>
              </a:spcAft>
              <a:buNone/>
            </a:pPr>
            <a:r>
              <a:t/>
            </a:r>
            <a:endParaRPr sz="897">
              <a:latin typeface="Lato"/>
              <a:ea typeface="Lato"/>
              <a:cs typeface="Lato"/>
              <a:sym typeface="Lato"/>
            </a:endParaRPr>
          </a:p>
        </p:txBody>
      </p:sp>
      <p:sp>
        <p:nvSpPr>
          <p:cNvPr id="305" name="Google Shape;305;p25"/>
          <p:cNvSpPr/>
          <p:nvPr/>
        </p:nvSpPr>
        <p:spPr>
          <a:xfrm>
            <a:off x="471482" y="2264021"/>
            <a:ext cx="531900" cy="272700"/>
          </a:xfrm>
          <a:prstGeom prst="rect">
            <a:avLst/>
          </a:prstGeom>
          <a:noFill/>
          <a:ln>
            <a:noFill/>
          </a:ln>
        </p:spPr>
        <p:txBody>
          <a:bodyPr anchorCtr="0" anchor="ctr" bIns="125" lIns="125" spcFirstLastPara="1" rIns="125" wrap="square" tIns="125">
            <a:noAutofit/>
          </a:bodyPr>
          <a:lstStyle/>
          <a:p>
            <a:pPr indent="0" lvl="0" marL="0" marR="0" rtl="0" algn="ctr">
              <a:spcBef>
                <a:spcPts val="0"/>
              </a:spcBef>
              <a:spcAft>
                <a:spcPts val="0"/>
              </a:spcAft>
              <a:buClr>
                <a:srgbClr val="000000"/>
              </a:buClr>
              <a:buSzPts val="449"/>
              <a:buFont typeface="Arial"/>
              <a:buNone/>
            </a:pPr>
            <a:r>
              <a:rPr b="1" i="0" lang="en-GB" sz="577" u="none" cap="none" strike="noStrike">
                <a:solidFill>
                  <a:srgbClr val="000000"/>
                </a:solidFill>
                <a:latin typeface="Lato"/>
                <a:ea typeface="Lato"/>
                <a:cs typeface="Lato"/>
                <a:sym typeface="Lato"/>
              </a:rPr>
              <a:t>Input</a:t>
            </a:r>
            <a:endParaRPr sz="577">
              <a:solidFill>
                <a:schemeClr val="dk1"/>
              </a:solidFill>
              <a:latin typeface="Lato"/>
              <a:ea typeface="Lato"/>
              <a:cs typeface="Lato"/>
              <a:sym typeface="Lato"/>
            </a:endParaRPr>
          </a:p>
          <a:p>
            <a:pPr indent="0" lvl="0" marL="0" marR="0" rtl="0" algn="ctr">
              <a:spcBef>
                <a:spcPts val="0"/>
              </a:spcBef>
              <a:spcAft>
                <a:spcPts val="0"/>
              </a:spcAft>
              <a:buClr>
                <a:srgbClr val="000000"/>
              </a:buClr>
              <a:buSzPts val="449"/>
              <a:buFont typeface="Arial"/>
              <a:buNone/>
            </a:pPr>
            <a:r>
              <a:rPr b="1" i="0" lang="en-GB" sz="577" u="none" cap="none" strike="noStrike">
                <a:solidFill>
                  <a:srgbClr val="000000"/>
                </a:solidFill>
                <a:latin typeface="Lato"/>
                <a:ea typeface="Lato"/>
                <a:cs typeface="Lato"/>
                <a:sym typeface="Lato"/>
              </a:rPr>
              <a:t>image</a:t>
            </a:r>
            <a:endParaRPr i="0" sz="577" u="none" cap="none" strike="noStrike">
              <a:solidFill>
                <a:schemeClr val="dk1"/>
              </a:solidFill>
              <a:latin typeface="Lato"/>
              <a:ea typeface="Lato"/>
              <a:cs typeface="Lato"/>
              <a:sym typeface="Lato"/>
            </a:endParaRPr>
          </a:p>
        </p:txBody>
      </p:sp>
      <p:sp>
        <p:nvSpPr>
          <p:cNvPr id="306" name="Google Shape;306;p25"/>
          <p:cNvSpPr/>
          <p:nvPr/>
        </p:nvSpPr>
        <p:spPr>
          <a:xfrm>
            <a:off x="1333186" y="2228850"/>
            <a:ext cx="637800" cy="342900"/>
          </a:xfrm>
          <a:prstGeom prst="roundRect">
            <a:avLst>
              <a:gd fmla="val 15385" name="adj"/>
            </a:avLst>
          </a:prstGeom>
          <a:solidFill>
            <a:srgbClr val="F65B60"/>
          </a:solidFill>
          <a:ln cap="flat" cmpd="sng" w="13825">
            <a:solidFill>
              <a:srgbClr val="333333"/>
            </a:solidFill>
            <a:prstDash val="solid"/>
            <a:round/>
            <a:headEnd len="sm" w="sm" type="none"/>
            <a:tailEnd len="sm" w="sm" type="none"/>
          </a:ln>
          <a:effectLst>
            <a:outerShdw blurRad="16283" rotWithShape="0" algn="bl" dir="2700000" dist="32565">
              <a:srgbClr val="999999">
                <a:alpha val="25099"/>
              </a:srgbClr>
            </a:outerShdw>
          </a:effectLst>
        </p:spPr>
        <p:txBody>
          <a:bodyPr anchorCtr="0" anchor="ctr" bIns="43975" lIns="43975" spcFirstLastPara="1" rIns="43975" wrap="square" tIns="43975">
            <a:noAutofit/>
          </a:bodyPr>
          <a:lstStyle/>
          <a:p>
            <a:pPr indent="0" lvl="0" marL="0" rtl="0" algn="l">
              <a:spcBef>
                <a:spcPts val="0"/>
              </a:spcBef>
              <a:spcAft>
                <a:spcPts val="0"/>
              </a:spcAft>
              <a:buNone/>
            </a:pPr>
            <a:r>
              <a:t/>
            </a:r>
            <a:endParaRPr sz="897">
              <a:latin typeface="Lato"/>
              <a:ea typeface="Lato"/>
              <a:cs typeface="Lato"/>
              <a:sym typeface="Lato"/>
            </a:endParaRPr>
          </a:p>
        </p:txBody>
      </p:sp>
      <p:sp>
        <p:nvSpPr>
          <p:cNvPr id="307" name="Google Shape;307;p25"/>
          <p:cNvSpPr/>
          <p:nvPr/>
        </p:nvSpPr>
        <p:spPr>
          <a:xfrm>
            <a:off x="1385944" y="2264021"/>
            <a:ext cx="531900" cy="272700"/>
          </a:xfrm>
          <a:prstGeom prst="rect">
            <a:avLst/>
          </a:prstGeom>
          <a:noFill/>
          <a:ln>
            <a:noFill/>
          </a:ln>
        </p:spPr>
        <p:txBody>
          <a:bodyPr anchorCtr="0" anchor="ctr" bIns="125" lIns="125" spcFirstLastPara="1" rIns="125" wrap="square" tIns="125">
            <a:noAutofit/>
          </a:bodyPr>
          <a:lstStyle/>
          <a:p>
            <a:pPr indent="0" lvl="0" marL="0" marR="0" rtl="0" algn="ctr">
              <a:spcBef>
                <a:spcPts val="0"/>
              </a:spcBef>
              <a:spcAft>
                <a:spcPts val="0"/>
              </a:spcAft>
              <a:buClr>
                <a:srgbClr val="000000"/>
              </a:buClr>
              <a:buSzPts val="449"/>
              <a:buFont typeface="Arial"/>
              <a:buNone/>
            </a:pPr>
            <a:r>
              <a:rPr b="1" i="0" lang="en-GB" sz="577" u="none" cap="none" strike="noStrike">
                <a:solidFill>
                  <a:schemeClr val="lt1"/>
                </a:solidFill>
                <a:latin typeface="Lato"/>
                <a:ea typeface="Lato"/>
                <a:cs typeface="Lato"/>
                <a:sym typeface="Lato"/>
              </a:rPr>
              <a:t>Gx kernel:</a:t>
            </a:r>
            <a:endParaRPr i="0" sz="577" u="none" cap="none" strike="noStrike">
              <a:solidFill>
                <a:schemeClr val="lt1"/>
              </a:solidFill>
              <a:latin typeface="Lato"/>
              <a:ea typeface="Lato"/>
              <a:cs typeface="Lato"/>
              <a:sym typeface="Lato"/>
            </a:endParaRPr>
          </a:p>
          <a:p>
            <a:pPr indent="0" lvl="0" marL="0" marR="0" rtl="0" algn="ctr">
              <a:spcBef>
                <a:spcPts val="0"/>
              </a:spcBef>
              <a:spcAft>
                <a:spcPts val="0"/>
              </a:spcAft>
              <a:buClr>
                <a:srgbClr val="000000"/>
              </a:buClr>
              <a:buSzPts val="449"/>
              <a:buFont typeface="Arial"/>
              <a:buNone/>
            </a:pPr>
            <a:r>
              <a:rPr b="1" i="0" lang="en-GB" sz="577" u="none" cap="none" strike="noStrike">
                <a:solidFill>
                  <a:schemeClr val="lt1"/>
                </a:solidFill>
                <a:latin typeface="Lato"/>
                <a:ea typeface="Lato"/>
                <a:cs typeface="Lato"/>
                <a:sym typeface="Lato"/>
              </a:rPr>
              <a:t>vertical edges</a:t>
            </a:r>
            <a:endParaRPr i="0" sz="577" u="none" cap="none" strike="noStrike">
              <a:solidFill>
                <a:schemeClr val="lt1"/>
              </a:solidFill>
              <a:latin typeface="Lato"/>
              <a:ea typeface="Lato"/>
              <a:cs typeface="Lato"/>
              <a:sym typeface="Lato"/>
            </a:endParaRPr>
          </a:p>
        </p:txBody>
      </p:sp>
      <p:sp>
        <p:nvSpPr>
          <p:cNvPr id="308" name="Google Shape;308;p25"/>
          <p:cNvSpPr/>
          <p:nvPr/>
        </p:nvSpPr>
        <p:spPr>
          <a:xfrm>
            <a:off x="2247648" y="2228850"/>
            <a:ext cx="637800" cy="342900"/>
          </a:xfrm>
          <a:prstGeom prst="roundRect">
            <a:avLst>
              <a:gd fmla="val 15385" name="adj"/>
            </a:avLst>
          </a:prstGeom>
          <a:solidFill>
            <a:srgbClr val="F65B60"/>
          </a:solidFill>
          <a:ln cap="flat" cmpd="sng" w="13825">
            <a:solidFill>
              <a:srgbClr val="333333"/>
            </a:solidFill>
            <a:prstDash val="solid"/>
            <a:round/>
            <a:headEnd len="sm" w="sm" type="none"/>
            <a:tailEnd len="sm" w="sm" type="none"/>
          </a:ln>
          <a:effectLst>
            <a:outerShdw blurRad="16283" rotWithShape="0" algn="bl" dir="2700000" dist="32565">
              <a:srgbClr val="999999">
                <a:alpha val="25099"/>
              </a:srgbClr>
            </a:outerShdw>
          </a:effectLst>
        </p:spPr>
        <p:txBody>
          <a:bodyPr anchorCtr="0" anchor="ctr" bIns="43975" lIns="43975" spcFirstLastPara="1" rIns="43975" wrap="square" tIns="43975">
            <a:noAutofit/>
          </a:bodyPr>
          <a:lstStyle/>
          <a:p>
            <a:pPr indent="0" lvl="0" marL="0" rtl="0" algn="l">
              <a:spcBef>
                <a:spcPts val="0"/>
              </a:spcBef>
              <a:spcAft>
                <a:spcPts val="0"/>
              </a:spcAft>
              <a:buNone/>
            </a:pPr>
            <a:r>
              <a:t/>
            </a:r>
            <a:endParaRPr sz="897">
              <a:latin typeface="Lato"/>
              <a:ea typeface="Lato"/>
              <a:cs typeface="Lato"/>
              <a:sym typeface="Lato"/>
            </a:endParaRPr>
          </a:p>
        </p:txBody>
      </p:sp>
      <p:sp>
        <p:nvSpPr>
          <p:cNvPr id="309" name="Google Shape;309;p25"/>
          <p:cNvSpPr/>
          <p:nvPr/>
        </p:nvSpPr>
        <p:spPr>
          <a:xfrm>
            <a:off x="2300405" y="2264021"/>
            <a:ext cx="531900" cy="272700"/>
          </a:xfrm>
          <a:prstGeom prst="rect">
            <a:avLst/>
          </a:prstGeom>
          <a:noFill/>
          <a:ln>
            <a:noFill/>
          </a:ln>
        </p:spPr>
        <p:txBody>
          <a:bodyPr anchorCtr="0" anchor="ctr" bIns="125" lIns="125" spcFirstLastPara="1" rIns="125" wrap="square" tIns="125">
            <a:noAutofit/>
          </a:bodyPr>
          <a:lstStyle/>
          <a:p>
            <a:pPr indent="0" lvl="0" marL="0" marR="0" rtl="0" algn="ctr">
              <a:spcBef>
                <a:spcPts val="0"/>
              </a:spcBef>
              <a:spcAft>
                <a:spcPts val="0"/>
              </a:spcAft>
              <a:buClr>
                <a:srgbClr val="000000"/>
              </a:buClr>
              <a:buSzPts val="449"/>
              <a:buFont typeface="Arial"/>
              <a:buNone/>
            </a:pPr>
            <a:r>
              <a:rPr b="1" i="0" lang="en-GB" sz="577" u="none" cap="none" strike="noStrike">
                <a:solidFill>
                  <a:schemeClr val="lt1"/>
                </a:solidFill>
                <a:latin typeface="Lato"/>
                <a:ea typeface="Lato"/>
                <a:cs typeface="Lato"/>
                <a:sym typeface="Lato"/>
              </a:rPr>
              <a:t>Gy kernel:</a:t>
            </a:r>
            <a:endParaRPr sz="577">
              <a:solidFill>
                <a:schemeClr val="lt1"/>
              </a:solidFill>
              <a:latin typeface="Lato"/>
              <a:ea typeface="Lato"/>
              <a:cs typeface="Lato"/>
              <a:sym typeface="Lato"/>
            </a:endParaRPr>
          </a:p>
          <a:p>
            <a:pPr indent="0" lvl="0" marL="0" marR="0" rtl="0" algn="ctr">
              <a:spcBef>
                <a:spcPts val="0"/>
              </a:spcBef>
              <a:spcAft>
                <a:spcPts val="0"/>
              </a:spcAft>
              <a:buClr>
                <a:srgbClr val="000000"/>
              </a:buClr>
              <a:buSzPts val="449"/>
              <a:buFont typeface="Arial"/>
              <a:buNone/>
            </a:pPr>
            <a:r>
              <a:rPr b="1" i="0" lang="en-GB" sz="577" u="none" cap="none" strike="noStrike">
                <a:solidFill>
                  <a:schemeClr val="lt1"/>
                </a:solidFill>
                <a:latin typeface="Lato"/>
                <a:ea typeface="Lato"/>
                <a:cs typeface="Lato"/>
                <a:sym typeface="Lato"/>
              </a:rPr>
              <a:t>horizontal edges</a:t>
            </a:r>
            <a:endParaRPr i="0" sz="577" u="none" cap="none" strike="noStrike">
              <a:solidFill>
                <a:schemeClr val="lt1"/>
              </a:solidFill>
              <a:latin typeface="Lato"/>
              <a:ea typeface="Lato"/>
              <a:cs typeface="Lato"/>
              <a:sym typeface="Lato"/>
            </a:endParaRPr>
          </a:p>
        </p:txBody>
      </p:sp>
      <p:sp>
        <p:nvSpPr>
          <p:cNvPr id="310" name="Google Shape;310;p25"/>
          <p:cNvSpPr/>
          <p:nvPr/>
        </p:nvSpPr>
        <p:spPr>
          <a:xfrm>
            <a:off x="3162109" y="2228850"/>
            <a:ext cx="637800" cy="342900"/>
          </a:xfrm>
          <a:prstGeom prst="roundRect">
            <a:avLst>
              <a:gd fmla="val 15385" name="adj"/>
            </a:avLst>
          </a:prstGeom>
          <a:solidFill>
            <a:srgbClr val="F65B60"/>
          </a:solidFill>
          <a:ln cap="flat" cmpd="sng" w="13825">
            <a:solidFill>
              <a:srgbClr val="333333"/>
            </a:solidFill>
            <a:prstDash val="solid"/>
            <a:round/>
            <a:headEnd len="sm" w="sm" type="none"/>
            <a:tailEnd len="sm" w="sm" type="none"/>
          </a:ln>
          <a:effectLst>
            <a:outerShdw blurRad="16283" rotWithShape="0" algn="bl" dir="2700000" dist="32565">
              <a:srgbClr val="999999">
                <a:alpha val="25099"/>
              </a:srgbClr>
            </a:outerShdw>
          </a:effectLst>
        </p:spPr>
        <p:txBody>
          <a:bodyPr anchorCtr="0" anchor="ctr" bIns="43975" lIns="43975" spcFirstLastPara="1" rIns="43975" wrap="square" tIns="43975">
            <a:noAutofit/>
          </a:bodyPr>
          <a:lstStyle/>
          <a:p>
            <a:pPr indent="0" lvl="0" marL="0" rtl="0" algn="l">
              <a:spcBef>
                <a:spcPts val="0"/>
              </a:spcBef>
              <a:spcAft>
                <a:spcPts val="0"/>
              </a:spcAft>
              <a:buNone/>
            </a:pPr>
            <a:r>
              <a:t/>
            </a:r>
            <a:endParaRPr sz="897">
              <a:latin typeface="Lato"/>
              <a:ea typeface="Lato"/>
              <a:cs typeface="Lato"/>
              <a:sym typeface="Lato"/>
            </a:endParaRPr>
          </a:p>
        </p:txBody>
      </p:sp>
      <p:sp>
        <p:nvSpPr>
          <p:cNvPr id="311" name="Google Shape;311;p25"/>
          <p:cNvSpPr/>
          <p:nvPr/>
        </p:nvSpPr>
        <p:spPr>
          <a:xfrm>
            <a:off x="3214867" y="2264021"/>
            <a:ext cx="531900" cy="272700"/>
          </a:xfrm>
          <a:prstGeom prst="rect">
            <a:avLst/>
          </a:prstGeom>
          <a:noFill/>
          <a:ln>
            <a:noFill/>
          </a:ln>
        </p:spPr>
        <p:txBody>
          <a:bodyPr anchorCtr="0" anchor="ctr" bIns="125" lIns="125" spcFirstLastPara="1" rIns="125" wrap="square" tIns="125">
            <a:noAutofit/>
          </a:bodyPr>
          <a:lstStyle/>
          <a:p>
            <a:pPr indent="0" lvl="0" marL="0" marR="0" rtl="0" algn="ctr">
              <a:spcBef>
                <a:spcPts val="0"/>
              </a:spcBef>
              <a:spcAft>
                <a:spcPts val="0"/>
              </a:spcAft>
              <a:buClr>
                <a:srgbClr val="000000"/>
              </a:buClr>
              <a:buSzPts val="449"/>
              <a:buFont typeface="Arial"/>
              <a:buNone/>
            </a:pPr>
            <a:r>
              <a:rPr b="1" i="0" lang="en-GB" sz="577" u="none" cap="none" strike="noStrike">
                <a:solidFill>
                  <a:schemeClr val="lt1"/>
                </a:solidFill>
                <a:latin typeface="Lato"/>
                <a:ea typeface="Lato"/>
                <a:cs typeface="Lato"/>
                <a:sym typeface="Lato"/>
              </a:rPr>
              <a:t>Combine</a:t>
            </a:r>
            <a:endParaRPr i="0" sz="577" u="none" cap="none" strike="noStrike">
              <a:solidFill>
                <a:schemeClr val="lt1"/>
              </a:solidFill>
              <a:latin typeface="Lato"/>
              <a:ea typeface="Lato"/>
              <a:cs typeface="Lato"/>
              <a:sym typeface="Lato"/>
            </a:endParaRPr>
          </a:p>
          <a:p>
            <a:pPr indent="0" lvl="0" marL="0" marR="0" rtl="0" algn="ctr">
              <a:spcBef>
                <a:spcPts val="0"/>
              </a:spcBef>
              <a:spcAft>
                <a:spcPts val="0"/>
              </a:spcAft>
              <a:buClr>
                <a:srgbClr val="000000"/>
              </a:buClr>
              <a:buSzPts val="449"/>
              <a:buFont typeface="Arial"/>
              <a:buNone/>
            </a:pPr>
            <a:r>
              <a:rPr b="1" i="0" lang="en-GB" sz="577" u="none" cap="none" strike="noStrike">
                <a:solidFill>
                  <a:schemeClr val="lt1"/>
                </a:solidFill>
                <a:latin typeface="Lato"/>
                <a:ea typeface="Lato"/>
                <a:cs typeface="Lato"/>
                <a:sym typeface="Lato"/>
              </a:rPr>
              <a:t>responses</a:t>
            </a:r>
            <a:endParaRPr i="0" sz="577" u="none" cap="none" strike="noStrike">
              <a:solidFill>
                <a:schemeClr val="lt1"/>
              </a:solidFill>
              <a:latin typeface="Lato"/>
              <a:ea typeface="Lato"/>
              <a:cs typeface="Lato"/>
              <a:sym typeface="Lato"/>
            </a:endParaRPr>
          </a:p>
        </p:txBody>
      </p:sp>
      <p:sp>
        <p:nvSpPr>
          <p:cNvPr id="312" name="Google Shape;312;p25"/>
          <p:cNvSpPr/>
          <p:nvPr/>
        </p:nvSpPr>
        <p:spPr>
          <a:xfrm>
            <a:off x="4076571" y="2228850"/>
            <a:ext cx="637800" cy="342900"/>
          </a:xfrm>
          <a:prstGeom prst="roundRect">
            <a:avLst>
              <a:gd fmla="val 15385" name="adj"/>
            </a:avLst>
          </a:prstGeom>
          <a:solidFill>
            <a:srgbClr val="FFFFFF"/>
          </a:solidFill>
          <a:ln cap="flat" cmpd="sng" w="13825">
            <a:solidFill>
              <a:srgbClr val="333333"/>
            </a:solidFill>
            <a:prstDash val="solid"/>
            <a:round/>
            <a:headEnd len="sm" w="sm" type="none"/>
            <a:tailEnd len="sm" w="sm" type="none"/>
          </a:ln>
          <a:effectLst>
            <a:outerShdw blurRad="16283" rotWithShape="0" algn="bl" dir="2700000" dist="32565">
              <a:srgbClr val="999999">
                <a:alpha val="25099"/>
              </a:srgbClr>
            </a:outerShdw>
          </a:effectLst>
        </p:spPr>
        <p:txBody>
          <a:bodyPr anchorCtr="0" anchor="ctr" bIns="43975" lIns="43975" spcFirstLastPara="1" rIns="43975" wrap="square" tIns="43975">
            <a:noAutofit/>
          </a:bodyPr>
          <a:lstStyle/>
          <a:p>
            <a:pPr indent="0" lvl="0" marL="0" rtl="0" algn="l">
              <a:spcBef>
                <a:spcPts val="0"/>
              </a:spcBef>
              <a:spcAft>
                <a:spcPts val="0"/>
              </a:spcAft>
              <a:buNone/>
            </a:pPr>
            <a:r>
              <a:t/>
            </a:r>
            <a:endParaRPr sz="897">
              <a:latin typeface="Lato"/>
              <a:ea typeface="Lato"/>
              <a:cs typeface="Lato"/>
              <a:sym typeface="Lato"/>
            </a:endParaRPr>
          </a:p>
        </p:txBody>
      </p:sp>
      <p:sp>
        <p:nvSpPr>
          <p:cNvPr id="313" name="Google Shape;313;p25"/>
          <p:cNvSpPr/>
          <p:nvPr/>
        </p:nvSpPr>
        <p:spPr>
          <a:xfrm>
            <a:off x="4129328" y="2264021"/>
            <a:ext cx="531900" cy="272700"/>
          </a:xfrm>
          <a:prstGeom prst="rect">
            <a:avLst/>
          </a:prstGeom>
          <a:noFill/>
          <a:ln>
            <a:noFill/>
          </a:ln>
        </p:spPr>
        <p:txBody>
          <a:bodyPr anchorCtr="0" anchor="ctr" bIns="125" lIns="125" spcFirstLastPara="1" rIns="125" wrap="square" tIns="125">
            <a:noAutofit/>
          </a:bodyPr>
          <a:lstStyle/>
          <a:p>
            <a:pPr indent="0" lvl="0" marL="0" marR="0" rtl="0" algn="ctr">
              <a:spcBef>
                <a:spcPts val="0"/>
              </a:spcBef>
              <a:spcAft>
                <a:spcPts val="0"/>
              </a:spcAft>
              <a:buClr>
                <a:srgbClr val="000000"/>
              </a:buClr>
              <a:buSzPts val="449"/>
              <a:buFont typeface="Arial"/>
              <a:buNone/>
            </a:pPr>
            <a:r>
              <a:rPr b="1" i="0" lang="en-GB" sz="577" u="none" cap="none" strike="noStrike">
                <a:solidFill>
                  <a:srgbClr val="000000"/>
                </a:solidFill>
                <a:latin typeface="Lato"/>
                <a:ea typeface="Lato"/>
                <a:cs typeface="Lato"/>
                <a:sym typeface="Lato"/>
              </a:rPr>
              <a:t>Edge</a:t>
            </a:r>
            <a:endParaRPr b="1" i="0" sz="577" u="none" cap="none" strike="noStrike">
              <a:solidFill>
                <a:schemeClr val="dk1"/>
              </a:solidFill>
              <a:latin typeface="Lato"/>
              <a:ea typeface="Lato"/>
              <a:cs typeface="Lato"/>
              <a:sym typeface="Lato"/>
            </a:endParaRPr>
          </a:p>
          <a:p>
            <a:pPr indent="0" lvl="0" marL="0" marR="0" rtl="0" algn="ctr">
              <a:spcBef>
                <a:spcPts val="0"/>
              </a:spcBef>
              <a:spcAft>
                <a:spcPts val="0"/>
              </a:spcAft>
              <a:buClr>
                <a:srgbClr val="000000"/>
              </a:buClr>
              <a:buSzPts val="449"/>
              <a:buFont typeface="Arial"/>
              <a:buNone/>
            </a:pPr>
            <a:r>
              <a:rPr b="1" i="0" lang="en-GB" sz="577" u="none" cap="none" strike="noStrike">
                <a:solidFill>
                  <a:srgbClr val="000000"/>
                </a:solidFill>
                <a:latin typeface="Lato"/>
                <a:ea typeface="Lato"/>
                <a:cs typeface="Lato"/>
                <a:sym typeface="Lato"/>
              </a:rPr>
              <a:t>map</a:t>
            </a:r>
            <a:endParaRPr b="1" i="0" sz="577" u="none" cap="none" strike="noStrike">
              <a:solidFill>
                <a:schemeClr val="dk1"/>
              </a:solidFill>
              <a:latin typeface="Lato"/>
              <a:ea typeface="Lato"/>
              <a:cs typeface="Lato"/>
              <a:sym typeface="Lato"/>
            </a:endParaRPr>
          </a:p>
        </p:txBody>
      </p:sp>
      <p:sp>
        <p:nvSpPr>
          <p:cNvPr id="314" name="Google Shape;314;p25"/>
          <p:cNvSpPr/>
          <p:nvPr/>
        </p:nvSpPr>
        <p:spPr>
          <a:xfrm>
            <a:off x="717068" y="3258450"/>
            <a:ext cx="1177800" cy="13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859"/>
              <a:buFont typeface="Arial"/>
              <a:buNone/>
            </a:pPr>
            <a:r>
              <a:rPr b="1" lang="en-GB" sz="859">
                <a:solidFill>
                  <a:srgbClr val="5E6A6F"/>
                </a:solidFill>
                <a:latin typeface="Lato"/>
                <a:ea typeface="Lato"/>
                <a:cs typeface="Lato"/>
                <a:sym typeface="Lato"/>
              </a:rPr>
              <a:t>Gradient </a:t>
            </a:r>
            <a:r>
              <a:rPr b="1" i="0" lang="en-GB" sz="859" u="none" cap="none" strike="noStrike">
                <a:solidFill>
                  <a:srgbClr val="5E6A6F"/>
                </a:solidFill>
                <a:latin typeface="Lato"/>
                <a:ea typeface="Lato"/>
                <a:cs typeface="Lato"/>
                <a:sym typeface="Lato"/>
              </a:rPr>
              <a:t>Magnitude:</a:t>
            </a:r>
            <a:endParaRPr i="0" sz="859" u="none" cap="none" strike="noStrike">
              <a:solidFill>
                <a:schemeClr val="dk1"/>
              </a:solidFill>
              <a:latin typeface="Lato"/>
              <a:ea typeface="Lato"/>
              <a:cs typeface="Lato"/>
              <a:sym typeface="Lato"/>
            </a:endParaRPr>
          </a:p>
        </p:txBody>
      </p:sp>
      <p:sp>
        <p:nvSpPr>
          <p:cNvPr id="315" name="Google Shape;315;p25"/>
          <p:cNvSpPr/>
          <p:nvPr/>
        </p:nvSpPr>
        <p:spPr>
          <a:xfrm>
            <a:off x="690301" y="3456526"/>
            <a:ext cx="1151100" cy="348000"/>
          </a:xfrm>
          <a:prstGeom prst="roundRect">
            <a:avLst>
              <a:gd fmla="val 18462" name="adj"/>
            </a:avLst>
          </a:prstGeom>
          <a:solidFill>
            <a:srgbClr val="FFFFFF"/>
          </a:solidFill>
          <a:ln cap="flat" cmpd="sng" w="16850">
            <a:solidFill>
              <a:srgbClr val="000000"/>
            </a:solidFill>
            <a:prstDash val="solid"/>
            <a:round/>
            <a:headEnd len="sm" w="sm" type="none"/>
            <a:tailEnd len="sm" w="sm" type="none"/>
          </a:ln>
          <a:effectLst>
            <a:outerShdw blurRad="19827" rotWithShape="0" algn="bl" dir="2700000" dist="39655">
              <a:srgbClr val="999999">
                <a:alpha val="25099"/>
              </a:srgbClr>
            </a:outerShdw>
          </a:effectLst>
        </p:spPr>
        <p:txBody>
          <a:bodyPr anchorCtr="0" anchor="ctr" bIns="53525" lIns="53525" spcFirstLastPara="1" rIns="53525" wrap="square" tIns="53525">
            <a:noAutofit/>
          </a:bodyPr>
          <a:lstStyle/>
          <a:p>
            <a:pPr indent="0" lvl="0" marL="0" rtl="0" algn="l">
              <a:spcBef>
                <a:spcPts val="0"/>
              </a:spcBef>
              <a:spcAft>
                <a:spcPts val="0"/>
              </a:spcAft>
              <a:buNone/>
            </a:pPr>
            <a:r>
              <a:t/>
            </a:r>
            <a:endParaRPr sz="1093">
              <a:latin typeface="Lato"/>
              <a:ea typeface="Lato"/>
              <a:cs typeface="Lato"/>
              <a:sym typeface="Lato"/>
            </a:endParaRPr>
          </a:p>
        </p:txBody>
      </p:sp>
      <p:sp>
        <p:nvSpPr>
          <p:cNvPr id="316" name="Google Shape;316;p25"/>
          <p:cNvSpPr/>
          <p:nvPr/>
        </p:nvSpPr>
        <p:spPr>
          <a:xfrm>
            <a:off x="754543" y="3499353"/>
            <a:ext cx="1022400" cy="262200"/>
          </a:xfrm>
          <a:prstGeom prst="rect">
            <a:avLst/>
          </a:prstGeom>
          <a:noFill/>
          <a:ln>
            <a:noFill/>
          </a:ln>
        </p:spPr>
        <p:txBody>
          <a:bodyPr anchorCtr="0" anchor="ctr" bIns="150" lIns="150" spcFirstLastPara="1" rIns="150" wrap="square" tIns="150">
            <a:noAutofit/>
          </a:bodyPr>
          <a:lstStyle/>
          <a:p>
            <a:pPr indent="0" lvl="0" marL="0" marR="0" rtl="0" algn="ctr">
              <a:spcBef>
                <a:spcPts val="0"/>
              </a:spcBef>
              <a:spcAft>
                <a:spcPts val="0"/>
              </a:spcAft>
              <a:buClr>
                <a:srgbClr val="000000"/>
              </a:buClr>
              <a:buSzPts val="937"/>
              <a:buFont typeface="Arial"/>
              <a:buNone/>
            </a:pPr>
            <a:r>
              <a:rPr b="1" lang="en-GB" sz="937">
                <a:latin typeface="Lato"/>
                <a:ea typeface="Lato"/>
                <a:cs typeface="Lato"/>
                <a:sym typeface="Lato"/>
              </a:rPr>
              <a:t>√</a:t>
            </a:r>
            <a:r>
              <a:rPr b="1" i="0" lang="en-GB" sz="937" u="none" cap="none" strike="noStrike">
                <a:solidFill>
                  <a:srgbClr val="000000"/>
                </a:solidFill>
                <a:latin typeface="Lato"/>
                <a:ea typeface="Lato"/>
                <a:cs typeface="Lato"/>
                <a:sym typeface="Lato"/>
              </a:rPr>
              <a:t>(Gx² + Gy²)</a:t>
            </a:r>
            <a:endParaRPr i="0" sz="937" u="none" cap="none" strike="noStrike">
              <a:solidFill>
                <a:schemeClr val="dk1"/>
              </a:solidFill>
              <a:latin typeface="Lato"/>
              <a:ea typeface="Lato"/>
              <a:cs typeface="Lato"/>
              <a:sym typeface="Lato"/>
            </a:endParaRPr>
          </a:p>
        </p:txBody>
      </p:sp>
      <p:sp>
        <p:nvSpPr>
          <p:cNvPr id="317" name="Google Shape;317;p25"/>
          <p:cNvSpPr/>
          <p:nvPr/>
        </p:nvSpPr>
        <p:spPr>
          <a:xfrm>
            <a:off x="2216053" y="3258450"/>
            <a:ext cx="856500" cy="13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859"/>
              <a:buFont typeface="Arial"/>
              <a:buNone/>
            </a:pPr>
            <a:r>
              <a:rPr b="1" lang="en-GB" sz="859">
                <a:solidFill>
                  <a:srgbClr val="5E6A6F"/>
                </a:solidFill>
                <a:latin typeface="Lato"/>
                <a:ea typeface="Lato"/>
                <a:cs typeface="Lato"/>
                <a:sym typeface="Lato"/>
              </a:rPr>
              <a:t>Edge </a:t>
            </a:r>
            <a:r>
              <a:rPr b="1" i="0" lang="en-GB" sz="859" u="none" cap="none" strike="noStrike">
                <a:solidFill>
                  <a:srgbClr val="5E6A6F"/>
                </a:solidFill>
                <a:latin typeface="Lato"/>
                <a:ea typeface="Lato"/>
                <a:cs typeface="Lato"/>
                <a:sym typeface="Lato"/>
              </a:rPr>
              <a:t>Direction:</a:t>
            </a:r>
            <a:endParaRPr i="0" sz="859" u="none" cap="none" strike="noStrike">
              <a:solidFill>
                <a:schemeClr val="dk1"/>
              </a:solidFill>
              <a:latin typeface="Lato"/>
              <a:ea typeface="Lato"/>
              <a:cs typeface="Lato"/>
              <a:sym typeface="Lato"/>
            </a:endParaRPr>
          </a:p>
        </p:txBody>
      </p:sp>
      <p:sp>
        <p:nvSpPr>
          <p:cNvPr id="318" name="Google Shape;318;p25"/>
          <p:cNvSpPr/>
          <p:nvPr/>
        </p:nvSpPr>
        <p:spPr>
          <a:xfrm>
            <a:off x="2108983" y="3456526"/>
            <a:ext cx="1204500" cy="348000"/>
          </a:xfrm>
          <a:prstGeom prst="roundRect">
            <a:avLst>
              <a:gd fmla="val 18462" name="adj"/>
            </a:avLst>
          </a:prstGeom>
          <a:solidFill>
            <a:srgbClr val="F65B60"/>
          </a:solidFill>
          <a:ln cap="flat" cmpd="sng" w="16850">
            <a:solidFill>
              <a:srgbClr val="000000"/>
            </a:solidFill>
            <a:prstDash val="solid"/>
            <a:round/>
            <a:headEnd len="sm" w="sm" type="none"/>
            <a:tailEnd len="sm" w="sm" type="none"/>
          </a:ln>
          <a:effectLst>
            <a:outerShdw blurRad="19827" rotWithShape="0" algn="bl" dir="2700000" dist="39655">
              <a:srgbClr val="999999">
                <a:alpha val="25099"/>
              </a:srgbClr>
            </a:outerShdw>
          </a:effectLst>
        </p:spPr>
        <p:txBody>
          <a:bodyPr anchorCtr="0" anchor="ctr" bIns="53525" lIns="53525" spcFirstLastPara="1" rIns="53525" wrap="square" tIns="53525">
            <a:noAutofit/>
          </a:bodyPr>
          <a:lstStyle/>
          <a:p>
            <a:pPr indent="0" lvl="0" marL="0" rtl="0" algn="l">
              <a:spcBef>
                <a:spcPts val="0"/>
              </a:spcBef>
              <a:spcAft>
                <a:spcPts val="0"/>
              </a:spcAft>
              <a:buNone/>
            </a:pPr>
            <a:r>
              <a:t/>
            </a:r>
            <a:endParaRPr sz="1093">
              <a:latin typeface="Lato"/>
              <a:ea typeface="Lato"/>
              <a:cs typeface="Lato"/>
              <a:sym typeface="Lato"/>
            </a:endParaRPr>
          </a:p>
        </p:txBody>
      </p:sp>
      <p:sp>
        <p:nvSpPr>
          <p:cNvPr id="319" name="Google Shape;319;p25"/>
          <p:cNvSpPr/>
          <p:nvPr/>
        </p:nvSpPr>
        <p:spPr>
          <a:xfrm>
            <a:off x="2173225" y="3499353"/>
            <a:ext cx="1076100" cy="262200"/>
          </a:xfrm>
          <a:prstGeom prst="rect">
            <a:avLst/>
          </a:prstGeom>
          <a:noFill/>
          <a:ln>
            <a:noFill/>
          </a:ln>
        </p:spPr>
        <p:txBody>
          <a:bodyPr anchorCtr="0" anchor="ctr" bIns="150" lIns="150" spcFirstLastPara="1" rIns="150" wrap="square" tIns="150">
            <a:noAutofit/>
          </a:bodyPr>
          <a:lstStyle/>
          <a:p>
            <a:pPr indent="0" lvl="0" marL="0" marR="0" rtl="0" algn="ctr">
              <a:spcBef>
                <a:spcPts val="0"/>
              </a:spcBef>
              <a:spcAft>
                <a:spcPts val="0"/>
              </a:spcAft>
              <a:buClr>
                <a:srgbClr val="000000"/>
              </a:buClr>
              <a:buSzPts val="859"/>
              <a:buFont typeface="Arial"/>
              <a:buNone/>
            </a:pPr>
            <a:r>
              <a:rPr b="1" i="0" lang="en-GB" sz="859" u="none" cap="none" strike="noStrike">
                <a:solidFill>
                  <a:schemeClr val="lt1"/>
                </a:solidFill>
                <a:latin typeface="Lato"/>
                <a:ea typeface="Lato"/>
                <a:cs typeface="Lato"/>
                <a:sym typeface="Lato"/>
              </a:rPr>
              <a:t>tan⁻¹(Gy / Gx)</a:t>
            </a:r>
            <a:endParaRPr i="0" sz="859" u="none" cap="none" strike="noStrike">
              <a:solidFill>
                <a:schemeClr val="lt1"/>
              </a:solidFill>
              <a:latin typeface="Lato"/>
              <a:ea typeface="Lato"/>
              <a:cs typeface="Lato"/>
              <a:sym typeface="Lato"/>
            </a:endParaRPr>
          </a:p>
        </p:txBody>
      </p:sp>
      <p:sp>
        <p:nvSpPr>
          <p:cNvPr id="320" name="Google Shape;320;p25"/>
          <p:cNvSpPr txBox="1"/>
          <p:nvPr/>
        </p:nvSpPr>
        <p:spPr>
          <a:xfrm>
            <a:off x="581760" y="3837797"/>
            <a:ext cx="1368000" cy="288300"/>
          </a:xfrm>
          <a:prstGeom prst="rect">
            <a:avLst/>
          </a:prstGeom>
          <a:noFill/>
          <a:ln>
            <a:noFill/>
          </a:ln>
        </p:spPr>
        <p:txBody>
          <a:bodyPr anchorCtr="0" anchor="t" bIns="71375" lIns="71375" spcFirstLastPara="1" rIns="71375" wrap="square" tIns="71375">
            <a:spAutoFit/>
          </a:bodyPr>
          <a:lstStyle/>
          <a:p>
            <a:pPr indent="0" lvl="0" marL="0" rtl="0" algn="ctr">
              <a:spcBef>
                <a:spcPts val="0"/>
              </a:spcBef>
              <a:spcAft>
                <a:spcPts val="0"/>
              </a:spcAft>
              <a:buClr>
                <a:schemeClr val="dk1"/>
              </a:buClr>
              <a:buSzPts val="937"/>
              <a:buFont typeface="Arial"/>
              <a:buNone/>
            </a:pPr>
            <a:r>
              <a:rPr b="1" lang="en-GB" sz="937">
                <a:solidFill>
                  <a:schemeClr val="dk2"/>
                </a:solidFill>
                <a:latin typeface="Lato"/>
                <a:ea typeface="Lato"/>
                <a:cs typeface="Lato"/>
                <a:sym typeface="Lato"/>
              </a:rPr>
              <a:t>≈ [Gx] + [Gy]</a:t>
            </a:r>
            <a:endParaRPr sz="1093">
              <a:solidFill>
                <a:schemeClr val="dk2"/>
              </a:solidFill>
              <a:latin typeface="Lato"/>
              <a:ea typeface="Lato"/>
              <a:cs typeface="Lato"/>
              <a:sym typeface="Lato"/>
            </a:endParaRPr>
          </a:p>
        </p:txBody>
      </p:sp>
      <p:sp>
        <p:nvSpPr>
          <p:cNvPr id="321" name="Google Shape;321;p25"/>
          <p:cNvSpPr/>
          <p:nvPr/>
        </p:nvSpPr>
        <p:spPr>
          <a:xfrm>
            <a:off x="5325900" y="1906700"/>
            <a:ext cx="1468500" cy="23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382"/>
              <a:buFont typeface="Arial"/>
              <a:buNone/>
            </a:pPr>
            <a:r>
              <a:rPr b="1" i="0" lang="en-GB" sz="1382" u="none" cap="none" strike="noStrike">
                <a:solidFill>
                  <a:srgbClr val="202020"/>
                </a:solidFill>
                <a:latin typeface="Lato"/>
                <a:ea typeface="Lato"/>
                <a:cs typeface="Lato"/>
                <a:sym typeface="Lato"/>
              </a:rPr>
              <a:t>Gx</a:t>
            </a:r>
            <a:endParaRPr i="0" sz="1382" u="none" cap="none" strike="noStrike">
              <a:solidFill>
                <a:schemeClr val="dk1"/>
              </a:solidFill>
              <a:latin typeface="Lato"/>
              <a:ea typeface="Lato"/>
              <a:cs typeface="Lato"/>
              <a:sym typeface="Lato"/>
            </a:endParaRPr>
          </a:p>
        </p:txBody>
      </p:sp>
      <p:sp>
        <p:nvSpPr>
          <p:cNvPr id="322" name="Google Shape;322;p25"/>
          <p:cNvSpPr/>
          <p:nvPr/>
        </p:nvSpPr>
        <p:spPr>
          <a:xfrm>
            <a:off x="5325900" y="2209895"/>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23" name="Google Shape;323;p25"/>
          <p:cNvSpPr/>
          <p:nvPr/>
        </p:nvSpPr>
        <p:spPr>
          <a:xfrm>
            <a:off x="5325900" y="2219369"/>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24" name="Google Shape;324;p25"/>
          <p:cNvSpPr/>
          <p:nvPr/>
        </p:nvSpPr>
        <p:spPr>
          <a:xfrm>
            <a:off x="5815452" y="2209895"/>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25" name="Google Shape;325;p25"/>
          <p:cNvSpPr/>
          <p:nvPr/>
        </p:nvSpPr>
        <p:spPr>
          <a:xfrm>
            <a:off x="5815452" y="2219369"/>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0</a:t>
            </a:r>
            <a:endParaRPr i="0" sz="1243" u="none" cap="none" strike="noStrike">
              <a:solidFill>
                <a:schemeClr val="dk1"/>
              </a:solidFill>
              <a:latin typeface="Lato"/>
              <a:ea typeface="Lato"/>
              <a:cs typeface="Lato"/>
              <a:sym typeface="Lato"/>
            </a:endParaRPr>
          </a:p>
        </p:txBody>
      </p:sp>
      <p:sp>
        <p:nvSpPr>
          <p:cNvPr id="326" name="Google Shape;326;p25"/>
          <p:cNvSpPr/>
          <p:nvPr/>
        </p:nvSpPr>
        <p:spPr>
          <a:xfrm>
            <a:off x="6305004" y="2209895"/>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27" name="Google Shape;327;p25"/>
          <p:cNvSpPr/>
          <p:nvPr/>
        </p:nvSpPr>
        <p:spPr>
          <a:xfrm>
            <a:off x="6305004" y="2219369"/>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28" name="Google Shape;328;p25"/>
          <p:cNvSpPr/>
          <p:nvPr/>
        </p:nvSpPr>
        <p:spPr>
          <a:xfrm>
            <a:off x="5325900" y="2573096"/>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29" name="Google Shape;329;p25"/>
          <p:cNvSpPr/>
          <p:nvPr/>
        </p:nvSpPr>
        <p:spPr>
          <a:xfrm>
            <a:off x="5325900" y="2582571"/>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lang="en-GB" sz="1243">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30" name="Google Shape;330;p25"/>
          <p:cNvSpPr/>
          <p:nvPr/>
        </p:nvSpPr>
        <p:spPr>
          <a:xfrm>
            <a:off x="5815452" y="2573096"/>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31" name="Google Shape;331;p25"/>
          <p:cNvSpPr/>
          <p:nvPr/>
        </p:nvSpPr>
        <p:spPr>
          <a:xfrm>
            <a:off x="5815452" y="2582571"/>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0</a:t>
            </a:r>
            <a:endParaRPr i="0" sz="1243" u="none" cap="none" strike="noStrike">
              <a:solidFill>
                <a:schemeClr val="dk1"/>
              </a:solidFill>
              <a:latin typeface="Lato"/>
              <a:ea typeface="Lato"/>
              <a:cs typeface="Lato"/>
              <a:sym typeface="Lato"/>
            </a:endParaRPr>
          </a:p>
        </p:txBody>
      </p:sp>
      <p:sp>
        <p:nvSpPr>
          <p:cNvPr id="332" name="Google Shape;332;p25"/>
          <p:cNvSpPr/>
          <p:nvPr/>
        </p:nvSpPr>
        <p:spPr>
          <a:xfrm>
            <a:off x="6305004" y="2573096"/>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33" name="Google Shape;333;p25"/>
          <p:cNvSpPr/>
          <p:nvPr/>
        </p:nvSpPr>
        <p:spPr>
          <a:xfrm>
            <a:off x="6305004" y="2582571"/>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lang="en-GB" sz="1243">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34" name="Google Shape;334;p25"/>
          <p:cNvSpPr/>
          <p:nvPr/>
        </p:nvSpPr>
        <p:spPr>
          <a:xfrm>
            <a:off x="5325900" y="2936298"/>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35" name="Google Shape;335;p25"/>
          <p:cNvSpPr/>
          <p:nvPr/>
        </p:nvSpPr>
        <p:spPr>
          <a:xfrm>
            <a:off x="5325900" y="2945772"/>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36" name="Google Shape;336;p25"/>
          <p:cNvSpPr/>
          <p:nvPr/>
        </p:nvSpPr>
        <p:spPr>
          <a:xfrm>
            <a:off x="5815452" y="2936298"/>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37" name="Google Shape;337;p25"/>
          <p:cNvSpPr/>
          <p:nvPr/>
        </p:nvSpPr>
        <p:spPr>
          <a:xfrm>
            <a:off x="5815452" y="2945772"/>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0</a:t>
            </a:r>
            <a:endParaRPr i="0" sz="1243" u="none" cap="none" strike="noStrike">
              <a:solidFill>
                <a:schemeClr val="dk1"/>
              </a:solidFill>
              <a:latin typeface="Lato"/>
              <a:ea typeface="Lato"/>
              <a:cs typeface="Lato"/>
              <a:sym typeface="Lato"/>
            </a:endParaRPr>
          </a:p>
        </p:txBody>
      </p:sp>
      <p:sp>
        <p:nvSpPr>
          <p:cNvPr id="338" name="Google Shape;338;p25"/>
          <p:cNvSpPr/>
          <p:nvPr/>
        </p:nvSpPr>
        <p:spPr>
          <a:xfrm>
            <a:off x="6305004" y="2936298"/>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39" name="Google Shape;339;p25"/>
          <p:cNvSpPr/>
          <p:nvPr/>
        </p:nvSpPr>
        <p:spPr>
          <a:xfrm>
            <a:off x="6305004" y="2945772"/>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40" name="Google Shape;340;p25"/>
          <p:cNvSpPr/>
          <p:nvPr/>
        </p:nvSpPr>
        <p:spPr>
          <a:xfrm>
            <a:off x="7284099" y="1906700"/>
            <a:ext cx="1468500" cy="23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382"/>
              <a:buFont typeface="Arial"/>
              <a:buNone/>
            </a:pPr>
            <a:r>
              <a:rPr b="1" i="0" lang="en-GB" sz="1382" u="none" cap="none" strike="noStrike">
                <a:solidFill>
                  <a:srgbClr val="202020"/>
                </a:solidFill>
                <a:latin typeface="Lato"/>
                <a:ea typeface="Lato"/>
                <a:cs typeface="Lato"/>
                <a:sym typeface="Lato"/>
              </a:rPr>
              <a:t>Gy</a:t>
            </a:r>
            <a:endParaRPr i="0" sz="1382" u="none" cap="none" strike="noStrike">
              <a:solidFill>
                <a:schemeClr val="dk1"/>
              </a:solidFill>
              <a:latin typeface="Lato"/>
              <a:ea typeface="Lato"/>
              <a:cs typeface="Lato"/>
              <a:sym typeface="Lato"/>
            </a:endParaRPr>
          </a:p>
        </p:txBody>
      </p:sp>
      <p:sp>
        <p:nvSpPr>
          <p:cNvPr id="341" name="Google Shape;341;p25"/>
          <p:cNvSpPr/>
          <p:nvPr/>
        </p:nvSpPr>
        <p:spPr>
          <a:xfrm>
            <a:off x="7284099" y="2209895"/>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42" name="Google Shape;342;p25"/>
          <p:cNvSpPr/>
          <p:nvPr/>
        </p:nvSpPr>
        <p:spPr>
          <a:xfrm>
            <a:off x="7284099" y="2219369"/>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43" name="Google Shape;343;p25"/>
          <p:cNvSpPr/>
          <p:nvPr/>
        </p:nvSpPr>
        <p:spPr>
          <a:xfrm>
            <a:off x="7773651" y="2209895"/>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44" name="Google Shape;344;p25"/>
          <p:cNvSpPr/>
          <p:nvPr/>
        </p:nvSpPr>
        <p:spPr>
          <a:xfrm>
            <a:off x="7773651" y="2219369"/>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lang="en-GB" sz="1243">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45" name="Google Shape;345;p25"/>
          <p:cNvSpPr/>
          <p:nvPr/>
        </p:nvSpPr>
        <p:spPr>
          <a:xfrm>
            <a:off x="8263202" y="2209895"/>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46" name="Google Shape;346;p25"/>
          <p:cNvSpPr/>
          <p:nvPr/>
        </p:nvSpPr>
        <p:spPr>
          <a:xfrm>
            <a:off x="8263202" y="2219369"/>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47" name="Google Shape;347;p25"/>
          <p:cNvSpPr/>
          <p:nvPr/>
        </p:nvSpPr>
        <p:spPr>
          <a:xfrm>
            <a:off x="7284099" y="2573096"/>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48" name="Google Shape;348;p25"/>
          <p:cNvSpPr/>
          <p:nvPr/>
        </p:nvSpPr>
        <p:spPr>
          <a:xfrm>
            <a:off x="7284099" y="2582571"/>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0</a:t>
            </a:r>
            <a:endParaRPr i="0" sz="1243" u="none" cap="none" strike="noStrike">
              <a:solidFill>
                <a:schemeClr val="dk1"/>
              </a:solidFill>
              <a:latin typeface="Lato"/>
              <a:ea typeface="Lato"/>
              <a:cs typeface="Lato"/>
              <a:sym typeface="Lato"/>
            </a:endParaRPr>
          </a:p>
        </p:txBody>
      </p:sp>
      <p:sp>
        <p:nvSpPr>
          <p:cNvPr id="349" name="Google Shape;349;p25"/>
          <p:cNvSpPr/>
          <p:nvPr/>
        </p:nvSpPr>
        <p:spPr>
          <a:xfrm>
            <a:off x="7773651" y="2573096"/>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50" name="Google Shape;350;p25"/>
          <p:cNvSpPr/>
          <p:nvPr/>
        </p:nvSpPr>
        <p:spPr>
          <a:xfrm>
            <a:off x="7773651" y="2582571"/>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0</a:t>
            </a:r>
            <a:endParaRPr i="0" sz="1243" u="none" cap="none" strike="noStrike">
              <a:solidFill>
                <a:schemeClr val="dk1"/>
              </a:solidFill>
              <a:latin typeface="Lato"/>
              <a:ea typeface="Lato"/>
              <a:cs typeface="Lato"/>
              <a:sym typeface="Lato"/>
            </a:endParaRPr>
          </a:p>
        </p:txBody>
      </p:sp>
      <p:sp>
        <p:nvSpPr>
          <p:cNvPr id="351" name="Google Shape;351;p25"/>
          <p:cNvSpPr/>
          <p:nvPr/>
        </p:nvSpPr>
        <p:spPr>
          <a:xfrm>
            <a:off x="8263202" y="2573096"/>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52" name="Google Shape;352;p25"/>
          <p:cNvSpPr/>
          <p:nvPr/>
        </p:nvSpPr>
        <p:spPr>
          <a:xfrm>
            <a:off x="8263202" y="2582571"/>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0</a:t>
            </a:r>
            <a:endParaRPr i="0" sz="1243" u="none" cap="none" strike="noStrike">
              <a:solidFill>
                <a:schemeClr val="dk1"/>
              </a:solidFill>
              <a:latin typeface="Lato"/>
              <a:ea typeface="Lato"/>
              <a:cs typeface="Lato"/>
              <a:sym typeface="Lato"/>
            </a:endParaRPr>
          </a:p>
        </p:txBody>
      </p:sp>
      <p:sp>
        <p:nvSpPr>
          <p:cNvPr id="353" name="Google Shape;353;p25"/>
          <p:cNvSpPr/>
          <p:nvPr/>
        </p:nvSpPr>
        <p:spPr>
          <a:xfrm>
            <a:off x="7284099" y="2936298"/>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54" name="Google Shape;354;p25"/>
          <p:cNvSpPr/>
          <p:nvPr/>
        </p:nvSpPr>
        <p:spPr>
          <a:xfrm>
            <a:off x="7284099" y="2945772"/>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55" name="Google Shape;355;p25"/>
          <p:cNvSpPr/>
          <p:nvPr/>
        </p:nvSpPr>
        <p:spPr>
          <a:xfrm>
            <a:off x="7773651" y="2936298"/>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56" name="Google Shape;356;p25"/>
          <p:cNvSpPr/>
          <p:nvPr/>
        </p:nvSpPr>
        <p:spPr>
          <a:xfrm>
            <a:off x="7773651" y="2945772"/>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lang="en-GB" sz="1243">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57" name="Google Shape;357;p25"/>
          <p:cNvSpPr/>
          <p:nvPr/>
        </p:nvSpPr>
        <p:spPr>
          <a:xfrm>
            <a:off x="8263202" y="2936298"/>
            <a:ext cx="489600" cy="363000"/>
          </a:xfrm>
          <a:prstGeom prst="rect">
            <a:avLst/>
          </a:prstGeom>
          <a:solidFill>
            <a:srgbClr val="FFFFFF"/>
          </a:solidFill>
          <a:ln cap="flat" cmpd="sng" w="13150">
            <a:solidFill>
              <a:srgbClr val="777777"/>
            </a:solidFill>
            <a:prstDash val="solid"/>
            <a:round/>
            <a:headEnd len="sm" w="sm" type="none"/>
            <a:tailEnd len="sm" w="sm" type="none"/>
          </a:ln>
        </p:spPr>
        <p:txBody>
          <a:bodyPr anchorCtr="0" anchor="ctr" bIns="94725" lIns="94725" spcFirstLastPara="1" rIns="94725" wrap="square" tIns="94725">
            <a:noAutofit/>
          </a:bodyPr>
          <a:lstStyle/>
          <a:p>
            <a:pPr indent="0" lvl="0" marL="0" rtl="0" algn="l">
              <a:spcBef>
                <a:spcPts val="0"/>
              </a:spcBef>
              <a:spcAft>
                <a:spcPts val="0"/>
              </a:spcAft>
              <a:buNone/>
            </a:pPr>
            <a:r>
              <a:t/>
            </a:r>
            <a:endParaRPr sz="1934">
              <a:latin typeface="Lato"/>
              <a:ea typeface="Lato"/>
              <a:cs typeface="Lato"/>
              <a:sym typeface="Lato"/>
            </a:endParaRPr>
          </a:p>
        </p:txBody>
      </p:sp>
      <p:sp>
        <p:nvSpPr>
          <p:cNvPr id="358" name="Google Shape;358;p25"/>
          <p:cNvSpPr/>
          <p:nvPr/>
        </p:nvSpPr>
        <p:spPr>
          <a:xfrm>
            <a:off x="8263202" y="2945772"/>
            <a:ext cx="489600" cy="34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243"/>
              <a:buFont typeface="Arial"/>
              <a:buNone/>
            </a:pPr>
            <a:r>
              <a:rPr i="0" lang="en-GB" sz="1243" u="none" cap="none" strike="noStrike">
                <a:solidFill>
                  <a:srgbClr val="202020"/>
                </a:solidFill>
                <a:latin typeface="Lato"/>
                <a:ea typeface="Lato"/>
                <a:cs typeface="Lato"/>
                <a:sym typeface="Lato"/>
              </a:rPr>
              <a:t>-1</a:t>
            </a:r>
            <a:endParaRPr i="0" sz="1243" u="none" cap="none" strike="noStrike">
              <a:solidFill>
                <a:schemeClr val="dk1"/>
              </a:solidFill>
              <a:latin typeface="Lato"/>
              <a:ea typeface="Lato"/>
              <a:cs typeface="Lato"/>
              <a:sym typeface="Lato"/>
            </a:endParaRPr>
          </a:p>
        </p:txBody>
      </p:sp>
      <p:sp>
        <p:nvSpPr>
          <p:cNvPr id="359" name="Google Shape;359;p25"/>
          <p:cNvSpPr txBox="1"/>
          <p:nvPr/>
        </p:nvSpPr>
        <p:spPr>
          <a:xfrm>
            <a:off x="5325900" y="1189038"/>
            <a:ext cx="3459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GB" sz="1600">
                <a:solidFill>
                  <a:srgbClr val="5E6A6F"/>
                </a:solidFill>
                <a:latin typeface="Lato"/>
                <a:ea typeface="Lato"/>
                <a:cs typeface="Lato"/>
                <a:sym typeface="Lato"/>
              </a:rPr>
              <a:t>Uniform weights across the kernel:</a:t>
            </a:r>
            <a:endParaRPr b="1" sz="1700">
              <a:solidFill>
                <a:srgbClr val="5E6A6F"/>
              </a:solidFill>
            </a:endParaRPr>
          </a:p>
        </p:txBody>
      </p:sp>
      <p:sp>
        <p:nvSpPr>
          <p:cNvPr id="360" name="Google Shape;360;p25"/>
          <p:cNvSpPr txBox="1"/>
          <p:nvPr/>
        </p:nvSpPr>
        <p:spPr>
          <a:xfrm>
            <a:off x="5077800" y="3725063"/>
            <a:ext cx="395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Lato"/>
                <a:ea typeface="Lato"/>
                <a:cs typeface="Lato"/>
                <a:sym typeface="Lato"/>
              </a:rPr>
              <a:t>All kernel values are equally weighted, so Prewitt is an average-gradient detector rather than a smoothed one.</a:t>
            </a:r>
            <a:endParaRPr sz="1200">
              <a:solidFill>
                <a:schemeClr val="dk2"/>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26"/>
          <p:cNvSpPr/>
          <p:nvPr/>
        </p:nvSpPr>
        <p:spPr>
          <a:xfrm>
            <a:off x="246094" y="241938"/>
            <a:ext cx="8572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lang="en-GB" sz="2000">
                <a:solidFill>
                  <a:srgbClr val="F65B60"/>
                </a:solidFill>
                <a:latin typeface="Georgia"/>
                <a:ea typeface="Georgia"/>
                <a:cs typeface="Georgia"/>
                <a:sym typeface="Georgia"/>
              </a:rPr>
              <a:t>Prewitt</a:t>
            </a:r>
            <a:r>
              <a:rPr b="1" i="0" lang="en-GB" sz="2000" u="none" cap="none" strike="noStrike">
                <a:solidFill>
                  <a:srgbClr val="F65B60"/>
                </a:solidFill>
                <a:latin typeface="Georgia"/>
                <a:ea typeface="Georgia"/>
                <a:cs typeface="Georgia"/>
                <a:sym typeface="Georgia"/>
              </a:rPr>
              <a:t>: Worked </a:t>
            </a:r>
            <a:r>
              <a:rPr b="1" lang="en-GB" sz="2000">
                <a:solidFill>
                  <a:srgbClr val="F65B60"/>
                </a:solidFill>
                <a:latin typeface="Georgia"/>
                <a:ea typeface="Georgia"/>
                <a:cs typeface="Georgia"/>
                <a:sym typeface="Georgia"/>
              </a:rPr>
              <a:t>E</a:t>
            </a:r>
            <a:r>
              <a:rPr b="1" i="0" lang="en-GB" sz="2000" u="none" cap="none" strike="noStrike">
                <a:solidFill>
                  <a:srgbClr val="F65B60"/>
                </a:solidFill>
                <a:latin typeface="Georgia"/>
                <a:ea typeface="Georgia"/>
                <a:cs typeface="Georgia"/>
                <a:sym typeface="Georgia"/>
              </a:rPr>
              <a:t>xample</a:t>
            </a:r>
            <a:endParaRPr b="0" i="0" sz="2000" u="none" cap="none" strike="noStrike">
              <a:solidFill>
                <a:schemeClr val="dk1"/>
              </a:solidFill>
              <a:latin typeface="Arial"/>
              <a:ea typeface="Arial"/>
              <a:cs typeface="Arial"/>
              <a:sym typeface="Arial"/>
            </a:endParaRPr>
          </a:p>
        </p:txBody>
      </p:sp>
      <p:sp>
        <p:nvSpPr>
          <p:cNvPr id="367" name="Google Shape;367;p26"/>
          <p:cNvSpPr/>
          <p:nvPr/>
        </p:nvSpPr>
        <p:spPr>
          <a:xfrm>
            <a:off x="612012" y="1552175"/>
            <a:ext cx="1439400" cy="17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030"/>
              <a:buFont typeface="Arial"/>
              <a:buNone/>
            </a:pPr>
            <a:r>
              <a:rPr b="1" i="0" lang="en-GB" sz="1030" u="none" cap="none" strike="noStrike">
                <a:solidFill>
                  <a:srgbClr val="202020"/>
                </a:solidFill>
                <a:latin typeface="Lato"/>
                <a:ea typeface="Lato"/>
                <a:cs typeface="Lato"/>
                <a:sym typeface="Lato"/>
              </a:rPr>
              <a:t>3×3 image patch</a:t>
            </a:r>
            <a:endParaRPr i="0" sz="1030" u="none" cap="none" strike="noStrike">
              <a:solidFill>
                <a:schemeClr val="dk1"/>
              </a:solidFill>
              <a:latin typeface="Lato"/>
              <a:ea typeface="Lato"/>
              <a:cs typeface="Lato"/>
              <a:sym typeface="Lato"/>
            </a:endParaRPr>
          </a:p>
        </p:txBody>
      </p:sp>
      <p:sp>
        <p:nvSpPr>
          <p:cNvPr id="368" name="Google Shape;368;p26"/>
          <p:cNvSpPr/>
          <p:nvPr/>
        </p:nvSpPr>
        <p:spPr>
          <a:xfrm>
            <a:off x="612012" y="1778125"/>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69" name="Google Shape;369;p26"/>
          <p:cNvSpPr/>
          <p:nvPr/>
        </p:nvSpPr>
        <p:spPr>
          <a:xfrm>
            <a:off x="612012" y="1785186"/>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10</a:t>
            </a:r>
            <a:endParaRPr i="0" sz="927" u="none" cap="none" strike="noStrike">
              <a:solidFill>
                <a:schemeClr val="dk1"/>
              </a:solidFill>
              <a:latin typeface="Lato"/>
              <a:ea typeface="Lato"/>
              <a:cs typeface="Lato"/>
              <a:sym typeface="Lato"/>
            </a:endParaRPr>
          </a:p>
        </p:txBody>
      </p:sp>
      <p:sp>
        <p:nvSpPr>
          <p:cNvPr id="370" name="Google Shape;370;p26"/>
          <p:cNvSpPr/>
          <p:nvPr/>
        </p:nvSpPr>
        <p:spPr>
          <a:xfrm>
            <a:off x="1091838" y="1778125"/>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71" name="Google Shape;371;p26"/>
          <p:cNvSpPr/>
          <p:nvPr/>
        </p:nvSpPr>
        <p:spPr>
          <a:xfrm>
            <a:off x="1091838" y="1785186"/>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72" name="Google Shape;372;p26"/>
          <p:cNvSpPr/>
          <p:nvPr/>
        </p:nvSpPr>
        <p:spPr>
          <a:xfrm>
            <a:off x="1571664" y="1778125"/>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73" name="Google Shape;373;p26"/>
          <p:cNvSpPr/>
          <p:nvPr/>
        </p:nvSpPr>
        <p:spPr>
          <a:xfrm>
            <a:off x="1571664" y="1785186"/>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74" name="Google Shape;374;p26"/>
          <p:cNvSpPr/>
          <p:nvPr/>
        </p:nvSpPr>
        <p:spPr>
          <a:xfrm>
            <a:off x="612012" y="2072330"/>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75" name="Google Shape;375;p26"/>
          <p:cNvSpPr/>
          <p:nvPr/>
        </p:nvSpPr>
        <p:spPr>
          <a:xfrm>
            <a:off x="612012" y="2079391"/>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1</a:t>
            </a: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76" name="Google Shape;376;p26"/>
          <p:cNvSpPr/>
          <p:nvPr/>
        </p:nvSpPr>
        <p:spPr>
          <a:xfrm>
            <a:off x="1091838" y="2072330"/>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77" name="Google Shape;377;p26"/>
          <p:cNvSpPr/>
          <p:nvPr/>
        </p:nvSpPr>
        <p:spPr>
          <a:xfrm>
            <a:off x="1091838" y="2079391"/>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78" name="Google Shape;378;p26"/>
          <p:cNvSpPr/>
          <p:nvPr/>
        </p:nvSpPr>
        <p:spPr>
          <a:xfrm>
            <a:off x="1571664" y="2072330"/>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79" name="Google Shape;379;p26"/>
          <p:cNvSpPr/>
          <p:nvPr/>
        </p:nvSpPr>
        <p:spPr>
          <a:xfrm>
            <a:off x="1571664" y="2079391"/>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80" name="Google Shape;380;p26"/>
          <p:cNvSpPr/>
          <p:nvPr/>
        </p:nvSpPr>
        <p:spPr>
          <a:xfrm>
            <a:off x="612012" y="2366535"/>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81" name="Google Shape;381;p26"/>
          <p:cNvSpPr/>
          <p:nvPr/>
        </p:nvSpPr>
        <p:spPr>
          <a:xfrm>
            <a:off x="612012" y="2373596"/>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1</a:t>
            </a: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82" name="Google Shape;382;p26"/>
          <p:cNvSpPr/>
          <p:nvPr/>
        </p:nvSpPr>
        <p:spPr>
          <a:xfrm>
            <a:off x="1091838" y="2366535"/>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83" name="Google Shape;383;p26"/>
          <p:cNvSpPr/>
          <p:nvPr/>
        </p:nvSpPr>
        <p:spPr>
          <a:xfrm>
            <a:off x="1091838" y="2373596"/>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84" name="Google Shape;384;p26"/>
          <p:cNvSpPr/>
          <p:nvPr/>
        </p:nvSpPr>
        <p:spPr>
          <a:xfrm>
            <a:off x="1571664" y="2366535"/>
            <a:ext cx="479700" cy="294300"/>
          </a:xfrm>
          <a:prstGeom prst="rect">
            <a:avLst/>
          </a:prstGeom>
          <a:solidFill>
            <a:srgbClr val="F7F7F7"/>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85" name="Google Shape;385;p26"/>
          <p:cNvSpPr/>
          <p:nvPr/>
        </p:nvSpPr>
        <p:spPr>
          <a:xfrm>
            <a:off x="1571664" y="2373648"/>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86" name="Google Shape;386;p26"/>
          <p:cNvSpPr/>
          <p:nvPr/>
        </p:nvSpPr>
        <p:spPr>
          <a:xfrm>
            <a:off x="3118066" y="962375"/>
            <a:ext cx="1439400" cy="17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030"/>
              <a:buFont typeface="Arial"/>
              <a:buNone/>
            </a:pPr>
            <a:r>
              <a:rPr b="1" i="0" lang="en-GB" sz="1030" u="none" cap="none" strike="noStrike">
                <a:solidFill>
                  <a:srgbClr val="202020"/>
                </a:solidFill>
                <a:latin typeface="Lato"/>
                <a:ea typeface="Lato"/>
                <a:cs typeface="Lato"/>
                <a:sym typeface="Lato"/>
              </a:rPr>
              <a:t>Gy kernel</a:t>
            </a:r>
            <a:endParaRPr i="0" sz="1030" u="none" cap="none" strike="noStrike">
              <a:solidFill>
                <a:schemeClr val="dk1"/>
              </a:solidFill>
              <a:latin typeface="Lato"/>
              <a:ea typeface="Lato"/>
              <a:cs typeface="Lato"/>
              <a:sym typeface="Lato"/>
            </a:endParaRPr>
          </a:p>
        </p:txBody>
      </p:sp>
      <p:sp>
        <p:nvSpPr>
          <p:cNvPr id="387" name="Google Shape;387;p26"/>
          <p:cNvSpPr/>
          <p:nvPr/>
        </p:nvSpPr>
        <p:spPr>
          <a:xfrm>
            <a:off x="3118066" y="1188325"/>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88" name="Google Shape;388;p26"/>
          <p:cNvSpPr/>
          <p:nvPr/>
        </p:nvSpPr>
        <p:spPr>
          <a:xfrm>
            <a:off x="3118066" y="1195385"/>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389" name="Google Shape;389;p26"/>
          <p:cNvSpPr/>
          <p:nvPr/>
        </p:nvSpPr>
        <p:spPr>
          <a:xfrm>
            <a:off x="3597892" y="1188325"/>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90" name="Google Shape;390;p26"/>
          <p:cNvSpPr/>
          <p:nvPr/>
        </p:nvSpPr>
        <p:spPr>
          <a:xfrm>
            <a:off x="3597892" y="1195385"/>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391" name="Google Shape;391;p26"/>
          <p:cNvSpPr/>
          <p:nvPr/>
        </p:nvSpPr>
        <p:spPr>
          <a:xfrm>
            <a:off x="4077718" y="1188325"/>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92" name="Google Shape;392;p26"/>
          <p:cNvSpPr/>
          <p:nvPr/>
        </p:nvSpPr>
        <p:spPr>
          <a:xfrm>
            <a:off x="4077718" y="1195385"/>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393" name="Google Shape;393;p26"/>
          <p:cNvSpPr/>
          <p:nvPr/>
        </p:nvSpPr>
        <p:spPr>
          <a:xfrm>
            <a:off x="3118066" y="1482530"/>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94" name="Google Shape;394;p26"/>
          <p:cNvSpPr/>
          <p:nvPr/>
        </p:nvSpPr>
        <p:spPr>
          <a:xfrm>
            <a:off x="3118066" y="1489591"/>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95" name="Google Shape;395;p26"/>
          <p:cNvSpPr/>
          <p:nvPr/>
        </p:nvSpPr>
        <p:spPr>
          <a:xfrm>
            <a:off x="3597892" y="1482530"/>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96" name="Google Shape;396;p26"/>
          <p:cNvSpPr/>
          <p:nvPr/>
        </p:nvSpPr>
        <p:spPr>
          <a:xfrm>
            <a:off x="3597892" y="1489591"/>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97" name="Google Shape;397;p26"/>
          <p:cNvSpPr/>
          <p:nvPr/>
        </p:nvSpPr>
        <p:spPr>
          <a:xfrm>
            <a:off x="4077718" y="1482530"/>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398" name="Google Shape;398;p26"/>
          <p:cNvSpPr/>
          <p:nvPr/>
        </p:nvSpPr>
        <p:spPr>
          <a:xfrm>
            <a:off x="4077718" y="1489591"/>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399" name="Google Shape;399;p26"/>
          <p:cNvSpPr/>
          <p:nvPr/>
        </p:nvSpPr>
        <p:spPr>
          <a:xfrm>
            <a:off x="3118066" y="1776735"/>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00" name="Google Shape;400;p26"/>
          <p:cNvSpPr/>
          <p:nvPr/>
        </p:nvSpPr>
        <p:spPr>
          <a:xfrm>
            <a:off x="3118066" y="1783796"/>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01" name="Google Shape;401;p26"/>
          <p:cNvSpPr/>
          <p:nvPr/>
        </p:nvSpPr>
        <p:spPr>
          <a:xfrm>
            <a:off x="3597892" y="1776735"/>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02" name="Google Shape;402;p26"/>
          <p:cNvSpPr/>
          <p:nvPr/>
        </p:nvSpPr>
        <p:spPr>
          <a:xfrm>
            <a:off x="3597892" y="1783796"/>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03" name="Google Shape;403;p26"/>
          <p:cNvSpPr/>
          <p:nvPr/>
        </p:nvSpPr>
        <p:spPr>
          <a:xfrm>
            <a:off x="4077718" y="1776735"/>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04" name="Google Shape;404;p26"/>
          <p:cNvSpPr/>
          <p:nvPr/>
        </p:nvSpPr>
        <p:spPr>
          <a:xfrm>
            <a:off x="4077718" y="1783796"/>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05" name="Google Shape;405;p26"/>
          <p:cNvSpPr/>
          <p:nvPr/>
        </p:nvSpPr>
        <p:spPr>
          <a:xfrm>
            <a:off x="2624531" y="1506066"/>
            <a:ext cx="246600" cy="21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853"/>
              <a:buFont typeface="Arial"/>
              <a:buNone/>
            </a:pPr>
            <a:r>
              <a:rPr b="1" i="0" lang="en-GB" sz="1853" u="none" cap="none" strike="noStrike">
                <a:solidFill>
                  <a:schemeClr val="dk1"/>
                </a:solidFill>
                <a:latin typeface="Arial"/>
                <a:ea typeface="Arial"/>
                <a:cs typeface="Arial"/>
                <a:sym typeface="Arial"/>
              </a:rPr>
              <a:t>×</a:t>
            </a:r>
            <a:endParaRPr b="0" i="0" sz="1853" u="none" cap="none" strike="noStrike">
              <a:solidFill>
                <a:schemeClr val="dk1"/>
              </a:solidFill>
              <a:latin typeface="Arial"/>
              <a:ea typeface="Arial"/>
              <a:cs typeface="Arial"/>
              <a:sym typeface="Arial"/>
            </a:endParaRPr>
          </a:p>
        </p:txBody>
      </p:sp>
      <p:sp>
        <p:nvSpPr>
          <p:cNvPr id="406" name="Google Shape;406;p26"/>
          <p:cNvSpPr/>
          <p:nvPr/>
        </p:nvSpPr>
        <p:spPr>
          <a:xfrm>
            <a:off x="4968823" y="1506066"/>
            <a:ext cx="246600" cy="21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853"/>
              <a:buFont typeface="Arial"/>
              <a:buNone/>
            </a:pPr>
            <a:r>
              <a:rPr b="1" i="0" lang="en-GB" sz="1853" u="none" cap="none" strike="noStrike">
                <a:solidFill>
                  <a:schemeClr val="dk1"/>
                </a:solidFill>
                <a:latin typeface="Arial"/>
                <a:ea typeface="Arial"/>
                <a:cs typeface="Arial"/>
                <a:sym typeface="Arial"/>
              </a:rPr>
              <a:t>=</a:t>
            </a:r>
            <a:endParaRPr b="0" i="0" sz="1853" u="none" cap="none" strike="noStrike">
              <a:solidFill>
                <a:schemeClr val="dk1"/>
              </a:solidFill>
              <a:latin typeface="Arial"/>
              <a:ea typeface="Arial"/>
              <a:cs typeface="Arial"/>
              <a:sym typeface="Arial"/>
            </a:endParaRPr>
          </a:p>
        </p:txBody>
      </p:sp>
      <p:sp>
        <p:nvSpPr>
          <p:cNvPr id="407" name="Google Shape;407;p26"/>
          <p:cNvSpPr/>
          <p:nvPr/>
        </p:nvSpPr>
        <p:spPr>
          <a:xfrm>
            <a:off x="5439794" y="1175361"/>
            <a:ext cx="3013200" cy="9303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544"/>
              <a:buFont typeface="Arial"/>
              <a:buNone/>
            </a:pPr>
            <a:r>
              <a:rPr b="1" i="0" lang="en-GB" sz="1309" u="none" cap="none" strike="noStrike">
                <a:solidFill>
                  <a:srgbClr val="000000"/>
                </a:solidFill>
                <a:latin typeface="Lato"/>
                <a:ea typeface="Lato"/>
                <a:cs typeface="Lato"/>
                <a:sym typeface="Lato"/>
              </a:rPr>
              <a:t>10×1 + 10</a:t>
            </a:r>
            <a:r>
              <a:rPr b="1" lang="en-GB" sz="1309">
                <a:solidFill>
                  <a:schemeClr val="dk1"/>
                </a:solidFill>
                <a:latin typeface="Lato"/>
                <a:ea typeface="Lato"/>
                <a:cs typeface="Lato"/>
                <a:sym typeface="Lato"/>
              </a:rPr>
              <a:t>×</a:t>
            </a:r>
            <a:r>
              <a:rPr b="1" i="0" lang="en-GB" sz="1309" u="none" cap="none" strike="noStrike">
                <a:solidFill>
                  <a:srgbClr val="000000"/>
                </a:solidFill>
                <a:latin typeface="Lato"/>
                <a:ea typeface="Lato"/>
                <a:cs typeface="Lato"/>
                <a:sym typeface="Lato"/>
              </a:rPr>
              <a:t>0 + 10</a:t>
            </a:r>
            <a:r>
              <a:rPr b="1" lang="en-GB" sz="1309">
                <a:solidFill>
                  <a:schemeClr val="dk1"/>
                </a:solidFill>
                <a:latin typeface="Lato"/>
                <a:ea typeface="Lato"/>
                <a:cs typeface="Lato"/>
                <a:sym typeface="Lato"/>
              </a:rPr>
              <a:t>×(-1)</a:t>
            </a:r>
            <a:r>
              <a:rPr lang="en-GB" sz="1309">
                <a:solidFill>
                  <a:schemeClr val="dk1"/>
                </a:solidFill>
                <a:latin typeface="Lato"/>
                <a:ea typeface="Lato"/>
                <a:cs typeface="Lato"/>
                <a:sym typeface="Lato"/>
              </a:rPr>
              <a:t> </a:t>
            </a:r>
            <a:r>
              <a:rPr b="1" i="0" lang="en-GB" sz="1309" u="none" cap="none" strike="noStrike">
                <a:solidFill>
                  <a:srgbClr val="000000"/>
                </a:solidFill>
                <a:latin typeface="Lato"/>
                <a:ea typeface="Lato"/>
                <a:cs typeface="Lato"/>
                <a:sym typeface="Lato"/>
              </a:rPr>
              <a:t>= 0</a:t>
            </a:r>
            <a:endParaRPr i="0" sz="1309" u="none" cap="none" strike="noStrike">
              <a:solidFill>
                <a:schemeClr val="dk1"/>
              </a:solidFill>
              <a:latin typeface="Lato"/>
              <a:ea typeface="Lato"/>
              <a:cs typeface="Lato"/>
              <a:sym typeface="Lato"/>
            </a:endParaRPr>
          </a:p>
        </p:txBody>
      </p:sp>
      <p:sp>
        <p:nvSpPr>
          <p:cNvPr id="408" name="Google Shape;408;p26"/>
          <p:cNvSpPr/>
          <p:nvPr/>
        </p:nvSpPr>
        <p:spPr>
          <a:xfrm>
            <a:off x="1907882" y="3945628"/>
            <a:ext cx="2229000" cy="562500"/>
          </a:xfrm>
          <a:prstGeom prst="roundRect">
            <a:avLst>
              <a:gd fmla="val 14634" name="adj"/>
            </a:avLst>
          </a:prstGeom>
          <a:solidFill>
            <a:schemeClr val="lt1"/>
          </a:solidFill>
          <a:ln cap="flat" cmpd="sng" w="21575">
            <a:solidFill>
              <a:srgbClr val="000000"/>
            </a:solidFill>
            <a:prstDash val="solid"/>
            <a:round/>
            <a:headEnd len="sm" w="sm" type="none"/>
            <a:tailEnd len="sm" w="sm" type="none"/>
          </a:ln>
          <a:effectLst>
            <a:outerShdw blurRad="25400" rotWithShape="0" algn="bl" dir="2700000" dist="50800">
              <a:srgbClr val="999999">
                <a:alpha val="2509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409" name="Google Shape;409;p26"/>
          <p:cNvSpPr/>
          <p:nvPr/>
        </p:nvSpPr>
        <p:spPr>
          <a:xfrm>
            <a:off x="1990180" y="4000492"/>
            <a:ext cx="2064300" cy="4527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700"/>
              <a:buFont typeface="Arial"/>
              <a:buNone/>
            </a:pPr>
            <a:r>
              <a:rPr b="1" i="0" lang="en-GB" sz="1700" u="none" cap="none" strike="noStrike">
                <a:solidFill>
                  <a:srgbClr val="000000"/>
                </a:solidFill>
                <a:latin typeface="Lato"/>
                <a:ea typeface="Lato"/>
                <a:cs typeface="Lato"/>
                <a:sym typeface="Lato"/>
              </a:rPr>
              <a:t>Gy = 0</a:t>
            </a:r>
            <a:endParaRPr i="0" sz="1700" u="none" cap="none" strike="noStrike">
              <a:solidFill>
                <a:schemeClr val="dk1"/>
              </a:solidFill>
              <a:latin typeface="Lato"/>
              <a:ea typeface="Lato"/>
              <a:cs typeface="Lato"/>
              <a:sym typeface="Lato"/>
            </a:endParaRPr>
          </a:p>
        </p:txBody>
      </p:sp>
      <p:sp>
        <p:nvSpPr>
          <p:cNvPr id="410" name="Google Shape;410;p26"/>
          <p:cNvSpPr/>
          <p:nvPr/>
        </p:nvSpPr>
        <p:spPr>
          <a:xfrm>
            <a:off x="4899132" y="3945603"/>
            <a:ext cx="2229000" cy="562500"/>
          </a:xfrm>
          <a:prstGeom prst="roundRect">
            <a:avLst>
              <a:gd fmla="val 14634" name="adj"/>
            </a:avLst>
          </a:prstGeom>
          <a:solidFill>
            <a:srgbClr val="F65B60"/>
          </a:solidFill>
          <a:ln cap="flat" cmpd="sng" w="21575">
            <a:solidFill>
              <a:srgbClr val="000000"/>
            </a:solidFill>
            <a:prstDash val="solid"/>
            <a:round/>
            <a:headEnd len="sm" w="sm" type="none"/>
            <a:tailEnd len="sm" w="sm" type="none"/>
          </a:ln>
          <a:effectLst>
            <a:outerShdw blurRad="25400" rotWithShape="0" algn="bl" dir="2700000" dist="50800">
              <a:srgbClr val="999999">
                <a:alpha val="2509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411" name="Google Shape;411;p26"/>
          <p:cNvSpPr/>
          <p:nvPr/>
        </p:nvSpPr>
        <p:spPr>
          <a:xfrm>
            <a:off x="4981431" y="4000467"/>
            <a:ext cx="2064300" cy="4527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700"/>
              <a:buFont typeface="Arial"/>
              <a:buNone/>
            </a:pPr>
            <a:r>
              <a:rPr b="1" i="0" lang="en-GB" sz="1700" u="none" cap="none" strike="noStrike">
                <a:solidFill>
                  <a:srgbClr val="000000"/>
                </a:solidFill>
                <a:latin typeface="Lato"/>
                <a:ea typeface="Lato"/>
                <a:cs typeface="Lato"/>
                <a:sym typeface="Lato"/>
              </a:rPr>
              <a:t>Gx </a:t>
            </a:r>
            <a:r>
              <a:rPr b="1" lang="en-GB" sz="1700">
                <a:latin typeface="Lato"/>
                <a:ea typeface="Lato"/>
                <a:cs typeface="Lato"/>
                <a:sym typeface="Lato"/>
              </a:rPr>
              <a:t>=</a:t>
            </a:r>
            <a:r>
              <a:rPr b="1" i="0" lang="en-GB" sz="1700" u="none" cap="none" strike="noStrike">
                <a:solidFill>
                  <a:srgbClr val="000000"/>
                </a:solidFill>
                <a:latin typeface="Lato"/>
                <a:ea typeface="Lato"/>
                <a:cs typeface="Lato"/>
                <a:sym typeface="Lato"/>
              </a:rPr>
              <a:t> -30</a:t>
            </a:r>
            <a:endParaRPr i="0" sz="1700" u="none" cap="none" strike="noStrike">
              <a:solidFill>
                <a:schemeClr val="dk1"/>
              </a:solidFill>
              <a:latin typeface="Lato"/>
              <a:ea typeface="Lato"/>
              <a:cs typeface="Lato"/>
              <a:sym typeface="Lato"/>
            </a:endParaRPr>
          </a:p>
        </p:txBody>
      </p:sp>
      <p:sp>
        <p:nvSpPr>
          <p:cNvPr id="412" name="Google Shape;412;p26"/>
          <p:cNvSpPr/>
          <p:nvPr/>
        </p:nvSpPr>
        <p:spPr>
          <a:xfrm>
            <a:off x="0" y="5073950"/>
            <a:ext cx="9144000" cy="696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3" name="Google Shape;413;p26"/>
          <p:cNvSpPr/>
          <p:nvPr/>
        </p:nvSpPr>
        <p:spPr>
          <a:xfrm>
            <a:off x="3118066" y="2117188"/>
            <a:ext cx="1439400" cy="17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1030"/>
              <a:buFont typeface="Arial"/>
              <a:buNone/>
            </a:pPr>
            <a:r>
              <a:rPr b="1" i="0" lang="en-GB" sz="1030" u="none" cap="none" strike="noStrike">
                <a:solidFill>
                  <a:srgbClr val="202020"/>
                </a:solidFill>
                <a:latin typeface="Lato"/>
                <a:ea typeface="Lato"/>
                <a:cs typeface="Lato"/>
                <a:sym typeface="Lato"/>
              </a:rPr>
              <a:t>G</a:t>
            </a:r>
            <a:r>
              <a:rPr b="1" lang="en-GB" sz="1030">
                <a:solidFill>
                  <a:srgbClr val="202020"/>
                </a:solidFill>
                <a:latin typeface="Lato"/>
                <a:ea typeface="Lato"/>
                <a:cs typeface="Lato"/>
                <a:sym typeface="Lato"/>
              </a:rPr>
              <a:t>x </a:t>
            </a:r>
            <a:r>
              <a:rPr b="1" i="0" lang="en-GB" sz="1030" u="none" cap="none" strike="noStrike">
                <a:solidFill>
                  <a:srgbClr val="202020"/>
                </a:solidFill>
                <a:latin typeface="Lato"/>
                <a:ea typeface="Lato"/>
                <a:cs typeface="Lato"/>
                <a:sym typeface="Lato"/>
              </a:rPr>
              <a:t>kernel</a:t>
            </a:r>
            <a:endParaRPr i="0" sz="1030" u="none" cap="none" strike="noStrike">
              <a:solidFill>
                <a:schemeClr val="dk1"/>
              </a:solidFill>
              <a:latin typeface="Lato"/>
              <a:ea typeface="Lato"/>
              <a:cs typeface="Lato"/>
              <a:sym typeface="Lato"/>
            </a:endParaRPr>
          </a:p>
        </p:txBody>
      </p:sp>
      <p:sp>
        <p:nvSpPr>
          <p:cNvPr id="414" name="Google Shape;414;p26"/>
          <p:cNvSpPr/>
          <p:nvPr/>
        </p:nvSpPr>
        <p:spPr>
          <a:xfrm>
            <a:off x="3118066" y="2343138"/>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15" name="Google Shape;415;p26"/>
          <p:cNvSpPr/>
          <p:nvPr/>
        </p:nvSpPr>
        <p:spPr>
          <a:xfrm>
            <a:off x="3118066" y="2350199"/>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a:t>
            </a:r>
            <a:r>
              <a:rPr i="0" lang="en-GB" sz="927" u="none" cap="none" strike="noStrike">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16" name="Google Shape;416;p26"/>
          <p:cNvSpPr/>
          <p:nvPr/>
        </p:nvSpPr>
        <p:spPr>
          <a:xfrm>
            <a:off x="3597892" y="2343138"/>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17" name="Google Shape;417;p26"/>
          <p:cNvSpPr/>
          <p:nvPr/>
        </p:nvSpPr>
        <p:spPr>
          <a:xfrm>
            <a:off x="3597892" y="2350199"/>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418" name="Google Shape;418;p26"/>
          <p:cNvSpPr/>
          <p:nvPr/>
        </p:nvSpPr>
        <p:spPr>
          <a:xfrm>
            <a:off x="4077718" y="2343138"/>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19" name="Google Shape;419;p26"/>
          <p:cNvSpPr/>
          <p:nvPr/>
        </p:nvSpPr>
        <p:spPr>
          <a:xfrm>
            <a:off x="4077718" y="2350199"/>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20" name="Google Shape;420;p26"/>
          <p:cNvSpPr/>
          <p:nvPr/>
        </p:nvSpPr>
        <p:spPr>
          <a:xfrm>
            <a:off x="3118066" y="2637343"/>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21" name="Google Shape;421;p26"/>
          <p:cNvSpPr/>
          <p:nvPr/>
        </p:nvSpPr>
        <p:spPr>
          <a:xfrm>
            <a:off x="3118066" y="2644404"/>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22" name="Google Shape;422;p26"/>
          <p:cNvSpPr/>
          <p:nvPr/>
        </p:nvSpPr>
        <p:spPr>
          <a:xfrm>
            <a:off x="3597892" y="2637343"/>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23" name="Google Shape;423;p26"/>
          <p:cNvSpPr/>
          <p:nvPr/>
        </p:nvSpPr>
        <p:spPr>
          <a:xfrm>
            <a:off x="3597892" y="2644404"/>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424" name="Google Shape;424;p26"/>
          <p:cNvSpPr/>
          <p:nvPr/>
        </p:nvSpPr>
        <p:spPr>
          <a:xfrm>
            <a:off x="4077718" y="2637343"/>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25" name="Google Shape;425;p26"/>
          <p:cNvSpPr/>
          <p:nvPr/>
        </p:nvSpPr>
        <p:spPr>
          <a:xfrm>
            <a:off x="4077718" y="2644404"/>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26" name="Google Shape;426;p26"/>
          <p:cNvSpPr/>
          <p:nvPr/>
        </p:nvSpPr>
        <p:spPr>
          <a:xfrm>
            <a:off x="3118066" y="2931548"/>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27" name="Google Shape;427;p26"/>
          <p:cNvSpPr/>
          <p:nvPr/>
        </p:nvSpPr>
        <p:spPr>
          <a:xfrm>
            <a:off x="3118066" y="2938609"/>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28" name="Google Shape;428;p26"/>
          <p:cNvSpPr/>
          <p:nvPr/>
        </p:nvSpPr>
        <p:spPr>
          <a:xfrm>
            <a:off x="3597892" y="2931548"/>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29" name="Google Shape;429;p26"/>
          <p:cNvSpPr/>
          <p:nvPr/>
        </p:nvSpPr>
        <p:spPr>
          <a:xfrm>
            <a:off x="3597892" y="2938609"/>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lang="en-GB" sz="927">
                <a:solidFill>
                  <a:srgbClr val="202020"/>
                </a:solidFill>
                <a:latin typeface="Lato"/>
                <a:ea typeface="Lato"/>
                <a:cs typeface="Lato"/>
                <a:sym typeface="Lato"/>
              </a:rPr>
              <a:t>0</a:t>
            </a:r>
            <a:endParaRPr i="0" sz="927" u="none" cap="none" strike="noStrike">
              <a:solidFill>
                <a:schemeClr val="dk1"/>
              </a:solidFill>
              <a:latin typeface="Lato"/>
              <a:ea typeface="Lato"/>
              <a:cs typeface="Lato"/>
              <a:sym typeface="Lato"/>
            </a:endParaRPr>
          </a:p>
        </p:txBody>
      </p:sp>
      <p:sp>
        <p:nvSpPr>
          <p:cNvPr id="430" name="Google Shape;430;p26"/>
          <p:cNvSpPr/>
          <p:nvPr/>
        </p:nvSpPr>
        <p:spPr>
          <a:xfrm>
            <a:off x="4077718" y="2931548"/>
            <a:ext cx="479700" cy="294300"/>
          </a:xfrm>
          <a:prstGeom prst="rect">
            <a:avLst/>
          </a:prstGeom>
          <a:solidFill>
            <a:srgbClr val="FFFFFF"/>
          </a:solidFill>
          <a:ln cap="flat" cmpd="sng" w="9800">
            <a:solidFill>
              <a:srgbClr val="777777"/>
            </a:solidFill>
            <a:prstDash val="solid"/>
            <a:round/>
            <a:headEnd len="sm" w="sm" type="none"/>
            <a:tailEnd len="sm" w="sm" type="none"/>
          </a:ln>
        </p:spPr>
        <p:txBody>
          <a:bodyPr anchorCtr="0" anchor="ctr" bIns="70625" lIns="70625" spcFirstLastPara="1" rIns="70625" wrap="square" tIns="70625">
            <a:noAutofit/>
          </a:bodyPr>
          <a:lstStyle/>
          <a:p>
            <a:pPr indent="0" lvl="0" marL="0" rtl="0" algn="l">
              <a:spcBef>
                <a:spcPts val="0"/>
              </a:spcBef>
              <a:spcAft>
                <a:spcPts val="0"/>
              </a:spcAft>
              <a:buNone/>
            </a:pPr>
            <a:r>
              <a:t/>
            </a:r>
            <a:endParaRPr sz="1441">
              <a:latin typeface="Lato"/>
              <a:ea typeface="Lato"/>
              <a:cs typeface="Lato"/>
              <a:sym typeface="Lato"/>
            </a:endParaRPr>
          </a:p>
        </p:txBody>
      </p:sp>
      <p:sp>
        <p:nvSpPr>
          <p:cNvPr id="431" name="Google Shape;431;p26"/>
          <p:cNvSpPr/>
          <p:nvPr/>
        </p:nvSpPr>
        <p:spPr>
          <a:xfrm>
            <a:off x="4077718" y="2938609"/>
            <a:ext cx="479700" cy="28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020"/>
              </a:buClr>
              <a:buSzPts val="927"/>
              <a:buFont typeface="Arial"/>
              <a:buNone/>
            </a:pPr>
            <a:r>
              <a:rPr i="0" lang="en-GB" sz="927" u="none" cap="none" strike="noStrike">
                <a:solidFill>
                  <a:srgbClr val="202020"/>
                </a:solidFill>
                <a:latin typeface="Lato"/>
                <a:ea typeface="Lato"/>
                <a:cs typeface="Lato"/>
                <a:sym typeface="Lato"/>
              </a:rPr>
              <a:t>1</a:t>
            </a:r>
            <a:endParaRPr i="0" sz="927" u="none" cap="none" strike="noStrike">
              <a:solidFill>
                <a:schemeClr val="dk1"/>
              </a:solidFill>
              <a:latin typeface="Lato"/>
              <a:ea typeface="Lato"/>
              <a:cs typeface="Lato"/>
              <a:sym typeface="Lato"/>
            </a:endParaRPr>
          </a:p>
        </p:txBody>
      </p:sp>
      <p:sp>
        <p:nvSpPr>
          <p:cNvPr id="432" name="Google Shape;432;p26"/>
          <p:cNvSpPr/>
          <p:nvPr/>
        </p:nvSpPr>
        <p:spPr>
          <a:xfrm>
            <a:off x="2624531" y="2660879"/>
            <a:ext cx="246600" cy="21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853"/>
              <a:buFont typeface="Arial"/>
              <a:buNone/>
            </a:pPr>
            <a:r>
              <a:rPr b="1" i="0" lang="en-GB" sz="1853" u="none" cap="none" strike="noStrike">
                <a:solidFill>
                  <a:schemeClr val="dk1"/>
                </a:solidFill>
                <a:latin typeface="Arial"/>
                <a:ea typeface="Arial"/>
                <a:cs typeface="Arial"/>
                <a:sym typeface="Arial"/>
              </a:rPr>
              <a:t>×</a:t>
            </a:r>
            <a:endParaRPr b="0" i="0" sz="1853" u="none" cap="none" strike="noStrike">
              <a:solidFill>
                <a:schemeClr val="dk1"/>
              </a:solidFill>
              <a:latin typeface="Arial"/>
              <a:ea typeface="Arial"/>
              <a:cs typeface="Arial"/>
              <a:sym typeface="Arial"/>
            </a:endParaRPr>
          </a:p>
        </p:txBody>
      </p:sp>
      <p:sp>
        <p:nvSpPr>
          <p:cNvPr id="433" name="Google Shape;433;p26"/>
          <p:cNvSpPr/>
          <p:nvPr/>
        </p:nvSpPr>
        <p:spPr>
          <a:xfrm>
            <a:off x="4968823" y="2660879"/>
            <a:ext cx="246600" cy="21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853"/>
              <a:buFont typeface="Arial"/>
              <a:buNone/>
            </a:pPr>
            <a:r>
              <a:rPr b="1" i="0" lang="en-GB" sz="1853" u="none" cap="none" strike="noStrike">
                <a:solidFill>
                  <a:schemeClr val="dk1"/>
                </a:solidFill>
                <a:latin typeface="Arial"/>
                <a:ea typeface="Arial"/>
                <a:cs typeface="Arial"/>
                <a:sym typeface="Arial"/>
              </a:rPr>
              <a:t>=</a:t>
            </a:r>
            <a:endParaRPr b="0" i="0" sz="1853" u="none" cap="none" strike="noStrike">
              <a:solidFill>
                <a:schemeClr val="dk1"/>
              </a:solidFill>
              <a:latin typeface="Arial"/>
              <a:ea typeface="Arial"/>
              <a:cs typeface="Arial"/>
              <a:sym typeface="Arial"/>
            </a:endParaRPr>
          </a:p>
        </p:txBody>
      </p:sp>
      <p:sp>
        <p:nvSpPr>
          <p:cNvPr id="434" name="Google Shape;434;p26"/>
          <p:cNvSpPr/>
          <p:nvPr/>
        </p:nvSpPr>
        <p:spPr>
          <a:xfrm>
            <a:off x="5439794" y="2180455"/>
            <a:ext cx="3013200" cy="11727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00000"/>
              </a:buClr>
              <a:buSzPts val="1544"/>
              <a:buFont typeface="Arial"/>
              <a:buNone/>
            </a:pPr>
            <a:r>
              <a:rPr b="1" i="0" lang="en-GB" sz="1309" u="none" cap="none" strike="noStrike">
                <a:solidFill>
                  <a:srgbClr val="000000"/>
                </a:solidFill>
                <a:latin typeface="Lato"/>
                <a:ea typeface="Lato"/>
                <a:cs typeface="Lato"/>
                <a:sym typeface="Lato"/>
              </a:rPr>
              <a:t>10×(-1) + 10×</a:t>
            </a:r>
            <a:r>
              <a:rPr b="1" lang="en-GB" sz="1309">
                <a:solidFill>
                  <a:schemeClr val="dk1"/>
                </a:solidFill>
                <a:latin typeface="Lato"/>
                <a:ea typeface="Lato"/>
                <a:cs typeface="Lato"/>
                <a:sym typeface="Lato"/>
              </a:rPr>
              <a:t>(-1)</a:t>
            </a:r>
            <a:r>
              <a:rPr b="1" i="0" lang="en-GB" sz="1309" u="none" cap="none" strike="noStrike">
                <a:solidFill>
                  <a:srgbClr val="000000"/>
                </a:solidFill>
                <a:latin typeface="Lato"/>
                <a:ea typeface="Lato"/>
                <a:cs typeface="Lato"/>
                <a:sym typeface="Lato"/>
              </a:rPr>
              <a:t> + 10×</a:t>
            </a:r>
            <a:r>
              <a:rPr b="1" lang="en-GB" sz="1309">
                <a:solidFill>
                  <a:schemeClr val="dk1"/>
                </a:solidFill>
                <a:latin typeface="Lato"/>
                <a:ea typeface="Lato"/>
                <a:cs typeface="Lato"/>
                <a:sym typeface="Lato"/>
              </a:rPr>
              <a:t>(-1)</a:t>
            </a:r>
            <a:r>
              <a:rPr b="1" i="0" lang="en-GB" sz="1309" u="none" cap="none" strike="noStrike">
                <a:solidFill>
                  <a:srgbClr val="000000"/>
                </a:solidFill>
                <a:latin typeface="Lato"/>
                <a:ea typeface="Lato"/>
                <a:cs typeface="Lato"/>
                <a:sym typeface="Lato"/>
              </a:rPr>
              <a:t>= </a:t>
            </a:r>
            <a:r>
              <a:rPr b="1" lang="en-GB" sz="1309">
                <a:latin typeface="Lato"/>
                <a:ea typeface="Lato"/>
                <a:cs typeface="Lato"/>
                <a:sym typeface="Lato"/>
              </a:rPr>
              <a:t>0</a:t>
            </a:r>
            <a:endParaRPr i="0" sz="1309" u="none" cap="none" strike="noStrike">
              <a:solidFill>
                <a:schemeClr val="dk1"/>
              </a:solidFill>
              <a:latin typeface="Lato"/>
              <a:ea typeface="Lato"/>
              <a:cs typeface="Lato"/>
              <a:sym typeface="Lato"/>
            </a:endParaRPr>
          </a:p>
        </p:txBody>
      </p:sp>
      <p:cxnSp>
        <p:nvCxnSpPr>
          <p:cNvPr id="435" name="Google Shape;435;p26"/>
          <p:cNvCxnSpPr/>
          <p:nvPr/>
        </p:nvCxnSpPr>
        <p:spPr>
          <a:xfrm flipH="1" rot="10800000">
            <a:off x="2051657" y="1685767"/>
            <a:ext cx="617400" cy="533700"/>
          </a:xfrm>
          <a:prstGeom prst="straightConnector1">
            <a:avLst/>
          </a:prstGeom>
          <a:noFill/>
          <a:ln cap="flat" cmpd="sng" w="9800">
            <a:solidFill>
              <a:schemeClr val="dk1"/>
            </a:solidFill>
            <a:prstDash val="solid"/>
            <a:round/>
            <a:headEnd len="med" w="med" type="none"/>
            <a:tailEnd len="med" w="med" type="triangle"/>
          </a:ln>
        </p:spPr>
      </p:cxnSp>
      <p:cxnSp>
        <p:nvCxnSpPr>
          <p:cNvPr id="436" name="Google Shape;436;p26"/>
          <p:cNvCxnSpPr/>
          <p:nvPr/>
        </p:nvCxnSpPr>
        <p:spPr>
          <a:xfrm>
            <a:off x="2051656" y="2219505"/>
            <a:ext cx="617400" cy="511500"/>
          </a:xfrm>
          <a:prstGeom prst="straightConnector1">
            <a:avLst/>
          </a:prstGeom>
          <a:noFill/>
          <a:ln cap="flat" cmpd="sng" w="9800">
            <a:solidFill>
              <a:schemeClr val="dk1"/>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27"/>
          <p:cNvSpPr/>
          <p:nvPr/>
        </p:nvSpPr>
        <p:spPr>
          <a:xfrm>
            <a:off x="246094" y="241938"/>
            <a:ext cx="8572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lang="en-GB" sz="2000">
                <a:solidFill>
                  <a:srgbClr val="F65B60"/>
                </a:solidFill>
                <a:latin typeface="Georgia"/>
                <a:ea typeface="Georgia"/>
                <a:cs typeface="Georgia"/>
                <a:sym typeface="Georgia"/>
              </a:rPr>
              <a:t>Prewitt</a:t>
            </a:r>
            <a:r>
              <a:rPr b="1" i="0" lang="en-GB" sz="2000" u="none" cap="none" strike="noStrike">
                <a:solidFill>
                  <a:srgbClr val="F65B60"/>
                </a:solidFill>
                <a:latin typeface="Georgia"/>
                <a:ea typeface="Georgia"/>
                <a:cs typeface="Georgia"/>
                <a:sym typeface="Georgia"/>
              </a:rPr>
              <a:t>: Worked </a:t>
            </a:r>
            <a:r>
              <a:rPr b="1" lang="en-GB" sz="2000">
                <a:solidFill>
                  <a:srgbClr val="F65B60"/>
                </a:solidFill>
                <a:latin typeface="Georgia"/>
                <a:ea typeface="Georgia"/>
                <a:cs typeface="Georgia"/>
                <a:sym typeface="Georgia"/>
              </a:rPr>
              <a:t>E</a:t>
            </a:r>
            <a:r>
              <a:rPr b="1" i="0" lang="en-GB" sz="2000" u="none" cap="none" strike="noStrike">
                <a:solidFill>
                  <a:srgbClr val="F65B60"/>
                </a:solidFill>
                <a:latin typeface="Georgia"/>
                <a:ea typeface="Georgia"/>
                <a:cs typeface="Georgia"/>
                <a:sym typeface="Georgia"/>
              </a:rPr>
              <a:t>xample</a:t>
            </a:r>
            <a:endParaRPr b="0" i="0" sz="2000" u="none" cap="none" strike="noStrike">
              <a:solidFill>
                <a:schemeClr val="dk1"/>
              </a:solidFill>
              <a:latin typeface="Arial"/>
              <a:ea typeface="Arial"/>
              <a:cs typeface="Arial"/>
              <a:sym typeface="Arial"/>
            </a:endParaRPr>
          </a:p>
        </p:txBody>
      </p:sp>
      <p:sp>
        <p:nvSpPr>
          <p:cNvPr id="443" name="Google Shape;443;p27"/>
          <p:cNvSpPr/>
          <p:nvPr/>
        </p:nvSpPr>
        <p:spPr>
          <a:xfrm>
            <a:off x="0" y="5073950"/>
            <a:ext cx="9144000" cy="696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27"/>
          <p:cNvSpPr txBox="1"/>
          <p:nvPr/>
        </p:nvSpPr>
        <p:spPr>
          <a:xfrm>
            <a:off x="590450" y="933725"/>
            <a:ext cx="79881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500">
                <a:solidFill>
                  <a:schemeClr val="dk1"/>
                </a:solidFill>
                <a:latin typeface="Lato"/>
                <a:ea typeface="Lato"/>
                <a:cs typeface="Lato"/>
                <a:sym typeface="Lato"/>
              </a:rPr>
              <a:t>Gradient Magnitude = </a:t>
            </a:r>
            <a:r>
              <a:rPr b="1" lang="en-GB" sz="1700">
                <a:solidFill>
                  <a:schemeClr val="dk1"/>
                </a:solidFill>
                <a:latin typeface="Lato"/>
                <a:ea typeface="Lato"/>
                <a:cs typeface="Lato"/>
                <a:sym typeface="Lato"/>
              </a:rPr>
              <a:t>√(Gx² + Gy²) = √(0² + [-30]²) = 30</a:t>
            </a:r>
            <a:endParaRPr b="1" sz="1500">
              <a:solidFill>
                <a:schemeClr val="dk1"/>
              </a:solidFill>
              <a:latin typeface="Lato"/>
              <a:ea typeface="Lato"/>
              <a:cs typeface="Lato"/>
              <a:sym typeface="Lato"/>
            </a:endParaRPr>
          </a:p>
        </p:txBody>
      </p:sp>
      <p:sp>
        <p:nvSpPr>
          <p:cNvPr id="445" name="Google Shape;445;p27"/>
          <p:cNvSpPr/>
          <p:nvPr/>
        </p:nvSpPr>
        <p:spPr>
          <a:xfrm>
            <a:off x="738741" y="1159119"/>
            <a:ext cx="7612500" cy="63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400"/>
              <a:buFont typeface="Arial"/>
              <a:buNone/>
            </a:pPr>
            <a:r>
              <a:rPr b="1" lang="en-GB">
                <a:solidFill>
                  <a:srgbClr val="5E6A6F"/>
                </a:solidFill>
                <a:latin typeface="Lato"/>
                <a:ea typeface="Lato"/>
                <a:cs typeface="Lato"/>
                <a:sym typeface="Lato"/>
              </a:rPr>
              <a:t>H</a:t>
            </a:r>
            <a:r>
              <a:rPr b="1" i="0" lang="en-GB" sz="1400" u="none" cap="none" strike="noStrike">
                <a:solidFill>
                  <a:srgbClr val="5E6A6F"/>
                </a:solidFill>
                <a:latin typeface="Lato"/>
                <a:ea typeface="Lato"/>
                <a:cs typeface="Lato"/>
                <a:sym typeface="Lato"/>
              </a:rPr>
              <a:t>igh magnitude</a:t>
            </a:r>
            <a:r>
              <a:rPr b="1" lang="en-GB">
                <a:solidFill>
                  <a:srgbClr val="5E6A6F"/>
                </a:solidFill>
                <a:latin typeface="Lato"/>
                <a:ea typeface="Lato"/>
                <a:cs typeface="Lato"/>
                <a:sym typeface="Lato"/>
              </a:rPr>
              <a:t>:</a:t>
            </a:r>
            <a:r>
              <a:rPr b="1" i="0" lang="en-GB" sz="1400" u="none" cap="none" strike="noStrike">
                <a:solidFill>
                  <a:srgbClr val="5E6A6F"/>
                </a:solidFill>
                <a:latin typeface="Lato"/>
                <a:ea typeface="Lato"/>
                <a:cs typeface="Lato"/>
                <a:sym typeface="Lato"/>
              </a:rPr>
              <a:t> strong intensity change.</a:t>
            </a:r>
            <a:endParaRPr b="1">
              <a:solidFill>
                <a:srgbClr val="5E6A6F"/>
              </a:solidFill>
              <a:latin typeface="Lato"/>
              <a:ea typeface="Lato"/>
              <a:cs typeface="Lato"/>
              <a:sym typeface="Lato"/>
            </a:endParaRPr>
          </a:p>
        </p:txBody>
      </p:sp>
      <p:sp>
        <p:nvSpPr>
          <p:cNvPr id="446" name="Google Shape;446;p27"/>
          <p:cNvSpPr txBox="1"/>
          <p:nvPr/>
        </p:nvSpPr>
        <p:spPr>
          <a:xfrm>
            <a:off x="624550" y="2031634"/>
            <a:ext cx="79881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500">
                <a:solidFill>
                  <a:schemeClr val="dk1"/>
                </a:solidFill>
                <a:latin typeface="Lato"/>
                <a:ea typeface="Lato"/>
                <a:cs typeface="Lato"/>
                <a:sym typeface="Lato"/>
              </a:rPr>
              <a:t>Edge direction = </a:t>
            </a:r>
            <a:r>
              <a:rPr b="1" lang="en-GB" sz="1700">
                <a:solidFill>
                  <a:schemeClr val="dk1"/>
                </a:solidFill>
                <a:latin typeface="Lato"/>
                <a:ea typeface="Lato"/>
                <a:cs typeface="Lato"/>
                <a:sym typeface="Lato"/>
              </a:rPr>
              <a:t>tan⁻¹(Gy / Gx) = tan⁻¹(0 / -30) = 0 </a:t>
            </a:r>
            <a:endParaRPr b="1" sz="1500">
              <a:solidFill>
                <a:schemeClr val="dk1"/>
              </a:solidFill>
              <a:latin typeface="Lato"/>
              <a:ea typeface="Lato"/>
              <a:cs typeface="Lato"/>
              <a:sym typeface="Lato"/>
            </a:endParaRPr>
          </a:p>
        </p:txBody>
      </p:sp>
      <p:sp>
        <p:nvSpPr>
          <p:cNvPr id="447" name="Google Shape;447;p2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48" name="Google Shape;448;p27"/>
          <p:cNvSpPr/>
          <p:nvPr/>
        </p:nvSpPr>
        <p:spPr>
          <a:xfrm>
            <a:off x="738741" y="2440519"/>
            <a:ext cx="7612500" cy="63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400"/>
              <a:buFont typeface="Arial"/>
              <a:buNone/>
            </a:pPr>
            <a:r>
              <a:rPr b="1" lang="en-GB">
                <a:solidFill>
                  <a:srgbClr val="5E6A6F"/>
                </a:solidFill>
                <a:latin typeface="Lato"/>
                <a:ea typeface="Lato"/>
                <a:cs typeface="Lato"/>
                <a:sym typeface="Lato"/>
              </a:rPr>
              <a:t>Since Gx&lt;0, the gradient vector points entirely in the negative x-direction, so the actual direction is 180°. The gradient direction is perpendicular to the edge.</a:t>
            </a:r>
            <a:endParaRPr b="1">
              <a:solidFill>
                <a:srgbClr val="5E6A6F"/>
              </a:solidFill>
              <a:latin typeface="Lato"/>
              <a:ea typeface="Lato"/>
              <a:cs typeface="Lato"/>
              <a:sym typeface="Lato"/>
            </a:endParaRPr>
          </a:p>
        </p:txBody>
      </p:sp>
      <p:sp>
        <p:nvSpPr>
          <p:cNvPr id="449" name="Google Shape;449;p27"/>
          <p:cNvSpPr/>
          <p:nvPr/>
        </p:nvSpPr>
        <p:spPr>
          <a:xfrm>
            <a:off x="1306500" y="3223399"/>
            <a:ext cx="2229000" cy="1187400"/>
          </a:xfrm>
          <a:prstGeom prst="roundRect">
            <a:avLst>
              <a:gd fmla="val 14634" name="adj"/>
            </a:avLst>
          </a:prstGeom>
          <a:solidFill>
            <a:schemeClr val="lt1"/>
          </a:solidFill>
          <a:ln cap="flat" cmpd="sng" w="21575">
            <a:solidFill>
              <a:srgbClr val="000000"/>
            </a:solidFill>
            <a:prstDash val="solid"/>
            <a:round/>
            <a:headEnd len="sm" w="sm" type="none"/>
            <a:tailEnd len="sm" w="sm" type="none"/>
          </a:ln>
          <a:effectLst>
            <a:outerShdw blurRad="25400" rotWithShape="0" algn="bl" dir="2700000" dist="50800">
              <a:srgbClr val="999999">
                <a:alpha val="2509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450" name="Google Shape;450;p27"/>
          <p:cNvSpPr/>
          <p:nvPr/>
        </p:nvSpPr>
        <p:spPr>
          <a:xfrm>
            <a:off x="1418975" y="3288737"/>
            <a:ext cx="2414700" cy="39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100"/>
              <a:buFont typeface="Arial"/>
              <a:buNone/>
            </a:pPr>
            <a:r>
              <a:rPr b="1" lang="en-GB" sz="1300">
                <a:solidFill>
                  <a:srgbClr val="5E6A6F"/>
                </a:solidFill>
                <a:latin typeface="Lato"/>
                <a:ea typeface="Lato"/>
                <a:cs typeface="Lato"/>
                <a:sym typeface="Lato"/>
              </a:rPr>
              <a:t>Gradient vector:</a:t>
            </a:r>
            <a:endParaRPr i="0" sz="1500" u="none" cap="none" strike="noStrike">
              <a:solidFill>
                <a:schemeClr val="dk1"/>
              </a:solidFill>
              <a:latin typeface="Lato"/>
              <a:ea typeface="Lato"/>
              <a:cs typeface="Lato"/>
              <a:sym typeface="Lato"/>
            </a:endParaRPr>
          </a:p>
        </p:txBody>
      </p:sp>
      <p:cxnSp>
        <p:nvCxnSpPr>
          <p:cNvPr id="451" name="Google Shape;451;p27"/>
          <p:cNvCxnSpPr/>
          <p:nvPr/>
        </p:nvCxnSpPr>
        <p:spPr>
          <a:xfrm rot="10800000">
            <a:off x="1712450" y="3904625"/>
            <a:ext cx="1374900" cy="0"/>
          </a:xfrm>
          <a:prstGeom prst="straightConnector1">
            <a:avLst/>
          </a:prstGeom>
          <a:noFill/>
          <a:ln cap="flat" cmpd="sng" w="28575">
            <a:solidFill>
              <a:schemeClr val="dk2"/>
            </a:solidFill>
            <a:prstDash val="solid"/>
            <a:round/>
            <a:headEnd len="med" w="med" type="none"/>
            <a:tailEnd len="med" w="med" type="stealth"/>
          </a:ln>
        </p:spPr>
      </p:cxnSp>
      <p:sp>
        <p:nvSpPr>
          <p:cNvPr id="452" name="Google Shape;452;p27"/>
          <p:cNvSpPr/>
          <p:nvPr/>
        </p:nvSpPr>
        <p:spPr>
          <a:xfrm>
            <a:off x="5471200" y="3194549"/>
            <a:ext cx="2229000" cy="1187400"/>
          </a:xfrm>
          <a:prstGeom prst="roundRect">
            <a:avLst>
              <a:gd fmla="val 14634" name="adj"/>
            </a:avLst>
          </a:prstGeom>
          <a:solidFill>
            <a:schemeClr val="lt1"/>
          </a:solidFill>
          <a:ln cap="flat" cmpd="sng" w="21575">
            <a:solidFill>
              <a:srgbClr val="000000"/>
            </a:solidFill>
            <a:prstDash val="solid"/>
            <a:round/>
            <a:headEnd len="sm" w="sm" type="none"/>
            <a:tailEnd len="sm" w="sm" type="none"/>
          </a:ln>
          <a:effectLst>
            <a:outerShdw blurRad="25400" rotWithShape="0" algn="bl" dir="2700000" dist="50800">
              <a:srgbClr val="999999">
                <a:alpha val="2509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453" name="Google Shape;453;p27"/>
          <p:cNvSpPr/>
          <p:nvPr/>
        </p:nvSpPr>
        <p:spPr>
          <a:xfrm>
            <a:off x="5564925" y="3223412"/>
            <a:ext cx="2414700" cy="39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A6F"/>
              </a:buClr>
              <a:buSzPts val="1100"/>
              <a:buFont typeface="Arial"/>
              <a:buNone/>
            </a:pPr>
            <a:r>
              <a:rPr b="1" lang="en-GB" sz="1300">
                <a:solidFill>
                  <a:srgbClr val="5E6A6F"/>
                </a:solidFill>
                <a:latin typeface="Lato"/>
                <a:ea typeface="Lato"/>
                <a:cs typeface="Lato"/>
                <a:sym typeface="Lato"/>
              </a:rPr>
              <a:t>Edge detected: Vertical</a:t>
            </a:r>
            <a:endParaRPr i="0" sz="1500" u="none" cap="none" strike="noStrike">
              <a:solidFill>
                <a:schemeClr val="dk1"/>
              </a:solidFill>
              <a:latin typeface="Lato"/>
              <a:ea typeface="Lato"/>
              <a:cs typeface="Lato"/>
              <a:sym typeface="Lato"/>
            </a:endParaRPr>
          </a:p>
        </p:txBody>
      </p:sp>
      <p:cxnSp>
        <p:nvCxnSpPr>
          <p:cNvPr id="454" name="Google Shape;454;p27"/>
          <p:cNvCxnSpPr/>
          <p:nvPr/>
        </p:nvCxnSpPr>
        <p:spPr>
          <a:xfrm>
            <a:off x="6582550" y="3607775"/>
            <a:ext cx="6300" cy="5937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28"/>
          <p:cNvSpPr/>
          <p:nvPr/>
        </p:nvSpPr>
        <p:spPr>
          <a:xfrm>
            <a:off x="267469" y="246888"/>
            <a:ext cx="8572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5B60"/>
              </a:buClr>
              <a:buSzPts val="2000"/>
              <a:buFont typeface="Georgia"/>
              <a:buNone/>
            </a:pPr>
            <a:r>
              <a:rPr b="1" lang="en-GB" sz="2000">
                <a:solidFill>
                  <a:srgbClr val="F65B60"/>
                </a:solidFill>
                <a:latin typeface="Georgia"/>
                <a:ea typeface="Georgia"/>
                <a:cs typeface="Georgia"/>
                <a:sym typeface="Georgia"/>
              </a:rPr>
              <a:t>Prewitt</a:t>
            </a:r>
            <a:r>
              <a:rPr b="1" i="0" lang="en-GB" sz="2000" u="none" cap="none" strike="noStrike">
                <a:solidFill>
                  <a:srgbClr val="F65B60"/>
                </a:solidFill>
                <a:latin typeface="Georgia"/>
                <a:ea typeface="Georgia"/>
                <a:cs typeface="Georgia"/>
                <a:sym typeface="Georgia"/>
              </a:rPr>
              <a:t>: Strengths </a:t>
            </a:r>
            <a:r>
              <a:rPr b="1" lang="en-GB" sz="2000">
                <a:solidFill>
                  <a:srgbClr val="F65B60"/>
                </a:solidFill>
                <a:latin typeface="Georgia"/>
                <a:ea typeface="Georgia"/>
                <a:cs typeface="Georgia"/>
                <a:sym typeface="Georgia"/>
              </a:rPr>
              <a:t>&amp;</a:t>
            </a:r>
            <a:r>
              <a:rPr b="1" i="0" lang="en-GB" sz="2000" u="none" cap="none" strike="noStrike">
                <a:solidFill>
                  <a:srgbClr val="F65B60"/>
                </a:solidFill>
                <a:latin typeface="Georgia"/>
                <a:ea typeface="Georgia"/>
                <a:cs typeface="Georgia"/>
                <a:sym typeface="Georgia"/>
              </a:rPr>
              <a:t> Weaknesses</a:t>
            </a:r>
            <a:endParaRPr b="0" i="0" sz="2000" u="none" cap="none" strike="noStrike">
              <a:solidFill>
                <a:schemeClr val="dk1"/>
              </a:solidFill>
              <a:latin typeface="Arial"/>
              <a:ea typeface="Arial"/>
              <a:cs typeface="Arial"/>
              <a:sym typeface="Arial"/>
            </a:endParaRPr>
          </a:p>
        </p:txBody>
      </p:sp>
      <p:sp>
        <p:nvSpPr>
          <p:cNvPr id="461" name="Google Shape;461;p28"/>
          <p:cNvSpPr/>
          <p:nvPr/>
        </p:nvSpPr>
        <p:spPr>
          <a:xfrm>
            <a:off x="593723" y="1063199"/>
            <a:ext cx="3562500" cy="2359500"/>
          </a:xfrm>
          <a:prstGeom prst="roundRect">
            <a:avLst>
              <a:gd fmla="val 4706" name="adj"/>
            </a:avLst>
          </a:prstGeom>
          <a:solidFill>
            <a:srgbClr val="FFFFFF"/>
          </a:solidFill>
          <a:ln cap="flat" cmpd="sng" w="29100">
            <a:solidFill>
              <a:srgbClr val="000000"/>
            </a:solidFill>
            <a:prstDash val="solid"/>
            <a:round/>
            <a:headEnd len="sm" w="sm" type="none"/>
            <a:tailEnd len="sm" w="sm" type="none"/>
          </a:ln>
          <a:effectLst>
            <a:outerShdw blurRad="34273" rotWithShape="0" algn="bl" dir="2700000" dist="68545">
              <a:srgbClr val="999999">
                <a:alpha val="25099"/>
              </a:srgbClr>
            </a:outerShdw>
          </a:effectLst>
        </p:spPr>
        <p:txBody>
          <a:bodyPr anchorCtr="0" anchor="ctr" bIns="92525" lIns="92525" spcFirstLastPara="1" rIns="92525" wrap="square" tIns="92525">
            <a:noAutofit/>
          </a:bodyPr>
          <a:lstStyle/>
          <a:p>
            <a:pPr indent="0" lvl="0" marL="0" rtl="0" algn="l">
              <a:spcBef>
                <a:spcPts val="0"/>
              </a:spcBef>
              <a:spcAft>
                <a:spcPts val="0"/>
              </a:spcAft>
              <a:buNone/>
            </a:pPr>
            <a:r>
              <a:t/>
            </a:r>
            <a:endParaRPr sz="1889">
              <a:latin typeface="Lato"/>
              <a:ea typeface="Lato"/>
              <a:cs typeface="Lato"/>
              <a:sym typeface="Lato"/>
            </a:endParaRPr>
          </a:p>
        </p:txBody>
      </p:sp>
      <p:sp>
        <p:nvSpPr>
          <p:cNvPr id="462" name="Google Shape;462;p28"/>
          <p:cNvSpPr/>
          <p:nvPr/>
        </p:nvSpPr>
        <p:spPr>
          <a:xfrm>
            <a:off x="704770" y="1137228"/>
            <a:ext cx="3340800" cy="22119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chemeClr val="dk1"/>
              </a:buClr>
              <a:buSzPts val="1619"/>
              <a:buFont typeface="Arial"/>
              <a:buNone/>
            </a:pPr>
            <a:r>
              <a:t/>
            </a:r>
            <a:endParaRPr i="0" sz="1619" u="none" cap="none" strike="noStrike">
              <a:solidFill>
                <a:schemeClr val="dk1"/>
              </a:solidFill>
              <a:latin typeface="Lato"/>
              <a:ea typeface="Lato"/>
              <a:cs typeface="Lato"/>
              <a:sym typeface="Lato"/>
            </a:endParaRPr>
          </a:p>
        </p:txBody>
      </p:sp>
      <p:sp>
        <p:nvSpPr>
          <p:cNvPr id="463" name="Google Shape;463;p28"/>
          <p:cNvSpPr/>
          <p:nvPr/>
        </p:nvSpPr>
        <p:spPr>
          <a:xfrm>
            <a:off x="806563" y="1210961"/>
            <a:ext cx="3192600" cy="32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b="1" i="0" lang="en-GB" sz="1619" u="none" cap="none" strike="noStrike">
                <a:solidFill>
                  <a:srgbClr val="5E6A6F"/>
                </a:solidFill>
                <a:latin typeface="Lato"/>
                <a:ea typeface="Lato"/>
                <a:cs typeface="Lato"/>
                <a:sym typeface="Lato"/>
              </a:rPr>
              <a:t>Strengths</a:t>
            </a:r>
            <a:endParaRPr i="0" sz="1619" u="none" cap="none" strike="noStrike">
              <a:solidFill>
                <a:srgbClr val="5E6A6F"/>
              </a:solidFill>
              <a:latin typeface="Lato"/>
              <a:ea typeface="Lato"/>
              <a:cs typeface="Lato"/>
              <a:sym typeface="Lato"/>
            </a:endParaRPr>
          </a:p>
        </p:txBody>
      </p:sp>
      <p:sp>
        <p:nvSpPr>
          <p:cNvPr id="464" name="Google Shape;464;p28"/>
          <p:cNvSpPr/>
          <p:nvPr/>
        </p:nvSpPr>
        <p:spPr>
          <a:xfrm>
            <a:off x="806562" y="1710952"/>
            <a:ext cx="3099900" cy="1434300"/>
          </a:xfrm>
          <a:prstGeom prst="rect">
            <a:avLst/>
          </a:prstGeom>
          <a:noFill/>
          <a:ln>
            <a:noFill/>
          </a:ln>
        </p:spPr>
        <p:txBody>
          <a:bodyPr anchorCtr="0" anchor="ctr" bIns="275" lIns="275" spcFirstLastPara="1" rIns="275" wrap="square" tIns="275">
            <a:noAutofit/>
          </a:bodyPr>
          <a:lstStyle/>
          <a:p>
            <a:pPr indent="0" lvl="0" marL="0" marR="0" rtl="0" algn="l">
              <a:spcBef>
                <a:spcPts val="0"/>
              </a:spcBef>
              <a:spcAft>
                <a:spcPts val="0"/>
              </a:spcAft>
              <a:buClr>
                <a:srgbClr val="5E6A6F"/>
              </a:buClr>
              <a:buSzPts val="1484"/>
              <a:buFont typeface="Arial"/>
              <a:buNone/>
            </a:pPr>
            <a:r>
              <a:rPr lang="en-GB" sz="1484">
                <a:solidFill>
                  <a:srgbClr val="5E6A6F"/>
                </a:solidFill>
                <a:latin typeface="Lato"/>
                <a:ea typeface="Lato"/>
                <a:cs typeface="Lato"/>
                <a:sym typeface="Lato"/>
              </a:rPr>
              <a:t>E</a:t>
            </a:r>
            <a:r>
              <a:rPr i="0" lang="en-GB" sz="1484" cap="none" strike="noStrike">
                <a:solidFill>
                  <a:srgbClr val="5E6A6F"/>
                </a:solidFill>
                <a:latin typeface="Lato"/>
                <a:ea typeface="Lato"/>
                <a:cs typeface="Lato"/>
                <a:sym typeface="Lato"/>
              </a:rPr>
              <a:t>asy to understand and implement.</a:t>
            </a:r>
            <a:endParaRPr i="0" sz="1484" cap="none" strike="noStrike">
              <a:solidFill>
                <a:srgbClr val="5E6A6F"/>
              </a:solidFill>
              <a:latin typeface="Lato"/>
              <a:ea typeface="Lato"/>
              <a:cs typeface="Lato"/>
              <a:sym typeface="Lato"/>
            </a:endParaRPr>
          </a:p>
          <a:p>
            <a:pPr indent="0" lvl="0" marL="0" marR="0" rtl="0" algn="l">
              <a:spcBef>
                <a:spcPts val="0"/>
              </a:spcBef>
              <a:spcAft>
                <a:spcPts val="0"/>
              </a:spcAft>
              <a:buClr>
                <a:srgbClr val="5E6A6F"/>
              </a:buClr>
              <a:buSzPts val="1484"/>
              <a:buFont typeface="Arial"/>
              <a:buNone/>
            </a:pPr>
            <a:r>
              <a:t/>
            </a:r>
            <a:endParaRPr sz="1484">
              <a:solidFill>
                <a:srgbClr val="5E6A6F"/>
              </a:solidFill>
              <a:latin typeface="Lato"/>
              <a:ea typeface="Lato"/>
              <a:cs typeface="Lato"/>
              <a:sym typeface="Lato"/>
            </a:endParaRPr>
          </a:p>
          <a:p>
            <a:pPr indent="0" lvl="0" marL="0" marR="0" rtl="0" algn="l">
              <a:spcBef>
                <a:spcPts val="0"/>
              </a:spcBef>
              <a:spcAft>
                <a:spcPts val="0"/>
              </a:spcAft>
              <a:buClr>
                <a:srgbClr val="5E6A6F"/>
              </a:buClr>
              <a:buSzPts val="1484"/>
              <a:buFont typeface="Arial"/>
              <a:buNone/>
            </a:pPr>
            <a:r>
              <a:rPr lang="en-GB" sz="1484">
                <a:solidFill>
                  <a:srgbClr val="5E6A6F"/>
                </a:solidFill>
                <a:latin typeface="Lato"/>
                <a:ea typeface="Lato"/>
                <a:cs typeface="Lato"/>
                <a:sym typeface="Lato"/>
              </a:rPr>
              <a:t>Computationally light.</a:t>
            </a:r>
            <a:endParaRPr sz="1484">
              <a:solidFill>
                <a:srgbClr val="5E6A6F"/>
              </a:solidFill>
              <a:latin typeface="Lato"/>
              <a:ea typeface="Lato"/>
              <a:cs typeface="Lato"/>
              <a:sym typeface="Lato"/>
            </a:endParaRPr>
          </a:p>
          <a:p>
            <a:pPr indent="0" lvl="0" marL="0" marR="0" rtl="0" algn="l">
              <a:spcBef>
                <a:spcPts val="0"/>
              </a:spcBef>
              <a:spcAft>
                <a:spcPts val="0"/>
              </a:spcAft>
              <a:buClr>
                <a:schemeClr val="dk1"/>
              </a:buClr>
              <a:buSzPts val="1484"/>
              <a:buFont typeface="Arial"/>
              <a:buNone/>
            </a:pPr>
            <a:r>
              <a:t/>
            </a:r>
            <a:endParaRPr i="0" sz="1484" cap="none" strike="noStrike">
              <a:solidFill>
                <a:srgbClr val="5E6A6F"/>
              </a:solidFill>
              <a:latin typeface="Lato"/>
              <a:ea typeface="Lato"/>
              <a:cs typeface="Lato"/>
              <a:sym typeface="Lato"/>
            </a:endParaRPr>
          </a:p>
          <a:p>
            <a:pPr indent="0" lvl="0" marL="0" marR="0" rtl="0" algn="l">
              <a:spcBef>
                <a:spcPts val="0"/>
              </a:spcBef>
              <a:spcAft>
                <a:spcPts val="0"/>
              </a:spcAft>
              <a:buClr>
                <a:srgbClr val="5E6A6F"/>
              </a:buClr>
              <a:buSzPts val="1484"/>
              <a:buFont typeface="Arial"/>
              <a:buNone/>
            </a:pPr>
            <a:r>
              <a:rPr i="0" lang="en-GB" sz="1484" cap="none" strike="noStrike">
                <a:solidFill>
                  <a:srgbClr val="5E6A6F"/>
                </a:solidFill>
                <a:latin typeface="Lato"/>
                <a:ea typeface="Lato"/>
                <a:cs typeface="Lato"/>
                <a:sym typeface="Lato"/>
              </a:rPr>
              <a:t>Works </a:t>
            </a:r>
            <a:r>
              <a:rPr lang="en-GB" sz="1484">
                <a:solidFill>
                  <a:srgbClr val="5E6A6F"/>
                </a:solidFill>
                <a:latin typeface="Lato"/>
                <a:ea typeface="Lato"/>
                <a:cs typeface="Lato"/>
                <a:sym typeface="Lato"/>
              </a:rPr>
              <a:t>best on clean images with clean </a:t>
            </a:r>
            <a:r>
              <a:rPr lang="en-GB" sz="1484">
                <a:solidFill>
                  <a:srgbClr val="5E6A6F"/>
                </a:solidFill>
                <a:latin typeface="Lato"/>
                <a:ea typeface="Lato"/>
                <a:cs typeface="Lato"/>
                <a:sym typeface="Lato"/>
              </a:rPr>
              <a:t>boundaries.</a:t>
            </a:r>
            <a:endParaRPr i="0" sz="1484" cap="none" strike="noStrike">
              <a:solidFill>
                <a:srgbClr val="5E6A6F"/>
              </a:solidFill>
              <a:latin typeface="Lato"/>
              <a:ea typeface="Lato"/>
              <a:cs typeface="Lato"/>
              <a:sym typeface="Lato"/>
            </a:endParaRPr>
          </a:p>
        </p:txBody>
      </p:sp>
      <p:sp>
        <p:nvSpPr>
          <p:cNvPr id="465" name="Google Shape;465;p28"/>
          <p:cNvSpPr/>
          <p:nvPr/>
        </p:nvSpPr>
        <p:spPr>
          <a:xfrm>
            <a:off x="4782452" y="1089878"/>
            <a:ext cx="3613800" cy="2332800"/>
          </a:xfrm>
          <a:prstGeom prst="roundRect">
            <a:avLst>
              <a:gd fmla="val 4706" name="adj"/>
            </a:avLst>
          </a:prstGeom>
          <a:solidFill>
            <a:srgbClr val="F65B60"/>
          </a:solidFill>
          <a:ln cap="flat" cmpd="sng" w="28775">
            <a:solidFill>
              <a:srgbClr val="000000"/>
            </a:solidFill>
            <a:prstDash val="solid"/>
            <a:round/>
            <a:headEnd len="sm" w="sm" type="none"/>
            <a:tailEnd len="sm" w="sm" type="none"/>
          </a:ln>
          <a:effectLst>
            <a:outerShdw blurRad="33884" rotWithShape="0" algn="bl" dir="2700000" dist="67769">
              <a:srgbClr val="999999">
                <a:alpha val="25099"/>
              </a:srgbClr>
            </a:outerShdw>
          </a:effectLst>
        </p:spPr>
        <p:txBody>
          <a:bodyPr anchorCtr="0" anchor="ctr" bIns="91475" lIns="91475" spcFirstLastPara="1" rIns="91475" wrap="square" tIns="91475">
            <a:noAutofit/>
          </a:bodyPr>
          <a:lstStyle/>
          <a:p>
            <a:pPr indent="0" lvl="0" marL="0" rtl="0" algn="l">
              <a:spcBef>
                <a:spcPts val="0"/>
              </a:spcBef>
              <a:spcAft>
                <a:spcPts val="0"/>
              </a:spcAft>
              <a:buNone/>
            </a:pPr>
            <a:r>
              <a:t/>
            </a:r>
            <a:endParaRPr sz="1868">
              <a:latin typeface="Lato"/>
              <a:ea typeface="Lato"/>
              <a:cs typeface="Lato"/>
              <a:sym typeface="Lato"/>
            </a:endParaRPr>
          </a:p>
        </p:txBody>
      </p:sp>
      <p:sp>
        <p:nvSpPr>
          <p:cNvPr id="466" name="Google Shape;466;p28"/>
          <p:cNvSpPr/>
          <p:nvPr/>
        </p:nvSpPr>
        <p:spPr>
          <a:xfrm>
            <a:off x="5002132" y="1200388"/>
            <a:ext cx="3394200" cy="21867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chemeClr val="dk1"/>
              </a:buClr>
              <a:buSzPts val="1601"/>
              <a:buFont typeface="Arial"/>
              <a:buNone/>
            </a:pPr>
            <a:r>
              <a:t/>
            </a:r>
            <a:endParaRPr i="0" sz="1601" u="none" cap="none" strike="noStrike">
              <a:solidFill>
                <a:schemeClr val="dk1"/>
              </a:solidFill>
              <a:latin typeface="Lato"/>
              <a:ea typeface="Lato"/>
              <a:cs typeface="Lato"/>
              <a:sym typeface="Lato"/>
            </a:endParaRPr>
          </a:p>
        </p:txBody>
      </p:sp>
      <p:sp>
        <p:nvSpPr>
          <p:cNvPr id="467" name="Google Shape;467;p28"/>
          <p:cNvSpPr/>
          <p:nvPr/>
        </p:nvSpPr>
        <p:spPr>
          <a:xfrm>
            <a:off x="4956149" y="1200382"/>
            <a:ext cx="3156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1"/>
              <a:buFont typeface="Arial"/>
              <a:buNone/>
            </a:pPr>
            <a:r>
              <a:rPr b="1" i="0" lang="en-GB" sz="1601" u="none" cap="none" strike="noStrike">
                <a:solidFill>
                  <a:schemeClr val="lt1"/>
                </a:solidFill>
                <a:latin typeface="Lato"/>
                <a:ea typeface="Lato"/>
                <a:cs typeface="Lato"/>
                <a:sym typeface="Lato"/>
              </a:rPr>
              <a:t>Limitations / Failure Cases</a:t>
            </a:r>
            <a:endParaRPr i="0" sz="1601" u="none" cap="none" strike="noStrike">
              <a:solidFill>
                <a:schemeClr val="lt1"/>
              </a:solidFill>
              <a:latin typeface="Lato"/>
              <a:ea typeface="Lato"/>
              <a:cs typeface="Lato"/>
              <a:sym typeface="Lato"/>
            </a:endParaRPr>
          </a:p>
        </p:txBody>
      </p:sp>
      <p:sp>
        <p:nvSpPr>
          <p:cNvPr id="468" name="Google Shape;468;p28"/>
          <p:cNvSpPr/>
          <p:nvPr/>
        </p:nvSpPr>
        <p:spPr>
          <a:xfrm>
            <a:off x="5121019" y="1694743"/>
            <a:ext cx="3156600" cy="1417800"/>
          </a:xfrm>
          <a:prstGeom prst="rect">
            <a:avLst/>
          </a:prstGeom>
          <a:noFill/>
          <a:ln>
            <a:noFill/>
          </a:ln>
        </p:spPr>
        <p:txBody>
          <a:bodyPr anchorCtr="0" anchor="ctr" bIns="275" lIns="275" spcFirstLastPara="1" rIns="275" wrap="square" tIns="275">
            <a:noAutofit/>
          </a:bodyPr>
          <a:lstStyle/>
          <a:p>
            <a:pPr indent="0" lvl="0" marL="0" marR="0" rtl="0" algn="l">
              <a:spcBef>
                <a:spcPts val="0"/>
              </a:spcBef>
              <a:spcAft>
                <a:spcPts val="0"/>
              </a:spcAft>
              <a:buClr>
                <a:srgbClr val="000000"/>
              </a:buClr>
              <a:buSzPts val="1467"/>
              <a:buFont typeface="Arial"/>
              <a:buNone/>
            </a:pPr>
            <a:r>
              <a:rPr lang="en-GB" sz="1467">
                <a:solidFill>
                  <a:schemeClr val="lt1"/>
                </a:solidFill>
                <a:latin typeface="Lato"/>
                <a:ea typeface="Lato"/>
                <a:cs typeface="Lato"/>
                <a:sym typeface="Lato"/>
              </a:rPr>
              <a:t>Weak on noisy image and subtle details.</a:t>
            </a:r>
            <a:endParaRPr i="0" sz="1467" u="none" cap="none" strike="noStrike">
              <a:solidFill>
                <a:schemeClr val="lt1"/>
              </a:solidFill>
              <a:latin typeface="Lato"/>
              <a:ea typeface="Lato"/>
              <a:cs typeface="Lato"/>
              <a:sym typeface="Lato"/>
            </a:endParaRPr>
          </a:p>
          <a:p>
            <a:pPr indent="0" lvl="0" marL="0" marR="0" rtl="0" algn="l">
              <a:spcBef>
                <a:spcPts val="0"/>
              </a:spcBef>
              <a:spcAft>
                <a:spcPts val="0"/>
              </a:spcAft>
              <a:buClr>
                <a:schemeClr val="dk1"/>
              </a:buClr>
              <a:buSzPts val="1467"/>
              <a:buFont typeface="Arial"/>
              <a:buNone/>
            </a:pPr>
            <a:r>
              <a:t/>
            </a:r>
            <a:endParaRPr i="0" sz="1467" u="none" cap="none" strike="noStrike">
              <a:solidFill>
                <a:schemeClr val="lt1"/>
              </a:solidFill>
              <a:latin typeface="Lato"/>
              <a:ea typeface="Lato"/>
              <a:cs typeface="Lato"/>
              <a:sym typeface="Lato"/>
            </a:endParaRPr>
          </a:p>
          <a:p>
            <a:pPr indent="0" lvl="0" marL="0" marR="0" rtl="0" algn="l">
              <a:spcBef>
                <a:spcPts val="0"/>
              </a:spcBef>
              <a:spcAft>
                <a:spcPts val="0"/>
              </a:spcAft>
              <a:buClr>
                <a:srgbClr val="000000"/>
              </a:buClr>
              <a:buSzPts val="1467"/>
              <a:buFont typeface="Arial"/>
              <a:buNone/>
            </a:pPr>
            <a:r>
              <a:rPr i="0" lang="en-GB" sz="1467" u="none" cap="none" strike="noStrike">
                <a:solidFill>
                  <a:schemeClr val="lt1"/>
                </a:solidFill>
                <a:latin typeface="Lato"/>
                <a:ea typeface="Lato"/>
                <a:cs typeface="Lato"/>
                <a:sym typeface="Lato"/>
              </a:rPr>
              <a:t>Can miss fine structure and produce </a:t>
            </a:r>
            <a:r>
              <a:rPr lang="en-GB" sz="1467">
                <a:solidFill>
                  <a:schemeClr val="lt1"/>
                </a:solidFill>
                <a:latin typeface="Lato"/>
                <a:ea typeface="Lato"/>
                <a:cs typeface="Lato"/>
                <a:sym typeface="Lato"/>
              </a:rPr>
              <a:t>unstable</a:t>
            </a:r>
            <a:r>
              <a:rPr i="0" lang="en-GB" sz="1467" u="none" cap="none" strike="noStrike">
                <a:solidFill>
                  <a:schemeClr val="lt1"/>
                </a:solidFill>
                <a:latin typeface="Lato"/>
                <a:ea typeface="Lato"/>
                <a:cs typeface="Lato"/>
                <a:sym typeface="Lato"/>
              </a:rPr>
              <a:t> edges.</a:t>
            </a:r>
            <a:endParaRPr i="0" sz="1467" u="none" cap="none" strike="noStrike">
              <a:solidFill>
                <a:schemeClr val="lt1"/>
              </a:solidFill>
              <a:latin typeface="Lato"/>
              <a:ea typeface="Lato"/>
              <a:cs typeface="Lato"/>
              <a:sym typeface="Lato"/>
            </a:endParaRPr>
          </a:p>
        </p:txBody>
      </p:sp>
      <p:sp>
        <p:nvSpPr>
          <p:cNvPr id="469" name="Google Shape;469;p28"/>
          <p:cNvSpPr/>
          <p:nvPr/>
        </p:nvSpPr>
        <p:spPr>
          <a:xfrm>
            <a:off x="0" y="5058000"/>
            <a:ext cx="9144000" cy="85500"/>
          </a:xfrm>
          <a:prstGeom prst="rect">
            <a:avLst/>
          </a:prstGeom>
          <a:solidFill>
            <a:srgbClr val="F65B60"/>
          </a:solidFill>
          <a:ln cap="flat" cmpd="sng" w="12700">
            <a:solidFill>
              <a:srgbClr val="F65B6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9"/>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t>LoG: Laplacian of Gaussian</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LoG: Laplacian of Gaussian and How It Works</a:t>
            </a:r>
            <a:endParaRPr/>
          </a:p>
        </p:txBody>
      </p:sp>
      <p:sp>
        <p:nvSpPr>
          <p:cNvPr id="480" name="Google Shape;48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LoG is a second </a:t>
            </a:r>
            <a:r>
              <a:rPr lang="en-GB"/>
              <a:t>derivative</a:t>
            </a:r>
            <a:r>
              <a:rPr lang="en-GB"/>
              <a:t> method:</a:t>
            </a:r>
            <a:endParaRPr/>
          </a:p>
          <a:p>
            <a:pPr indent="0" lvl="0" marL="0" rtl="0" algn="l">
              <a:spcBef>
                <a:spcPts val="1200"/>
              </a:spcBef>
              <a:spcAft>
                <a:spcPts val="0"/>
              </a:spcAft>
              <a:buNone/>
            </a:pPr>
            <a:r>
              <a:rPr lang="en-GB"/>
              <a:t>First it smooths the image with a Gaussian filter.</a:t>
            </a:r>
            <a:endParaRPr/>
          </a:p>
          <a:p>
            <a:pPr indent="0" lvl="0" marL="0" rtl="0" algn="l">
              <a:spcBef>
                <a:spcPts val="1200"/>
              </a:spcBef>
              <a:spcAft>
                <a:spcPts val="0"/>
              </a:spcAft>
              <a:buNone/>
            </a:pPr>
            <a:r>
              <a:rPr lang="en-GB"/>
              <a:t>It then applies the Laplacian, which measures second-order intensity change.</a:t>
            </a:r>
            <a:endParaRPr/>
          </a:p>
          <a:p>
            <a:pPr indent="0" lvl="0" marL="0" rtl="0" algn="l">
              <a:spcBef>
                <a:spcPts val="1200"/>
              </a:spcBef>
              <a:spcAft>
                <a:spcPts val="0"/>
              </a:spcAft>
              <a:buNone/>
            </a:pPr>
            <a:r>
              <a:rPr lang="en-GB"/>
              <a:t>Edges are detected where the filtered response crosses zero.</a:t>
            </a:r>
            <a:endParaRPr/>
          </a:p>
          <a:p>
            <a:pPr indent="0" lvl="0" marL="0" rtl="0" algn="l">
              <a:spcBef>
                <a:spcPts val="1200"/>
              </a:spcBef>
              <a:spcAft>
                <a:spcPts val="1200"/>
              </a:spcAft>
              <a:buNone/>
            </a:pPr>
            <a:r>
              <a:rPr lang="en-GB"/>
              <a:t>This differs from Sobel/Prewitt, which look for large first-order gradients.</a:t>
            </a:r>
            <a:endParaRPr/>
          </a:p>
        </p:txBody>
      </p:sp>
      <p:sp>
        <p:nvSpPr>
          <p:cNvPr id="481" name="Google Shape;481;p30"/>
          <p:cNvSpPr/>
          <p:nvPr/>
        </p:nvSpPr>
        <p:spPr>
          <a:xfrm>
            <a:off x="982290" y="1336495"/>
            <a:ext cx="1143000" cy="777300"/>
          </a:xfrm>
          <a:prstGeom prst="roundRect">
            <a:avLst>
              <a:gd fmla="val 16667"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latin typeface="Arial"/>
                <a:ea typeface="Arial"/>
                <a:cs typeface="Arial"/>
                <a:sym typeface="Arial"/>
              </a:rPr>
              <a:t>Input image</a:t>
            </a:r>
            <a:endParaRPr/>
          </a:p>
        </p:txBody>
      </p:sp>
      <p:cxnSp>
        <p:nvCxnSpPr>
          <p:cNvPr id="482" name="Google Shape;482;p30"/>
          <p:cNvCxnSpPr/>
          <p:nvPr/>
        </p:nvCxnSpPr>
        <p:spPr>
          <a:xfrm>
            <a:off x="2125290" y="1729687"/>
            <a:ext cx="274200" cy="0"/>
          </a:xfrm>
          <a:prstGeom prst="straightConnector1">
            <a:avLst/>
          </a:prstGeom>
          <a:noFill/>
          <a:ln cap="flat" cmpd="sng" w="25400">
            <a:solidFill>
              <a:srgbClr val="000000"/>
            </a:solidFill>
            <a:prstDash val="solid"/>
            <a:round/>
            <a:headEnd len="sm" w="sm" type="none"/>
            <a:tailEnd len="sm" w="sm" type="none"/>
          </a:ln>
          <a:effectLst>
            <a:outerShdw blurRad="40000" rotWithShape="0" dir="5400000" dist="20000">
              <a:srgbClr val="000000">
                <a:alpha val="38040"/>
              </a:srgbClr>
            </a:outerShdw>
          </a:effectLst>
        </p:spPr>
      </p:cxnSp>
      <p:sp>
        <p:nvSpPr>
          <p:cNvPr id="483" name="Google Shape;483;p30"/>
          <p:cNvSpPr/>
          <p:nvPr/>
        </p:nvSpPr>
        <p:spPr>
          <a:xfrm>
            <a:off x="2399610" y="1336495"/>
            <a:ext cx="1143000" cy="777300"/>
          </a:xfrm>
          <a:prstGeom prst="roundRect">
            <a:avLst>
              <a:gd fmla="val 16667" name="adj"/>
            </a:avLst>
          </a:prstGeom>
          <a:solidFill>
            <a:schemeClr val="dk1"/>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latin typeface="Arial"/>
                <a:ea typeface="Arial"/>
                <a:cs typeface="Arial"/>
                <a:sym typeface="Arial"/>
              </a:rPr>
              <a:t>Gaussian smoothing</a:t>
            </a:r>
            <a:endParaRPr/>
          </a:p>
        </p:txBody>
      </p:sp>
      <p:cxnSp>
        <p:nvCxnSpPr>
          <p:cNvPr id="484" name="Google Shape;484;p30"/>
          <p:cNvCxnSpPr/>
          <p:nvPr/>
        </p:nvCxnSpPr>
        <p:spPr>
          <a:xfrm>
            <a:off x="3542610" y="1729687"/>
            <a:ext cx="411600" cy="0"/>
          </a:xfrm>
          <a:prstGeom prst="straightConnector1">
            <a:avLst/>
          </a:prstGeom>
          <a:noFill/>
          <a:ln cap="flat" cmpd="sng" w="25400">
            <a:solidFill>
              <a:srgbClr val="000000"/>
            </a:solidFill>
            <a:prstDash val="solid"/>
            <a:round/>
            <a:headEnd len="sm" w="sm" type="none"/>
            <a:tailEnd len="sm" w="sm" type="none"/>
          </a:ln>
          <a:effectLst>
            <a:outerShdw blurRad="40000" rotWithShape="0" dir="5400000" dist="20000">
              <a:srgbClr val="000000">
                <a:alpha val="38040"/>
              </a:srgbClr>
            </a:outerShdw>
          </a:effectLst>
        </p:spPr>
      </p:cxnSp>
      <p:sp>
        <p:nvSpPr>
          <p:cNvPr id="485" name="Google Shape;485;p30"/>
          <p:cNvSpPr/>
          <p:nvPr/>
        </p:nvSpPr>
        <p:spPr>
          <a:xfrm>
            <a:off x="3954090" y="1336495"/>
            <a:ext cx="1143000" cy="777300"/>
          </a:xfrm>
          <a:prstGeom prst="roundRect">
            <a:avLst>
              <a:gd fmla="val 16667" name="adj"/>
            </a:avLst>
          </a:prstGeom>
          <a:solidFill>
            <a:schemeClr val="dk1"/>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latin typeface="Arial"/>
                <a:ea typeface="Arial"/>
                <a:cs typeface="Arial"/>
                <a:sym typeface="Arial"/>
              </a:rPr>
              <a:t>Laplacian filter</a:t>
            </a:r>
            <a:endParaRPr/>
          </a:p>
        </p:txBody>
      </p:sp>
      <p:cxnSp>
        <p:nvCxnSpPr>
          <p:cNvPr id="486" name="Google Shape;486;p30"/>
          <p:cNvCxnSpPr/>
          <p:nvPr/>
        </p:nvCxnSpPr>
        <p:spPr>
          <a:xfrm>
            <a:off x="5097090" y="1729687"/>
            <a:ext cx="274200" cy="0"/>
          </a:xfrm>
          <a:prstGeom prst="straightConnector1">
            <a:avLst/>
          </a:prstGeom>
          <a:noFill/>
          <a:ln cap="flat" cmpd="sng" w="25400">
            <a:solidFill>
              <a:srgbClr val="000000"/>
            </a:solidFill>
            <a:prstDash val="solid"/>
            <a:round/>
            <a:headEnd len="sm" w="sm" type="none"/>
            <a:tailEnd len="sm" w="sm" type="none"/>
          </a:ln>
          <a:effectLst>
            <a:outerShdw blurRad="40000" rotWithShape="0" dir="5400000" dist="20000">
              <a:srgbClr val="000000">
                <a:alpha val="38040"/>
              </a:srgbClr>
            </a:outerShdw>
          </a:effectLst>
        </p:spPr>
      </p:cxnSp>
      <p:sp>
        <p:nvSpPr>
          <p:cNvPr id="487" name="Google Shape;487;p30"/>
          <p:cNvSpPr/>
          <p:nvPr/>
        </p:nvSpPr>
        <p:spPr>
          <a:xfrm>
            <a:off x="5371398" y="1336500"/>
            <a:ext cx="1418700" cy="777300"/>
          </a:xfrm>
          <a:prstGeom prst="roundRect">
            <a:avLst>
              <a:gd fmla="val 16667" name="adj"/>
            </a:avLst>
          </a:prstGeom>
          <a:solidFill>
            <a:schemeClr val="dk1"/>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latin typeface="Arial"/>
                <a:ea typeface="Arial"/>
                <a:cs typeface="Arial"/>
                <a:sym typeface="Arial"/>
              </a:rPr>
              <a:t>Zero-crossings</a:t>
            </a:r>
            <a:endParaRPr/>
          </a:p>
        </p:txBody>
      </p:sp>
      <p:cxnSp>
        <p:nvCxnSpPr>
          <p:cNvPr id="488" name="Google Shape;488;p30"/>
          <p:cNvCxnSpPr/>
          <p:nvPr/>
        </p:nvCxnSpPr>
        <p:spPr>
          <a:xfrm>
            <a:off x="6790110" y="1729687"/>
            <a:ext cx="228600" cy="0"/>
          </a:xfrm>
          <a:prstGeom prst="straightConnector1">
            <a:avLst/>
          </a:prstGeom>
          <a:noFill/>
          <a:ln cap="flat" cmpd="sng" w="25400">
            <a:solidFill>
              <a:srgbClr val="000000"/>
            </a:solidFill>
            <a:prstDash val="solid"/>
            <a:round/>
            <a:headEnd len="sm" w="sm" type="none"/>
            <a:tailEnd len="sm" w="sm" type="none"/>
          </a:ln>
          <a:effectLst>
            <a:outerShdw blurRad="40000" rotWithShape="0" dir="5400000" dist="20000">
              <a:srgbClr val="000000">
                <a:alpha val="38040"/>
              </a:srgbClr>
            </a:outerShdw>
          </a:effectLst>
        </p:spPr>
      </p:cxnSp>
      <p:sp>
        <p:nvSpPr>
          <p:cNvPr id="489" name="Google Shape;489;p30"/>
          <p:cNvSpPr/>
          <p:nvPr/>
        </p:nvSpPr>
        <p:spPr>
          <a:xfrm>
            <a:off x="7018710" y="1341020"/>
            <a:ext cx="1143000" cy="777300"/>
          </a:xfrm>
          <a:prstGeom prst="roundRect">
            <a:avLst>
              <a:gd fmla="val 16667"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latin typeface="Arial"/>
                <a:ea typeface="Arial"/>
                <a:cs typeface="Arial"/>
                <a:sym typeface="Arial"/>
              </a:rPr>
              <a:t>Edge map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LoG: Technical Method </a:t>
            </a:r>
            <a:endParaRPr/>
          </a:p>
          <a:p>
            <a:pPr indent="0" lvl="0" marL="0" rtl="0" algn="l">
              <a:spcBef>
                <a:spcPts val="0"/>
              </a:spcBef>
              <a:spcAft>
                <a:spcPts val="0"/>
              </a:spcAft>
              <a:buNone/>
            </a:pPr>
            <a:r>
              <a:t/>
            </a:r>
            <a:endParaRPr/>
          </a:p>
        </p:txBody>
      </p:sp>
      <p:sp>
        <p:nvSpPr>
          <p:cNvPr id="495" name="Google Shape;495;p31"/>
          <p:cNvSpPr txBox="1"/>
          <p:nvPr>
            <p:ph idx="1" type="body"/>
          </p:nvPr>
        </p:nvSpPr>
        <p:spPr>
          <a:xfrm>
            <a:off x="311700" y="1114875"/>
            <a:ext cx="7524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Applying </a:t>
            </a:r>
            <a:r>
              <a:rPr lang="en-GB"/>
              <a:t>Laplacian to a Gaussian-smoothed image utilises the second </a:t>
            </a:r>
            <a:r>
              <a:rPr lang="en-GB"/>
              <a:t>derivative, as seen</a:t>
            </a:r>
            <a:r>
              <a:rPr lang="en-GB"/>
              <a:t> in the the formula:</a:t>
            </a:r>
            <a:endParaRPr/>
          </a:p>
          <a:p>
            <a:pPr indent="0" lvl="0" marL="0" marR="0" rtl="0" algn="l">
              <a:lnSpc>
                <a:spcPct val="115000"/>
              </a:lnSpc>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σ controls the amount of smoothing</a:t>
            </a:r>
            <a:endParaRPr/>
          </a:p>
          <a:p>
            <a:pPr indent="0" lvl="0" marL="0" rtl="0" algn="l">
              <a:spcBef>
                <a:spcPts val="1200"/>
              </a:spcBef>
              <a:spcAft>
                <a:spcPts val="0"/>
              </a:spcAft>
              <a:buNone/>
            </a:pPr>
            <a:r>
              <a:rPr lang="en-GB"/>
              <a:t>larger σ = more smoothing, less detail and cleaner edges</a:t>
            </a:r>
            <a:endParaRPr/>
          </a:p>
          <a:p>
            <a:pPr indent="0" lvl="0" marL="0" rtl="0" algn="l">
              <a:spcBef>
                <a:spcPts val="1200"/>
              </a:spcBef>
              <a:spcAft>
                <a:spcPts val="1200"/>
              </a:spcAft>
              <a:buNone/>
            </a:pPr>
            <a:r>
              <a:rPr lang="en-GB"/>
              <a:t>smaller σ  = less smoothing, more detail and more noise</a:t>
            </a:r>
            <a:endParaRPr/>
          </a:p>
        </p:txBody>
      </p:sp>
      <p:pic>
        <p:nvPicPr>
          <p:cNvPr id="496" name="Google Shape;496;p31"/>
          <p:cNvPicPr preferRelativeResize="0"/>
          <p:nvPr/>
        </p:nvPicPr>
        <p:blipFill>
          <a:blip r:embed="rId3">
            <a:alphaModFix/>
          </a:blip>
          <a:stretch>
            <a:fillRect/>
          </a:stretch>
        </p:blipFill>
        <p:spPr>
          <a:xfrm>
            <a:off x="2950329" y="2043350"/>
            <a:ext cx="2247650" cy="528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LoG: Interpreting Results</a:t>
            </a:r>
            <a:endParaRPr/>
          </a:p>
          <a:p>
            <a:pPr indent="0" lvl="0" marL="0" rtl="0" algn="l">
              <a:spcBef>
                <a:spcPts val="0"/>
              </a:spcBef>
              <a:spcAft>
                <a:spcPts val="0"/>
              </a:spcAft>
              <a:buNone/>
            </a:pPr>
            <a:r>
              <a:t/>
            </a:r>
            <a:endParaRPr/>
          </a:p>
        </p:txBody>
      </p:sp>
      <p:sp>
        <p:nvSpPr>
          <p:cNvPr id="502" name="Google Shape;502;p32"/>
          <p:cNvSpPr txBox="1"/>
          <p:nvPr>
            <p:ph idx="1" type="body"/>
          </p:nvPr>
        </p:nvSpPr>
        <p:spPr>
          <a:xfrm>
            <a:off x="5651500" y="1152475"/>
            <a:ext cx="3003300" cy="3416400"/>
          </a:xfrm>
          <a:prstGeom prst="rect">
            <a:avLst/>
          </a:prstGeom>
        </p:spPr>
        <p:txBody>
          <a:bodyPr anchorCtr="0" anchor="t" bIns="91425" lIns="91425" spcFirstLastPara="1" rIns="91425" wrap="square" tIns="91425">
            <a:normAutofit fontScale="85000" lnSpcReduction="10000"/>
          </a:bodyPr>
          <a:lstStyle/>
          <a:p>
            <a:pPr indent="0" lvl="0" marL="0" marR="0" rtl="0" algn="l">
              <a:lnSpc>
                <a:spcPct val="115000"/>
              </a:lnSpc>
              <a:spcBef>
                <a:spcPts val="0"/>
              </a:spcBef>
              <a:spcAft>
                <a:spcPts val="0"/>
              </a:spcAft>
              <a:buNone/>
            </a:pPr>
            <a:r>
              <a:rPr lang="en-GB"/>
              <a:t>Blue = original image intensity profile.</a:t>
            </a:r>
            <a:endParaRPr/>
          </a:p>
          <a:p>
            <a:pPr indent="0" lvl="0" marL="0" marR="0" rtl="0" algn="l">
              <a:lnSpc>
                <a:spcPct val="115000"/>
              </a:lnSpc>
              <a:spcBef>
                <a:spcPts val="1200"/>
              </a:spcBef>
              <a:spcAft>
                <a:spcPts val="0"/>
              </a:spcAft>
              <a:buNone/>
            </a:pPr>
            <a:r>
              <a:rPr lang="en-GB"/>
              <a:t>Green = result after Gaussian smoothing + Laplacian filtering.</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LoG does not look for the highest gradient peak, unlike for instance Sobel, instead it looks for where the second derivative changes sign, meaning that the edge is detected at 0.</a:t>
            </a:r>
            <a:endParaRPr/>
          </a:p>
        </p:txBody>
      </p:sp>
      <p:pic>
        <p:nvPicPr>
          <p:cNvPr id="503" name="Google Shape;503;p32"/>
          <p:cNvPicPr preferRelativeResize="0"/>
          <p:nvPr/>
        </p:nvPicPr>
        <p:blipFill>
          <a:blip r:embed="rId3">
            <a:alphaModFix/>
          </a:blip>
          <a:stretch>
            <a:fillRect/>
          </a:stretch>
        </p:blipFill>
        <p:spPr>
          <a:xfrm>
            <a:off x="520194" y="1379475"/>
            <a:ext cx="5131307" cy="3189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LoG: Strengths and Weaknesses</a:t>
            </a:r>
            <a:endParaRPr/>
          </a:p>
        </p:txBody>
      </p:sp>
      <p:sp>
        <p:nvSpPr>
          <p:cNvPr id="509" name="Google Shape;509;p33"/>
          <p:cNvSpPr/>
          <p:nvPr/>
        </p:nvSpPr>
        <p:spPr>
          <a:xfrm>
            <a:off x="220317" y="1508670"/>
            <a:ext cx="3885300" cy="2642700"/>
          </a:xfrm>
          <a:prstGeom prst="roundRect">
            <a:avLst>
              <a:gd fmla="val 16667" name="adj"/>
            </a:avLst>
          </a:prstGeom>
          <a:solidFill>
            <a:srgbClr val="FFFFFF"/>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1769"/>
          </a:p>
        </p:txBody>
      </p:sp>
      <p:sp>
        <p:nvSpPr>
          <p:cNvPr id="510" name="Google Shape;510;p33"/>
          <p:cNvSpPr txBox="1"/>
          <p:nvPr>
            <p:ph idx="1" type="body"/>
          </p:nvPr>
        </p:nvSpPr>
        <p:spPr>
          <a:xfrm>
            <a:off x="220325" y="1158875"/>
            <a:ext cx="4001700" cy="2821200"/>
          </a:xfrm>
          <a:prstGeom prst="rect">
            <a:avLst/>
          </a:prstGeom>
        </p:spPr>
        <p:txBody>
          <a:bodyPr anchorCtr="0" anchor="t" bIns="107800" lIns="107800" spcFirstLastPara="1" rIns="107800" wrap="square" tIns="107800">
            <a:normAutofit lnSpcReduction="20000"/>
          </a:bodyPr>
          <a:lstStyle/>
          <a:p>
            <a:pPr indent="0" lvl="0" marL="0" rtl="0" algn="l">
              <a:spcBef>
                <a:spcPts val="0"/>
              </a:spcBef>
              <a:spcAft>
                <a:spcPts val="0"/>
              </a:spcAft>
              <a:buNone/>
            </a:pPr>
            <a:r>
              <a:t/>
            </a:r>
            <a:endParaRPr sz="2122"/>
          </a:p>
          <a:p>
            <a:pPr indent="0" lvl="0" marL="0" rtl="0" algn="ctr">
              <a:spcBef>
                <a:spcPts val="1415"/>
              </a:spcBef>
              <a:spcAft>
                <a:spcPts val="0"/>
              </a:spcAft>
              <a:buNone/>
            </a:pPr>
            <a:r>
              <a:rPr b="1" lang="en-GB" sz="2122">
                <a:solidFill>
                  <a:srgbClr val="000000"/>
                </a:solidFill>
              </a:rPr>
              <a:t>Strengths</a:t>
            </a:r>
            <a:endParaRPr b="1" sz="2122">
              <a:solidFill>
                <a:srgbClr val="000000"/>
              </a:solidFill>
            </a:endParaRPr>
          </a:p>
          <a:p>
            <a:pPr indent="0" lvl="0" marL="0" rtl="0" algn="l">
              <a:spcBef>
                <a:spcPts val="1415"/>
              </a:spcBef>
              <a:spcAft>
                <a:spcPts val="0"/>
              </a:spcAft>
              <a:buNone/>
            </a:pPr>
            <a:r>
              <a:rPr lang="en-GB">
                <a:solidFill>
                  <a:srgbClr val="000000"/>
                </a:solidFill>
              </a:rPr>
              <a:t>Rotationally symmetric, so it does not favour only horizontal or vertical edges.</a:t>
            </a:r>
            <a:endParaRPr>
              <a:solidFill>
                <a:srgbClr val="000000"/>
              </a:solidFill>
            </a:endParaRPr>
          </a:p>
          <a:p>
            <a:pPr indent="0" lvl="0" marL="0" marR="0" rtl="0" algn="l">
              <a:lnSpc>
                <a:spcPct val="115000"/>
              </a:lnSpc>
              <a:spcBef>
                <a:spcPts val="1415"/>
              </a:spcBef>
              <a:spcAft>
                <a:spcPts val="1415"/>
              </a:spcAft>
              <a:buNone/>
            </a:pPr>
            <a:r>
              <a:rPr lang="en-GB">
                <a:solidFill>
                  <a:srgbClr val="000000"/>
                </a:solidFill>
              </a:rPr>
              <a:t>Able to detect contours clearly using zero-crossings.</a:t>
            </a:r>
            <a:endParaRPr>
              <a:solidFill>
                <a:srgbClr val="000000"/>
              </a:solidFill>
            </a:endParaRPr>
          </a:p>
        </p:txBody>
      </p:sp>
      <p:sp>
        <p:nvSpPr>
          <p:cNvPr id="511" name="Google Shape;511;p33"/>
          <p:cNvSpPr/>
          <p:nvPr/>
        </p:nvSpPr>
        <p:spPr>
          <a:xfrm>
            <a:off x="5038364" y="1508670"/>
            <a:ext cx="3885300" cy="2642700"/>
          </a:xfrm>
          <a:prstGeom prst="roundRect">
            <a:avLst>
              <a:gd fmla="val 16667" name="adj"/>
            </a:avLst>
          </a:prstGeom>
          <a:solidFill>
            <a:schemeClr val="dk1"/>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4759"/>
          </a:p>
        </p:txBody>
      </p:sp>
      <p:sp>
        <p:nvSpPr>
          <p:cNvPr id="512" name="Google Shape;512;p33"/>
          <p:cNvSpPr txBox="1"/>
          <p:nvPr>
            <p:ph idx="1" type="body"/>
          </p:nvPr>
        </p:nvSpPr>
        <p:spPr>
          <a:xfrm>
            <a:off x="5038375" y="1158875"/>
            <a:ext cx="4001700" cy="2821200"/>
          </a:xfrm>
          <a:prstGeom prst="rect">
            <a:avLst/>
          </a:prstGeom>
        </p:spPr>
        <p:txBody>
          <a:bodyPr anchorCtr="0" anchor="t" bIns="107800" lIns="107800" spcFirstLastPara="1" rIns="107800" wrap="square" tIns="107800">
            <a:normAutofit lnSpcReduction="10000"/>
          </a:bodyPr>
          <a:lstStyle/>
          <a:p>
            <a:pPr indent="0" lvl="0" marL="0" rtl="0" algn="l">
              <a:spcBef>
                <a:spcPts val="0"/>
              </a:spcBef>
              <a:spcAft>
                <a:spcPts val="0"/>
              </a:spcAft>
              <a:buNone/>
            </a:pPr>
            <a:r>
              <a:t/>
            </a:r>
            <a:endParaRPr sz="2122"/>
          </a:p>
          <a:p>
            <a:pPr indent="0" lvl="0" marL="0" rtl="0" algn="ctr">
              <a:spcBef>
                <a:spcPts val="1415"/>
              </a:spcBef>
              <a:spcAft>
                <a:spcPts val="0"/>
              </a:spcAft>
              <a:buNone/>
            </a:pPr>
            <a:r>
              <a:rPr b="1" lang="en-GB">
                <a:solidFill>
                  <a:srgbClr val="000000"/>
                </a:solidFill>
              </a:rPr>
              <a:t>Limitations / Failure Cases</a:t>
            </a:r>
            <a:endParaRPr b="1">
              <a:solidFill>
                <a:srgbClr val="000000"/>
              </a:solidFill>
            </a:endParaRPr>
          </a:p>
          <a:p>
            <a:pPr indent="0" lvl="0" marL="0" marR="0" rtl="0" algn="l">
              <a:lnSpc>
                <a:spcPct val="115000"/>
              </a:lnSpc>
              <a:spcBef>
                <a:spcPts val="1415"/>
              </a:spcBef>
              <a:spcAft>
                <a:spcPts val="0"/>
              </a:spcAft>
              <a:buNone/>
            </a:pPr>
            <a:r>
              <a:rPr lang="en-GB" sz="1700">
                <a:solidFill>
                  <a:srgbClr val="000000"/>
                </a:solidFill>
              </a:rPr>
              <a:t>D</a:t>
            </a:r>
            <a:r>
              <a:rPr lang="en-GB" sz="1700">
                <a:solidFill>
                  <a:srgbClr val="000000"/>
                </a:solidFill>
              </a:rPr>
              <a:t>ue to using the 2nd derivative, d</a:t>
            </a:r>
            <a:r>
              <a:rPr lang="en-GB" sz="1700">
                <a:solidFill>
                  <a:srgbClr val="000000"/>
                </a:solidFill>
              </a:rPr>
              <a:t>oes not directly give edge orientation like Sobel or Prewitt</a:t>
            </a:r>
            <a:endParaRPr sz="1700">
              <a:solidFill>
                <a:srgbClr val="000000"/>
              </a:solidFill>
            </a:endParaRPr>
          </a:p>
          <a:p>
            <a:pPr indent="0" lvl="0" marL="0" marR="0" rtl="0" algn="l">
              <a:lnSpc>
                <a:spcPct val="115000"/>
              </a:lnSpc>
              <a:spcBef>
                <a:spcPts val="1415"/>
              </a:spcBef>
              <a:spcAft>
                <a:spcPts val="1415"/>
              </a:spcAft>
              <a:buNone/>
            </a:pPr>
            <a:r>
              <a:rPr lang="en-GB" sz="1700">
                <a:solidFill>
                  <a:srgbClr val="000000"/>
                </a:solidFill>
              </a:rPr>
              <a:t>Sensitive to Gaussian scale and thresholding choices.</a:t>
            </a:r>
            <a:endParaRPr sz="170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4"/>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t>Canny</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Canny: Multi-Stage Edge Detection</a:t>
            </a:r>
            <a:endParaRPr/>
          </a:p>
        </p:txBody>
      </p:sp>
      <p:sp>
        <p:nvSpPr>
          <p:cNvPr id="523" name="Google Shape;523;p35"/>
          <p:cNvSpPr/>
          <p:nvPr/>
        </p:nvSpPr>
        <p:spPr>
          <a:xfrm>
            <a:off x="982290" y="1336495"/>
            <a:ext cx="1143000" cy="777300"/>
          </a:xfrm>
          <a:prstGeom prst="roundRect">
            <a:avLst>
              <a:gd fmla="val 16667"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latin typeface="Arial"/>
                <a:ea typeface="Arial"/>
                <a:cs typeface="Arial"/>
                <a:sym typeface="Arial"/>
              </a:rPr>
              <a:t>Input image</a:t>
            </a:r>
            <a:endParaRPr/>
          </a:p>
        </p:txBody>
      </p:sp>
      <p:cxnSp>
        <p:nvCxnSpPr>
          <p:cNvPr id="524" name="Google Shape;524;p35"/>
          <p:cNvCxnSpPr/>
          <p:nvPr/>
        </p:nvCxnSpPr>
        <p:spPr>
          <a:xfrm>
            <a:off x="2125290" y="1729687"/>
            <a:ext cx="274200" cy="0"/>
          </a:xfrm>
          <a:prstGeom prst="straightConnector1">
            <a:avLst/>
          </a:prstGeom>
          <a:noFill/>
          <a:ln cap="flat" cmpd="sng" w="25400">
            <a:solidFill>
              <a:srgbClr val="000000"/>
            </a:solidFill>
            <a:prstDash val="solid"/>
            <a:round/>
            <a:headEnd len="sm" w="sm" type="none"/>
            <a:tailEnd len="sm" w="sm" type="none"/>
          </a:ln>
          <a:effectLst>
            <a:outerShdw blurRad="40000" rotWithShape="0" dir="5400000" dist="20000">
              <a:srgbClr val="000000">
                <a:alpha val="38040"/>
              </a:srgbClr>
            </a:outerShdw>
          </a:effectLst>
        </p:spPr>
      </p:cxnSp>
      <p:sp>
        <p:nvSpPr>
          <p:cNvPr id="525" name="Google Shape;525;p35"/>
          <p:cNvSpPr/>
          <p:nvPr/>
        </p:nvSpPr>
        <p:spPr>
          <a:xfrm>
            <a:off x="2399610" y="1336495"/>
            <a:ext cx="1143000" cy="777300"/>
          </a:xfrm>
          <a:prstGeom prst="roundRect">
            <a:avLst>
              <a:gd fmla="val 16667" name="adj"/>
            </a:avLst>
          </a:prstGeom>
          <a:solidFill>
            <a:schemeClr val="dk1"/>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latin typeface="Arial"/>
                <a:ea typeface="Arial"/>
                <a:cs typeface="Arial"/>
                <a:sym typeface="Arial"/>
              </a:rPr>
              <a:t>Gaussian smoothing</a:t>
            </a:r>
            <a:endParaRPr/>
          </a:p>
        </p:txBody>
      </p:sp>
      <p:cxnSp>
        <p:nvCxnSpPr>
          <p:cNvPr id="526" name="Google Shape;526;p35"/>
          <p:cNvCxnSpPr/>
          <p:nvPr/>
        </p:nvCxnSpPr>
        <p:spPr>
          <a:xfrm>
            <a:off x="3542610" y="1729687"/>
            <a:ext cx="411600" cy="0"/>
          </a:xfrm>
          <a:prstGeom prst="straightConnector1">
            <a:avLst/>
          </a:prstGeom>
          <a:noFill/>
          <a:ln cap="flat" cmpd="sng" w="25400">
            <a:solidFill>
              <a:srgbClr val="000000"/>
            </a:solidFill>
            <a:prstDash val="solid"/>
            <a:round/>
            <a:headEnd len="sm" w="sm" type="none"/>
            <a:tailEnd len="sm" w="sm" type="none"/>
          </a:ln>
          <a:effectLst>
            <a:outerShdw blurRad="40000" rotWithShape="0" dir="5400000" dist="20000">
              <a:srgbClr val="000000">
                <a:alpha val="38040"/>
              </a:srgbClr>
            </a:outerShdw>
          </a:effectLst>
        </p:spPr>
      </p:cxnSp>
      <p:sp>
        <p:nvSpPr>
          <p:cNvPr id="527" name="Google Shape;527;p35"/>
          <p:cNvSpPr/>
          <p:nvPr/>
        </p:nvSpPr>
        <p:spPr>
          <a:xfrm>
            <a:off x="3954090" y="1336495"/>
            <a:ext cx="1143000" cy="777300"/>
          </a:xfrm>
          <a:prstGeom prst="roundRect">
            <a:avLst>
              <a:gd fmla="val 16667" name="adj"/>
            </a:avLst>
          </a:prstGeom>
          <a:solidFill>
            <a:schemeClr val="dk1"/>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rPr>
              <a:t>Gradient Calculation</a:t>
            </a:r>
            <a:endParaRPr/>
          </a:p>
        </p:txBody>
      </p:sp>
      <p:cxnSp>
        <p:nvCxnSpPr>
          <p:cNvPr id="528" name="Google Shape;528;p35"/>
          <p:cNvCxnSpPr/>
          <p:nvPr/>
        </p:nvCxnSpPr>
        <p:spPr>
          <a:xfrm>
            <a:off x="5097090" y="1729687"/>
            <a:ext cx="274200" cy="0"/>
          </a:xfrm>
          <a:prstGeom prst="straightConnector1">
            <a:avLst/>
          </a:prstGeom>
          <a:noFill/>
          <a:ln cap="flat" cmpd="sng" w="25400">
            <a:solidFill>
              <a:srgbClr val="000000"/>
            </a:solidFill>
            <a:prstDash val="solid"/>
            <a:round/>
            <a:headEnd len="sm" w="sm" type="none"/>
            <a:tailEnd len="sm" w="sm" type="none"/>
          </a:ln>
          <a:effectLst>
            <a:outerShdw blurRad="40000" rotWithShape="0" dir="5400000" dist="20000">
              <a:srgbClr val="000000">
                <a:alpha val="38040"/>
              </a:srgbClr>
            </a:outerShdw>
          </a:effectLst>
        </p:spPr>
      </p:cxnSp>
      <p:sp>
        <p:nvSpPr>
          <p:cNvPr id="529" name="Google Shape;529;p35"/>
          <p:cNvSpPr/>
          <p:nvPr/>
        </p:nvSpPr>
        <p:spPr>
          <a:xfrm>
            <a:off x="5371398" y="1336500"/>
            <a:ext cx="1418700" cy="777300"/>
          </a:xfrm>
          <a:prstGeom prst="roundRect">
            <a:avLst>
              <a:gd fmla="val 16667" name="adj"/>
            </a:avLst>
          </a:prstGeom>
          <a:solidFill>
            <a:schemeClr val="dk1"/>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rPr>
              <a:t>Non-Maximum S</a:t>
            </a:r>
            <a:r>
              <a:rPr b="1" lang="en-GB" sz="1150">
                <a:solidFill>
                  <a:srgbClr val="212529"/>
                </a:solidFill>
              </a:rPr>
              <a:t>uppression</a:t>
            </a:r>
            <a:endParaRPr/>
          </a:p>
        </p:txBody>
      </p:sp>
      <p:sp>
        <p:nvSpPr>
          <p:cNvPr id="530" name="Google Shape;530;p35"/>
          <p:cNvSpPr/>
          <p:nvPr/>
        </p:nvSpPr>
        <p:spPr>
          <a:xfrm>
            <a:off x="5647110" y="2696945"/>
            <a:ext cx="1143000" cy="777300"/>
          </a:xfrm>
          <a:prstGeom prst="roundRect">
            <a:avLst>
              <a:gd fmla="val 18894"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latin typeface="Arial"/>
                <a:ea typeface="Arial"/>
                <a:cs typeface="Arial"/>
                <a:sym typeface="Arial"/>
              </a:rPr>
              <a:t>Edge map</a:t>
            </a:r>
            <a:endParaRPr/>
          </a:p>
        </p:txBody>
      </p:sp>
      <p:sp>
        <p:nvSpPr>
          <p:cNvPr id="531" name="Google Shape;531;p35"/>
          <p:cNvSpPr/>
          <p:nvPr/>
        </p:nvSpPr>
        <p:spPr>
          <a:xfrm>
            <a:off x="1553048" y="2699975"/>
            <a:ext cx="1418700" cy="777300"/>
          </a:xfrm>
          <a:prstGeom prst="roundRect">
            <a:avLst>
              <a:gd fmla="val 16667" name="adj"/>
            </a:avLst>
          </a:prstGeom>
          <a:solidFill>
            <a:schemeClr val="dk1"/>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150">
                <a:solidFill>
                  <a:srgbClr val="212529"/>
                </a:solidFill>
              </a:rPr>
              <a:t>Double Thresholding</a:t>
            </a:r>
            <a:endParaRPr/>
          </a:p>
        </p:txBody>
      </p:sp>
      <p:cxnSp>
        <p:nvCxnSpPr>
          <p:cNvPr id="532" name="Google Shape;532;p35"/>
          <p:cNvCxnSpPr>
            <a:stCxn id="529" idx="3"/>
            <a:endCxn id="531" idx="1"/>
          </p:cNvCxnSpPr>
          <p:nvPr/>
        </p:nvCxnSpPr>
        <p:spPr>
          <a:xfrm flipH="1">
            <a:off x="1552998" y="1725150"/>
            <a:ext cx="5237100" cy="1363500"/>
          </a:xfrm>
          <a:prstGeom prst="bentConnector5">
            <a:avLst>
              <a:gd fmla="val -4547" name="adj1"/>
              <a:gd fmla="val 49999" name="adj2"/>
              <a:gd fmla="val 104546" name="adj3"/>
            </a:avLst>
          </a:prstGeom>
          <a:noFill/>
          <a:ln cap="flat" cmpd="sng" w="28575">
            <a:solidFill>
              <a:srgbClr val="202020"/>
            </a:solidFill>
            <a:prstDash val="solid"/>
            <a:round/>
            <a:headEnd len="med" w="med" type="none"/>
            <a:tailEnd len="med" w="med" type="none"/>
          </a:ln>
        </p:spPr>
      </p:cxnSp>
      <p:sp>
        <p:nvSpPr>
          <p:cNvPr id="533" name="Google Shape;533;p35"/>
          <p:cNvSpPr/>
          <p:nvPr/>
        </p:nvSpPr>
        <p:spPr>
          <a:xfrm>
            <a:off x="3679475" y="2696958"/>
            <a:ext cx="1418700" cy="777300"/>
          </a:xfrm>
          <a:prstGeom prst="roundRect">
            <a:avLst>
              <a:gd fmla="val 21520" name="adj"/>
            </a:avLst>
          </a:prstGeom>
          <a:solidFill>
            <a:schemeClr val="dk1"/>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a:t>Hysteresis</a:t>
            </a:r>
            <a:endParaRPr/>
          </a:p>
        </p:txBody>
      </p:sp>
      <p:cxnSp>
        <p:nvCxnSpPr>
          <p:cNvPr id="534" name="Google Shape;534;p35"/>
          <p:cNvCxnSpPr>
            <a:stCxn id="531" idx="3"/>
            <a:endCxn id="533" idx="1"/>
          </p:cNvCxnSpPr>
          <p:nvPr/>
        </p:nvCxnSpPr>
        <p:spPr>
          <a:xfrm flipH="1" rot="10800000">
            <a:off x="2971748" y="3085625"/>
            <a:ext cx="707700" cy="3000"/>
          </a:xfrm>
          <a:prstGeom prst="straightConnector1">
            <a:avLst/>
          </a:prstGeom>
          <a:noFill/>
          <a:ln cap="flat" cmpd="sng" w="38100">
            <a:solidFill>
              <a:srgbClr val="202020"/>
            </a:solidFill>
            <a:prstDash val="solid"/>
            <a:round/>
            <a:headEnd len="med" w="med" type="none"/>
            <a:tailEnd len="med" w="med" type="none"/>
          </a:ln>
        </p:spPr>
      </p:cxnSp>
      <p:cxnSp>
        <p:nvCxnSpPr>
          <p:cNvPr id="535" name="Google Shape;535;p35"/>
          <p:cNvCxnSpPr>
            <a:stCxn id="533" idx="3"/>
            <a:endCxn id="530" idx="1"/>
          </p:cNvCxnSpPr>
          <p:nvPr/>
        </p:nvCxnSpPr>
        <p:spPr>
          <a:xfrm>
            <a:off x="5098175" y="3085608"/>
            <a:ext cx="549000" cy="0"/>
          </a:xfrm>
          <a:prstGeom prst="straightConnector1">
            <a:avLst/>
          </a:prstGeom>
          <a:noFill/>
          <a:ln cap="flat" cmpd="sng" w="38100">
            <a:solidFill>
              <a:srgbClr val="202020"/>
            </a:solidFill>
            <a:prstDash val="solid"/>
            <a:round/>
            <a:headEnd len="med" w="med" type="none"/>
            <a:tailEnd len="med" w="med" type="none"/>
          </a:ln>
        </p:spPr>
      </p:cxnSp>
      <p:sp>
        <p:nvSpPr>
          <p:cNvPr id="536" name="Google Shape;536;p35"/>
          <p:cNvSpPr txBox="1"/>
          <p:nvPr>
            <p:ph idx="1" type="body"/>
          </p:nvPr>
        </p:nvSpPr>
        <p:spPr>
          <a:xfrm>
            <a:off x="0" y="3796350"/>
            <a:ext cx="9144000" cy="1062900"/>
          </a:xfrm>
          <a:prstGeom prst="rect">
            <a:avLst/>
          </a:prstGeom>
        </p:spPr>
        <p:txBody>
          <a:bodyPr anchorCtr="0" anchor="t" bIns="91425" lIns="91425" spcFirstLastPara="1" rIns="91425" wrap="square" tIns="91425">
            <a:normAutofit fontScale="25000"/>
          </a:bodyPr>
          <a:lstStyle/>
          <a:p>
            <a:pPr indent="-326720" lvl="0" marL="457200" rtl="0" algn="l">
              <a:spcBef>
                <a:spcPts val="0"/>
              </a:spcBef>
              <a:spcAft>
                <a:spcPts val="0"/>
              </a:spcAft>
              <a:buClr>
                <a:srgbClr val="202020"/>
              </a:buClr>
              <a:buSzPct val="100000"/>
              <a:buChar char="●"/>
            </a:pPr>
            <a:r>
              <a:rPr lang="en-GB" sz="6181">
                <a:solidFill>
                  <a:srgbClr val="202020"/>
                </a:solidFill>
              </a:rPr>
              <a:t>Canny uses a full pipeline instead of a single filter.</a:t>
            </a:r>
            <a:endParaRPr sz="6181">
              <a:solidFill>
                <a:srgbClr val="202020"/>
              </a:solidFill>
            </a:endParaRPr>
          </a:p>
          <a:p>
            <a:pPr indent="-326720" lvl="0" marL="457200" rtl="0" algn="l">
              <a:spcBef>
                <a:spcPts val="0"/>
              </a:spcBef>
              <a:spcAft>
                <a:spcPts val="0"/>
              </a:spcAft>
              <a:buClr>
                <a:srgbClr val="202020"/>
              </a:buClr>
              <a:buSzPct val="100000"/>
              <a:buChar char="●"/>
            </a:pPr>
            <a:r>
              <a:rPr lang="en-GB" sz="6181">
                <a:solidFill>
                  <a:srgbClr val="202020"/>
                </a:solidFill>
              </a:rPr>
              <a:t>It reduces noise, detects intensity changes, and thins edges.</a:t>
            </a:r>
            <a:endParaRPr sz="6181">
              <a:solidFill>
                <a:srgbClr val="202020"/>
              </a:solidFill>
            </a:endParaRPr>
          </a:p>
          <a:p>
            <a:pPr indent="-326720" lvl="0" marL="457200" rtl="0" algn="l">
              <a:spcBef>
                <a:spcPts val="0"/>
              </a:spcBef>
              <a:spcAft>
                <a:spcPts val="0"/>
              </a:spcAft>
              <a:buClr>
                <a:srgbClr val="202020"/>
              </a:buClr>
              <a:buSzPct val="100000"/>
              <a:buChar char="●"/>
            </a:pPr>
            <a:r>
              <a:rPr lang="en-GB" sz="6181">
                <a:solidFill>
                  <a:srgbClr val="202020"/>
                </a:solidFill>
              </a:rPr>
              <a:t>The final result is usually cleaner, thinner, and more continuous than Sobel or Prewitt.</a:t>
            </a:r>
            <a:endParaRPr sz="6181">
              <a:solidFill>
                <a:srgbClr val="20202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Canny Pipeline: How It Works</a:t>
            </a:r>
            <a:endParaRPr/>
          </a:p>
        </p:txBody>
      </p:sp>
      <p:sp>
        <p:nvSpPr>
          <p:cNvPr id="542" name="Google Shape;542;p36"/>
          <p:cNvSpPr txBox="1"/>
          <p:nvPr>
            <p:ph idx="1" type="body"/>
          </p:nvPr>
        </p:nvSpPr>
        <p:spPr>
          <a:xfrm>
            <a:off x="311700" y="3467150"/>
            <a:ext cx="8520600" cy="11019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GB" sz="1900">
                <a:solidFill>
                  <a:srgbClr val="202020"/>
                </a:solidFill>
              </a:rPr>
              <a:t>Canny smooths the image to reduce noise, detects strong brightness changes, thins the detected edges, and keeps only connected reliable edges.</a:t>
            </a:r>
            <a:endParaRPr sz="1900">
              <a:solidFill>
                <a:srgbClr val="202020"/>
              </a:solidFill>
            </a:endParaRPr>
          </a:p>
        </p:txBody>
      </p:sp>
      <p:pic>
        <p:nvPicPr>
          <p:cNvPr descr="Original Image" id="543" name="Google Shape;543;p36"/>
          <p:cNvPicPr preferRelativeResize="0"/>
          <p:nvPr/>
        </p:nvPicPr>
        <p:blipFill rotWithShape="1">
          <a:blip r:embed="rId3">
            <a:alphaModFix/>
          </a:blip>
          <a:srcRect b="0" l="0" r="0" t="22762"/>
          <a:stretch/>
        </p:blipFill>
        <p:spPr>
          <a:xfrm>
            <a:off x="224204" y="1134613"/>
            <a:ext cx="2743200" cy="1537625"/>
          </a:xfrm>
          <a:prstGeom prst="rect">
            <a:avLst/>
          </a:prstGeom>
          <a:noFill/>
          <a:ln>
            <a:noFill/>
          </a:ln>
        </p:spPr>
      </p:pic>
      <p:pic>
        <p:nvPicPr>
          <p:cNvPr id="544" name="Google Shape;544;p36"/>
          <p:cNvPicPr preferRelativeResize="0"/>
          <p:nvPr/>
        </p:nvPicPr>
        <p:blipFill rotWithShape="1">
          <a:blip r:embed="rId4">
            <a:alphaModFix/>
          </a:blip>
          <a:srcRect b="0" l="0" r="0" t="19283"/>
          <a:stretch/>
        </p:blipFill>
        <p:spPr>
          <a:xfrm>
            <a:off x="3187944" y="1134613"/>
            <a:ext cx="2743200" cy="1537625"/>
          </a:xfrm>
          <a:prstGeom prst="rect">
            <a:avLst/>
          </a:prstGeom>
          <a:noFill/>
          <a:ln>
            <a:noFill/>
          </a:ln>
        </p:spPr>
      </p:pic>
      <p:pic>
        <p:nvPicPr>
          <p:cNvPr id="545" name="Google Shape;545;p36"/>
          <p:cNvPicPr preferRelativeResize="0"/>
          <p:nvPr/>
        </p:nvPicPr>
        <p:blipFill>
          <a:blip r:embed="rId5">
            <a:alphaModFix/>
          </a:blip>
          <a:stretch>
            <a:fillRect/>
          </a:stretch>
        </p:blipFill>
        <p:spPr>
          <a:xfrm>
            <a:off x="6162369" y="1134825"/>
            <a:ext cx="2743200" cy="1537199"/>
          </a:xfrm>
          <a:prstGeom prst="rect">
            <a:avLst/>
          </a:prstGeom>
          <a:noFill/>
          <a:ln>
            <a:noFill/>
          </a:ln>
        </p:spPr>
      </p:pic>
      <p:sp>
        <p:nvSpPr>
          <p:cNvPr id="546" name="Google Shape;546;p36"/>
          <p:cNvSpPr txBox="1"/>
          <p:nvPr/>
        </p:nvSpPr>
        <p:spPr>
          <a:xfrm>
            <a:off x="224150" y="2752775"/>
            <a:ext cx="27432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202020"/>
                </a:solidFill>
                <a:latin typeface="Lato"/>
                <a:ea typeface="Lato"/>
                <a:cs typeface="Lato"/>
                <a:sym typeface="Lato"/>
              </a:rPr>
              <a:t>Original Image</a:t>
            </a:r>
            <a:endParaRPr b="1" sz="1600">
              <a:solidFill>
                <a:srgbClr val="202020"/>
              </a:solidFill>
              <a:latin typeface="Lato"/>
              <a:ea typeface="Lato"/>
              <a:cs typeface="Lato"/>
              <a:sym typeface="Lato"/>
            </a:endParaRPr>
          </a:p>
        </p:txBody>
      </p:sp>
      <p:sp>
        <p:nvSpPr>
          <p:cNvPr id="547" name="Google Shape;547;p36"/>
          <p:cNvSpPr txBox="1"/>
          <p:nvPr/>
        </p:nvSpPr>
        <p:spPr>
          <a:xfrm>
            <a:off x="3193263" y="2752775"/>
            <a:ext cx="27432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202020"/>
                </a:solidFill>
                <a:latin typeface="Lato"/>
                <a:ea typeface="Lato"/>
                <a:cs typeface="Lato"/>
                <a:sym typeface="Lato"/>
              </a:rPr>
              <a:t>Smoothed Grayscale </a:t>
            </a:r>
            <a:r>
              <a:rPr b="1" lang="en-GB" sz="1600">
                <a:solidFill>
                  <a:srgbClr val="202020"/>
                </a:solidFill>
                <a:latin typeface="Lato"/>
                <a:ea typeface="Lato"/>
                <a:cs typeface="Lato"/>
                <a:sym typeface="Lato"/>
              </a:rPr>
              <a:t>Image</a:t>
            </a:r>
            <a:endParaRPr b="1" sz="1600">
              <a:solidFill>
                <a:srgbClr val="202020"/>
              </a:solidFill>
              <a:latin typeface="Lato"/>
              <a:ea typeface="Lato"/>
              <a:cs typeface="Lato"/>
              <a:sym typeface="Lato"/>
            </a:endParaRPr>
          </a:p>
        </p:txBody>
      </p:sp>
      <p:sp>
        <p:nvSpPr>
          <p:cNvPr id="548" name="Google Shape;548;p36"/>
          <p:cNvSpPr txBox="1"/>
          <p:nvPr/>
        </p:nvSpPr>
        <p:spPr>
          <a:xfrm>
            <a:off x="6162400" y="2752763"/>
            <a:ext cx="2743200" cy="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202020"/>
                </a:solidFill>
                <a:latin typeface="Lato"/>
                <a:ea typeface="Lato"/>
                <a:cs typeface="Lato"/>
                <a:sym typeface="Lato"/>
              </a:rPr>
              <a:t>Canny Output</a:t>
            </a:r>
            <a:endParaRPr b="1" sz="1600">
              <a:solidFill>
                <a:srgbClr val="202020"/>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Canny Parameters and Sensitivity</a:t>
            </a:r>
            <a:endParaRPr/>
          </a:p>
        </p:txBody>
      </p:sp>
      <p:sp>
        <p:nvSpPr>
          <p:cNvPr id="554" name="Google Shape;554;p37"/>
          <p:cNvSpPr txBox="1"/>
          <p:nvPr>
            <p:ph idx="1" type="body"/>
          </p:nvPr>
        </p:nvSpPr>
        <p:spPr>
          <a:xfrm>
            <a:off x="311700" y="3318550"/>
            <a:ext cx="8520600" cy="16350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GB">
                <a:solidFill>
                  <a:srgbClr val="202020"/>
                </a:solidFill>
              </a:rPr>
              <a:t>As the threshold increases, Canny becomes stricter: noise and weak details are removed, but fine edges may also </a:t>
            </a:r>
            <a:r>
              <a:rPr lang="en-GB">
                <a:solidFill>
                  <a:srgbClr val="202020"/>
                </a:solidFill>
              </a:rPr>
              <a:t>disappear.</a:t>
            </a:r>
            <a:endParaRPr>
              <a:solidFill>
                <a:srgbClr val="202020"/>
              </a:solidFill>
            </a:endParaRPr>
          </a:p>
        </p:txBody>
      </p:sp>
      <p:pic>
        <p:nvPicPr>
          <p:cNvPr id="555" name="Google Shape;555;p37"/>
          <p:cNvPicPr preferRelativeResize="0"/>
          <p:nvPr/>
        </p:nvPicPr>
        <p:blipFill>
          <a:blip r:embed="rId3">
            <a:alphaModFix/>
          </a:blip>
          <a:stretch>
            <a:fillRect/>
          </a:stretch>
        </p:blipFill>
        <p:spPr>
          <a:xfrm>
            <a:off x="311700" y="1269025"/>
            <a:ext cx="2743200" cy="1537200"/>
          </a:xfrm>
          <a:prstGeom prst="rect">
            <a:avLst/>
          </a:prstGeom>
          <a:noFill/>
          <a:ln>
            <a:noFill/>
          </a:ln>
        </p:spPr>
      </p:pic>
      <p:pic>
        <p:nvPicPr>
          <p:cNvPr id="556" name="Google Shape;556;p37"/>
          <p:cNvPicPr preferRelativeResize="0"/>
          <p:nvPr/>
        </p:nvPicPr>
        <p:blipFill>
          <a:blip r:embed="rId4">
            <a:alphaModFix/>
          </a:blip>
          <a:stretch>
            <a:fillRect/>
          </a:stretch>
        </p:blipFill>
        <p:spPr>
          <a:xfrm>
            <a:off x="3194316" y="1269025"/>
            <a:ext cx="2743200" cy="1537199"/>
          </a:xfrm>
          <a:prstGeom prst="rect">
            <a:avLst/>
          </a:prstGeom>
          <a:noFill/>
          <a:ln>
            <a:noFill/>
          </a:ln>
        </p:spPr>
      </p:pic>
      <p:pic>
        <p:nvPicPr>
          <p:cNvPr id="557" name="Google Shape;557;p37"/>
          <p:cNvPicPr preferRelativeResize="0"/>
          <p:nvPr/>
        </p:nvPicPr>
        <p:blipFill>
          <a:blip r:embed="rId5">
            <a:alphaModFix/>
          </a:blip>
          <a:stretch>
            <a:fillRect/>
          </a:stretch>
        </p:blipFill>
        <p:spPr>
          <a:xfrm>
            <a:off x="6089100" y="1269017"/>
            <a:ext cx="2743200" cy="1537200"/>
          </a:xfrm>
          <a:prstGeom prst="rect">
            <a:avLst/>
          </a:prstGeom>
          <a:noFill/>
          <a:ln>
            <a:noFill/>
          </a:ln>
        </p:spPr>
      </p:pic>
      <p:sp>
        <p:nvSpPr>
          <p:cNvPr id="558" name="Google Shape;558;p37"/>
          <p:cNvSpPr txBox="1"/>
          <p:nvPr/>
        </p:nvSpPr>
        <p:spPr>
          <a:xfrm>
            <a:off x="224150" y="2752775"/>
            <a:ext cx="2743200" cy="36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202020"/>
                </a:solidFill>
                <a:latin typeface="Lato"/>
                <a:ea typeface="Lato"/>
                <a:cs typeface="Lato"/>
                <a:sym typeface="Lato"/>
              </a:rPr>
              <a:t>Low Threshold: 20</a:t>
            </a:r>
            <a:endParaRPr b="1" sz="1600">
              <a:solidFill>
                <a:srgbClr val="202020"/>
              </a:solidFill>
              <a:latin typeface="Lato"/>
              <a:ea typeface="Lato"/>
              <a:cs typeface="Lato"/>
              <a:sym typeface="Lato"/>
            </a:endParaRPr>
          </a:p>
        </p:txBody>
      </p:sp>
      <p:sp>
        <p:nvSpPr>
          <p:cNvPr id="559" name="Google Shape;559;p37"/>
          <p:cNvSpPr txBox="1"/>
          <p:nvPr/>
        </p:nvSpPr>
        <p:spPr>
          <a:xfrm>
            <a:off x="3157985" y="2752775"/>
            <a:ext cx="2743200" cy="36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202020"/>
                </a:solidFill>
                <a:latin typeface="Lato"/>
                <a:ea typeface="Lato"/>
                <a:cs typeface="Lato"/>
                <a:sym typeface="Lato"/>
              </a:rPr>
              <a:t>Medium Threshold: 100</a:t>
            </a:r>
            <a:endParaRPr b="1" sz="1600">
              <a:solidFill>
                <a:srgbClr val="202020"/>
              </a:solidFill>
              <a:latin typeface="Lato"/>
              <a:ea typeface="Lato"/>
              <a:cs typeface="Lato"/>
              <a:sym typeface="Lato"/>
            </a:endParaRPr>
          </a:p>
        </p:txBody>
      </p:sp>
      <p:sp>
        <p:nvSpPr>
          <p:cNvPr id="560" name="Google Shape;560;p37"/>
          <p:cNvSpPr txBox="1"/>
          <p:nvPr/>
        </p:nvSpPr>
        <p:spPr>
          <a:xfrm>
            <a:off x="6044807" y="2752763"/>
            <a:ext cx="2743200" cy="36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202020"/>
                </a:solidFill>
                <a:latin typeface="Lato"/>
                <a:ea typeface="Lato"/>
                <a:cs typeface="Lato"/>
                <a:sym typeface="Lato"/>
              </a:rPr>
              <a:t>High Threshold: 200</a:t>
            </a:r>
            <a:endParaRPr b="1" sz="1600">
              <a:solidFill>
                <a:srgbClr val="202020"/>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Canny: Strengths and Weaknesses</a:t>
            </a:r>
            <a:endParaRPr/>
          </a:p>
        </p:txBody>
      </p:sp>
      <p:sp>
        <p:nvSpPr>
          <p:cNvPr id="566" name="Google Shape;566;p38"/>
          <p:cNvSpPr/>
          <p:nvPr/>
        </p:nvSpPr>
        <p:spPr>
          <a:xfrm>
            <a:off x="220317" y="1508670"/>
            <a:ext cx="3885300" cy="2642700"/>
          </a:xfrm>
          <a:prstGeom prst="roundRect">
            <a:avLst>
              <a:gd fmla="val 16667" name="adj"/>
            </a:avLst>
          </a:prstGeom>
          <a:solidFill>
            <a:srgbClr val="FFFFFF"/>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1769"/>
          </a:p>
        </p:txBody>
      </p:sp>
      <p:sp>
        <p:nvSpPr>
          <p:cNvPr id="567" name="Google Shape;567;p38"/>
          <p:cNvSpPr txBox="1"/>
          <p:nvPr>
            <p:ph idx="1" type="body"/>
          </p:nvPr>
        </p:nvSpPr>
        <p:spPr>
          <a:xfrm>
            <a:off x="220325" y="1017450"/>
            <a:ext cx="4001700" cy="2962800"/>
          </a:xfrm>
          <a:prstGeom prst="rect">
            <a:avLst/>
          </a:prstGeom>
        </p:spPr>
        <p:txBody>
          <a:bodyPr anchorCtr="0" anchor="t" bIns="107800" lIns="107800" spcFirstLastPara="1" rIns="107800" wrap="square" tIns="107800">
            <a:normAutofit/>
          </a:bodyPr>
          <a:lstStyle/>
          <a:p>
            <a:pPr indent="0" lvl="0" marL="0" rtl="0" algn="l">
              <a:spcBef>
                <a:spcPts val="0"/>
              </a:spcBef>
              <a:spcAft>
                <a:spcPts val="0"/>
              </a:spcAft>
              <a:buNone/>
            </a:pPr>
            <a:r>
              <a:t/>
            </a:r>
            <a:endParaRPr sz="2122"/>
          </a:p>
          <a:p>
            <a:pPr indent="457200" lvl="0" marL="914400" rtl="0" algn="l">
              <a:spcBef>
                <a:spcPts val="1415"/>
              </a:spcBef>
              <a:spcAft>
                <a:spcPts val="0"/>
              </a:spcAft>
              <a:buNone/>
            </a:pPr>
            <a:r>
              <a:rPr b="1" lang="en-GB" sz="2122">
                <a:solidFill>
                  <a:srgbClr val="000000"/>
                </a:solidFill>
              </a:rPr>
              <a:t>Strengths</a:t>
            </a:r>
            <a:endParaRPr b="1" sz="2122">
              <a:solidFill>
                <a:srgbClr val="000000"/>
              </a:solidFill>
            </a:endParaRPr>
          </a:p>
          <a:p>
            <a:pPr indent="-317500" lvl="0" marL="457200" marR="0" rtl="0" algn="l">
              <a:lnSpc>
                <a:spcPct val="115000"/>
              </a:lnSpc>
              <a:spcBef>
                <a:spcPts val="1415"/>
              </a:spcBef>
              <a:spcAft>
                <a:spcPts val="0"/>
              </a:spcAft>
              <a:buClr>
                <a:srgbClr val="202020"/>
              </a:buClr>
              <a:buSzPts val="1400"/>
              <a:buChar char="●"/>
            </a:pPr>
            <a:r>
              <a:rPr lang="en-GB" sz="1400">
                <a:solidFill>
                  <a:srgbClr val="202020"/>
                </a:solidFill>
              </a:rPr>
              <a:t>Produces thin and clean edges.</a:t>
            </a:r>
            <a:endParaRPr sz="1400">
              <a:solidFill>
                <a:srgbClr val="202020"/>
              </a:solidFill>
            </a:endParaRPr>
          </a:p>
          <a:p>
            <a:pPr indent="-317500" lvl="0" marL="457200" marR="0" rtl="0" algn="l">
              <a:lnSpc>
                <a:spcPct val="115000"/>
              </a:lnSpc>
              <a:spcBef>
                <a:spcPts val="0"/>
              </a:spcBef>
              <a:spcAft>
                <a:spcPts val="0"/>
              </a:spcAft>
              <a:buClr>
                <a:srgbClr val="202020"/>
              </a:buClr>
              <a:buSzPts val="1400"/>
              <a:buChar char="●"/>
            </a:pPr>
            <a:r>
              <a:rPr lang="en-GB" sz="1400">
                <a:solidFill>
                  <a:srgbClr val="202020"/>
                </a:solidFill>
              </a:rPr>
              <a:t>Reduces noise using Gaussian Smoothing.</a:t>
            </a:r>
            <a:endParaRPr sz="1400">
              <a:solidFill>
                <a:srgbClr val="202020"/>
              </a:solidFill>
            </a:endParaRPr>
          </a:p>
          <a:p>
            <a:pPr indent="-317500" lvl="0" marL="457200" marR="0" rtl="0" algn="l">
              <a:lnSpc>
                <a:spcPct val="115000"/>
              </a:lnSpc>
              <a:spcBef>
                <a:spcPts val="0"/>
              </a:spcBef>
              <a:spcAft>
                <a:spcPts val="0"/>
              </a:spcAft>
              <a:buClr>
                <a:srgbClr val="202020"/>
              </a:buClr>
              <a:buSzPts val="1400"/>
              <a:buChar char="●"/>
            </a:pPr>
            <a:r>
              <a:rPr lang="en-GB" sz="1400">
                <a:solidFill>
                  <a:srgbClr val="202020"/>
                </a:solidFill>
              </a:rPr>
              <a:t>Keeps connected edges using hysteresis.</a:t>
            </a:r>
            <a:endParaRPr sz="1400">
              <a:solidFill>
                <a:srgbClr val="202020"/>
              </a:solidFill>
            </a:endParaRPr>
          </a:p>
          <a:p>
            <a:pPr indent="-317500" lvl="0" marL="457200" marR="0" rtl="0" algn="l">
              <a:lnSpc>
                <a:spcPct val="115000"/>
              </a:lnSpc>
              <a:spcBef>
                <a:spcPts val="0"/>
              </a:spcBef>
              <a:spcAft>
                <a:spcPts val="0"/>
              </a:spcAft>
              <a:buClr>
                <a:srgbClr val="202020"/>
              </a:buClr>
              <a:buSzPts val="1400"/>
              <a:buChar char="●"/>
            </a:pPr>
            <a:r>
              <a:rPr lang="en-GB" sz="1400">
                <a:solidFill>
                  <a:srgbClr val="202020"/>
                </a:solidFill>
              </a:rPr>
              <a:t>Usually gives better edge maps than Sobel, Prewitt, and LoG.</a:t>
            </a:r>
            <a:endParaRPr sz="1400">
              <a:solidFill>
                <a:srgbClr val="202020"/>
              </a:solidFill>
            </a:endParaRPr>
          </a:p>
        </p:txBody>
      </p:sp>
      <p:sp>
        <p:nvSpPr>
          <p:cNvPr id="568" name="Google Shape;568;p38"/>
          <p:cNvSpPr/>
          <p:nvPr/>
        </p:nvSpPr>
        <p:spPr>
          <a:xfrm>
            <a:off x="5038364" y="1508670"/>
            <a:ext cx="3885300" cy="2642700"/>
          </a:xfrm>
          <a:prstGeom prst="roundRect">
            <a:avLst>
              <a:gd fmla="val 16667" name="adj"/>
            </a:avLst>
          </a:prstGeom>
          <a:solidFill>
            <a:schemeClr val="dk1"/>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4759"/>
          </a:p>
        </p:txBody>
      </p:sp>
      <p:sp>
        <p:nvSpPr>
          <p:cNvPr id="569" name="Google Shape;569;p38"/>
          <p:cNvSpPr txBox="1"/>
          <p:nvPr>
            <p:ph idx="1" type="body"/>
          </p:nvPr>
        </p:nvSpPr>
        <p:spPr>
          <a:xfrm>
            <a:off x="5038375" y="1158875"/>
            <a:ext cx="4001700" cy="2821200"/>
          </a:xfrm>
          <a:prstGeom prst="rect">
            <a:avLst/>
          </a:prstGeom>
        </p:spPr>
        <p:txBody>
          <a:bodyPr anchorCtr="0" anchor="t" bIns="107800" lIns="107800" spcFirstLastPara="1" rIns="107800" wrap="square" tIns="107800">
            <a:normAutofit fontScale="47500" lnSpcReduction="20000"/>
          </a:bodyPr>
          <a:lstStyle/>
          <a:p>
            <a:pPr indent="0" lvl="0" marL="0" rtl="0" algn="l">
              <a:spcBef>
                <a:spcPts val="0"/>
              </a:spcBef>
              <a:spcAft>
                <a:spcPts val="0"/>
              </a:spcAft>
              <a:buNone/>
            </a:pPr>
            <a:r>
              <a:rPr lang="en-GB" sz="2122"/>
              <a:t>	</a:t>
            </a:r>
            <a:endParaRPr b="1" sz="4400"/>
          </a:p>
          <a:p>
            <a:pPr indent="0" lvl="0" marL="914400" rtl="0" algn="l">
              <a:spcBef>
                <a:spcPts val="1415"/>
              </a:spcBef>
              <a:spcAft>
                <a:spcPts val="0"/>
              </a:spcAft>
              <a:buNone/>
            </a:pPr>
            <a:r>
              <a:rPr b="1" lang="en-GB" sz="4400"/>
              <a:t>    </a:t>
            </a:r>
            <a:r>
              <a:rPr b="1" lang="en-GB" sz="4400">
                <a:solidFill>
                  <a:srgbClr val="000000"/>
                </a:solidFill>
              </a:rPr>
              <a:t>Weaknesses</a:t>
            </a:r>
            <a:endParaRPr b="1" sz="4400">
              <a:solidFill>
                <a:srgbClr val="000000"/>
              </a:solidFill>
            </a:endParaRPr>
          </a:p>
          <a:p>
            <a:pPr indent="-319088" lvl="0" marL="457200" rtl="0" algn="l">
              <a:spcBef>
                <a:spcPts val="1415"/>
              </a:spcBef>
              <a:spcAft>
                <a:spcPts val="0"/>
              </a:spcAft>
              <a:buClr>
                <a:srgbClr val="000000"/>
              </a:buClr>
              <a:buSzPct val="100000"/>
              <a:buChar char="●"/>
            </a:pPr>
            <a:r>
              <a:rPr lang="en-GB" sz="3000">
                <a:solidFill>
                  <a:srgbClr val="000000"/>
                </a:solidFill>
              </a:rPr>
              <a:t>More complex and slower than simple filters.</a:t>
            </a:r>
            <a:endParaRPr sz="3000">
              <a:solidFill>
                <a:srgbClr val="000000"/>
              </a:solidFill>
            </a:endParaRPr>
          </a:p>
          <a:p>
            <a:pPr indent="-319088" lvl="0" marL="457200" rtl="0" algn="l">
              <a:spcBef>
                <a:spcPts val="0"/>
              </a:spcBef>
              <a:spcAft>
                <a:spcPts val="0"/>
              </a:spcAft>
              <a:buClr>
                <a:srgbClr val="000000"/>
              </a:buClr>
              <a:buSzPct val="100000"/>
              <a:buChar char="●"/>
            </a:pPr>
            <a:r>
              <a:rPr lang="en-GB" sz="3000">
                <a:solidFill>
                  <a:srgbClr val="000000"/>
                </a:solidFill>
              </a:rPr>
              <a:t>Sensitive to threshold and blur settings.</a:t>
            </a:r>
            <a:endParaRPr sz="3000">
              <a:solidFill>
                <a:srgbClr val="000000"/>
              </a:solidFill>
            </a:endParaRPr>
          </a:p>
          <a:p>
            <a:pPr indent="-319088" lvl="0" marL="457200" rtl="0" algn="l">
              <a:spcBef>
                <a:spcPts val="0"/>
              </a:spcBef>
              <a:spcAft>
                <a:spcPts val="0"/>
              </a:spcAft>
              <a:buClr>
                <a:srgbClr val="000000"/>
              </a:buClr>
              <a:buSzPct val="100000"/>
              <a:buChar char="●"/>
            </a:pPr>
            <a:r>
              <a:rPr lang="en-GB" sz="3000">
                <a:solidFill>
                  <a:srgbClr val="000000"/>
                </a:solidFill>
              </a:rPr>
              <a:t>Can miss weak edges if thresholds are too high.</a:t>
            </a:r>
            <a:endParaRPr sz="3000">
              <a:solidFill>
                <a:srgbClr val="000000"/>
              </a:solidFill>
            </a:endParaRPr>
          </a:p>
          <a:p>
            <a:pPr indent="-319088" lvl="0" marL="457200" rtl="0" algn="l">
              <a:spcBef>
                <a:spcPts val="0"/>
              </a:spcBef>
              <a:spcAft>
                <a:spcPts val="0"/>
              </a:spcAft>
              <a:buClr>
                <a:srgbClr val="000000"/>
              </a:buClr>
              <a:buSzPct val="100000"/>
              <a:buChar char="●"/>
            </a:pPr>
            <a:r>
              <a:rPr lang="en-GB" sz="3000">
                <a:solidFill>
                  <a:srgbClr val="000000"/>
                </a:solidFill>
              </a:rPr>
              <a:t>Can still struggle with very noisy or low- contrast images.</a:t>
            </a:r>
            <a:endParaRPr sz="3000">
              <a:solidFill>
                <a:srgbClr val="000000"/>
              </a:solidFill>
            </a:endParaRPr>
          </a:p>
          <a:p>
            <a:pPr indent="0" lvl="0" marL="0" rtl="0" algn="ctr">
              <a:spcBef>
                <a:spcPts val="1415"/>
              </a:spcBef>
              <a:spcAft>
                <a:spcPts val="1415"/>
              </a:spcAft>
              <a:buNone/>
            </a:pPr>
            <a:r>
              <a:t/>
            </a:r>
            <a:endParaRPr sz="170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9"/>
          <p:cNvSpPr txBox="1"/>
          <p:nvPr>
            <p:ph type="title"/>
          </p:nvPr>
        </p:nvSpPr>
        <p:spPr>
          <a:xfrm>
            <a:off x="509550" y="1423875"/>
            <a:ext cx="8124900" cy="17982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GB"/>
              <a:t>Comparison</a:t>
            </a:r>
            <a:endParaRPr b="1"/>
          </a:p>
          <a:p>
            <a:pPr indent="0" lvl="0" marL="0" rtl="0" algn="ctr">
              <a:spcBef>
                <a:spcPts val="0"/>
              </a:spcBef>
              <a:spcAft>
                <a:spcPts val="0"/>
              </a:spcAft>
              <a:buNone/>
            </a:pPr>
            <a:r>
              <a:rPr b="1" lang="en-GB"/>
              <a:t>And</a:t>
            </a:r>
            <a:endParaRPr b="1"/>
          </a:p>
          <a:p>
            <a:pPr indent="0" lvl="0" marL="0" rtl="0" algn="ctr">
              <a:spcBef>
                <a:spcPts val="0"/>
              </a:spcBef>
              <a:spcAft>
                <a:spcPts val="0"/>
              </a:spcAft>
              <a:buNone/>
            </a:pPr>
            <a:r>
              <a:rPr b="1" lang="en-GB"/>
              <a:t>Real-World Example</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Comparison</a:t>
            </a:r>
            <a:endParaRPr/>
          </a:p>
        </p:txBody>
      </p:sp>
      <p:sp>
        <p:nvSpPr>
          <p:cNvPr id="580" name="Google Shape;580;p40"/>
          <p:cNvSpPr/>
          <p:nvPr/>
        </p:nvSpPr>
        <p:spPr>
          <a:xfrm>
            <a:off x="3151050" y="1243700"/>
            <a:ext cx="2841900" cy="3538800"/>
          </a:xfrm>
          <a:prstGeom prst="roundRect">
            <a:avLst>
              <a:gd fmla="val 16667" name="adj"/>
            </a:avLst>
          </a:prstGeom>
          <a:solidFill>
            <a:srgbClr val="FFFFFF"/>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1769"/>
          </a:p>
        </p:txBody>
      </p:sp>
      <p:sp>
        <p:nvSpPr>
          <p:cNvPr id="581" name="Google Shape;581;p40"/>
          <p:cNvSpPr/>
          <p:nvPr/>
        </p:nvSpPr>
        <p:spPr>
          <a:xfrm>
            <a:off x="147350" y="1243700"/>
            <a:ext cx="2841900" cy="3538800"/>
          </a:xfrm>
          <a:prstGeom prst="roundRect">
            <a:avLst>
              <a:gd fmla="val 16667" name="adj"/>
            </a:avLst>
          </a:prstGeom>
          <a:solidFill>
            <a:srgbClr val="FFFFFF"/>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1769"/>
          </a:p>
        </p:txBody>
      </p:sp>
      <p:sp>
        <p:nvSpPr>
          <p:cNvPr id="582" name="Google Shape;582;p40"/>
          <p:cNvSpPr/>
          <p:nvPr/>
        </p:nvSpPr>
        <p:spPr>
          <a:xfrm>
            <a:off x="6154750" y="1243700"/>
            <a:ext cx="2841900" cy="3538800"/>
          </a:xfrm>
          <a:prstGeom prst="roundRect">
            <a:avLst>
              <a:gd fmla="val 16667" name="adj"/>
            </a:avLst>
          </a:prstGeom>
          <a:solidFill>
            <a:srgbClr val="FFFFFF"/>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1769"/>
          </a:p>
        </p:txBody>
      </p:sp>
      <p:sp>
        <p:nvSpPr>
          <p:cNvPr id="583" name="Google Shape;583;p40"/>
          <p:cNvSpPr/>
          <p:nvPr/>
        </p:nvSpPr>
        <p:spPr>
          <a:xfrm>
            <a:off x="229400" y="1387425"/>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b="1" lang="en-GB" sz="1619">
                <a:solidFill>
                  <a:srgbClr val="5E6A6F"/>
                </a:solidFill>
                <a:latin typeface="Lato"/>
                <a:ea typeface="Lato"/>
                <a:cs typeface="Lato"/>
                <a:sym typeface="Lato"/>
              </a:rPr>
              <a:t>First-order gradient operators : Sobel and Prewitt</a:t>
            </a:r>
            <a:endParaRPr b="1" sz="1619">
              <a:solidFill>
                <a:srgbClr val="5E6A6F"/>
              </a:solidFill>
              <a:latin typeface="Lato"/>
              <a:ea typeface="Lato"/>
              <a:cs typeface="Lato"/>
              <a:sym typeface="Lato"/>
            </a:endParaRPr>
          </a:p>
        </p:txBody>
      </p:sp>
      <p:sp>
        <p:nvSpPr>
          <p:cNvPr id="584" name="Google Shape;584;p40"/>
          <p:cNvSpPr/>
          <p:nvPr/>
        </p:nvSpPr>
        <p:spPr>
          <a:xfrm>
            <a:off x="3233100" y="1387425"/>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b="1" lang="en-GB" sz="1619">
                <a:solidFill>
                  <a:srgbClr val="5E6A6F"/>
                </a:solidFill>
                <a:latin typeface="Lato"/>
                <a:ea typeface="Lato"/>
                <a:cs typeface="Lato"/>
                <a:sym typeface="Lato"/>
              </a:rPr>
              <a:t>Laplacian of Gaussian</a:t>
            </a:r>
            <a:endParaRPr b="1" sz="1619">
              <a:solidFill>
                <a:srgbClr val="5E6A6F"/>
              </a:solidFill>
              <a:latin typeface="Lato"/>
              <a:ea typeface="Lato"/>
              <a:cs typeface="Lato"/>
              <a:sym typeface="Lato"/>
            </a:endParaRPr>
          </a:p>
        </p:txBody>
      </p:sp>
      <p:sp>
        <p:nvSpPr>
          <p:cNvPr id="585" name="Google Shape;585;p40"/>
          <p:cNvSpPr/>
          <p:nvPr/>
        </p:nvSpPr>
        <p:spPr>
          <a:xfrm>
            <a:off x="6236800" y="1387425"/>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b="1" lang="en-GB" sz="1619">
                <a:solidFill>
                  <a:srgbClr val="5E6A6F"/>
                </a:solidFill>
                <a:latin typeface="Lato"/>
                <a:ea typeface="Lato"/>
                <a:cs typeface="Lato"/>
                <a:sym typeface="Lato"/>
              </a:rPr>
              <a:t>Canny</a:t>
            </a:r>
            <a:endParaRPr b="1" sz="1619">
              <a:solidFill>
                <a:srgbClr val="5E6A6F"/>
              </a:solidFill>
              <a:latin typeface="Lato"/>
              <a:ea typeface="Lato"/>
              <a:cs typeface="Lato"/>
              <a:sym typeface="Lato"/>
            </a:endParaRPr>
          </a:p>
        </p:txBody>
      </p:sp>
      <p:cxnSp>
        <p:nvCxnSpPr>
          <p:cNvPr id="586" name="Google Shape;586;p40"/>
          <p:cNvCxnSpPr/>
          <p:nvPr/>
        </p:nvCxnSpPr>
        <p:spPr>
          <a:xfrm>
            <a:off x="524600" y="1987400"/>
            <a:ext cx="2087400" cy="6300"/>
          </a:xfrm>
          <a:prstGeom prst="straightConnector1">
            <a:avLst/>
          </a:prstGeom>
          <a:noFill/>
          <a:ln cap="flat" cmpd="sng" w="19050">
            <a:solidFill>
              <a:schemeClr val="dk2"/>
            </a:solidFill>
            <a:prstDash val="solid"/>
            <a:round/>
            <a:headEnd len="med" w="med" type="none"/>
            <a:tailEnd len="med" w="med" type="none"/>
          </a:ln>
        </p:spPr>
      </p:cxnSp>
      <p:cxnSp>
        <p:nvCxnSpPr>
          <p:cNvPr id="587" name="Google Shape;587;p40"/>
          <p:cNvCxnSpPr/>
          <p:nvPr/>
        </p:nvCxnSpPr>
        <p:spPr>
          <a:xfrm>
            <a:off x="3528300" y="1987400"/>
            <a:ext cx="2087400" cy="6300"/>
          </a:xfrm>
          <a:prstGeom prst="straightConnector1">
            <a:avLst/>
          </a:prstGeom>
          <a:noFill/>
          <a:ln cap="flat" cmpd="sng" w="19050">
            <a:solidFill>
              <a:schemeClr val="dk2"/>
            </a:solidFill>
            <a:prstDash val="solid"/>
            <a:round/>
            <a:headEnd len="med" w="med" type="none"/>
            <a:tailEnd len="med" w="med" type="none"/>
          </a:ln>
        </p:spPr>
      </p:cxnSp>
      <p:cxnSp>
        <p:nvCxnSpPr>
          <p:cNvPr id="588" name="Google Shape;588;p40"/>
          <p:cNvCxnSpPr/>
          <p:nvPr/>
        </p:nvCxnSpPr>
        <p:spPr>
          <a:xfrm>
            <a:off x="6532000" y="1987400"/>
            <a:ext cx="2087400" cy="6300"/>
          </a:xfrm>
          <a:prstGeom prst="straightConnector1">
            <a:avLst/>
          </a:prstGeom>
          <a:noFill/>
          <a:ln cap="flat" cmpd="sng" w="19050">
            <a:solidFill>
              <a:schemeClr val="dk2"/>
            </a:solidFill>
            <a:prstDash val="solid"/>
            <a:round/>
            <a:headEnd len="med" w="med" type="none"/>
            <a:tailEnd len="med" w="med" type="none"/>
          </a:ln>
        </p:spPr>
      </p:cxnSp>
      <p:sp>
        <p:nvSpPr>
          <p:cNvPr id="589" name="Google Shape;589;p40"/>
          <p:cNvSpPr/>
          <p:nvPr/>
        </p:nvSpPr>
        <p:spPr>
          <a:xfrm>
            <a:off x="419600" y="2155738"/>
            <a:ext cx="2297400" cy="21753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Easy and light</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Gives edge orientation</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Sensitive to noise, weak contrast, heavy texture…</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a:solidFill>
                <a:schemeClr val="dk1"/>
              </a:solidFill>
              <a:latin typeface="Lato"/>
              <a:ea typeface="Lato"/>
              <a:cs typeface="Lato"/>
              <a:sym typeface="Lato"/>
            </a:endParaRPr>
          </a:p>
          <a:p>
            <a:pPr indent="0" lvl="0" marL="0" marR="0" rtl="0" algn="l">
              <a:spcBef>
                <a:spcPts val="0"/>
              </a:spcBef>
              <a:spcAft>
                <a:spcPts val="0"/>
              </a:spcAft>
              <a:buClr>
                <a:srgbClr val="5E6A6F"/>
              </a:buClr>
              <a:buSzPts val="1100"/>
              <a:buFont typeface="Arial"/>
              <a:buNone/>
            </a:pPr>
            <a:r>
              <a:t/>
            </a:r>
            <a:endParaRPr sz="1300">
              <a:solidFill>
                <a:schemeClr val="dk1"/>
              </a:solidFill>
              <a:latin typeface="Lato"/>
              <a:ea typeface="Lato"/>
              <a:cs typeface="Lato"/>
              <a:sym typeface="Lato"/>
            </a:endParaRPr>
          </a:p>
        </p:txBody>
      </p:sp>
      <p:sp>
        <p:nvSpPr>
          <p:cNvPr id="590" name="Google Shape;590;p40"/>
          <p:cNvSpPr/>
          <p:nvPr/>
        </p:nvSpPr>
        <p:spPr>
          <a:xfrm>
            <a:off x="3423300" y="2251188"/>
            <a:ext cx="2297400" cy="21753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Detects contour clearly</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Not rotation dependent</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Does not give orientation</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Sensitive to noise, can produce double edges</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a:solidFill>
                <a:schemeClr val="dk1"/>
              </a:solidFill>
              <a:latin typeface="Lato"/>
              <a:ea typeface="Lato"/>
              <a:cs typeface="Lato"/>
              <a:sym typeface="Lato"/>
            </a:endParaRPr>
          </a:p>
          <a:p>
            <a:pPr indent="0" lvl="0" marL="0" marR="0" rtl="0" algn="l">
              <a:spcBef>
                <a:spcPts val="0"/>
              </a:spcBef>
              <a:spcAft>
                <a:spcPts val="0"/>
              </a:spcAft>
              <a:buClr>
                <a:srgbClr val="5E6A6F"/>
              </a:buClr>
              <a:buSzPts val="1100"/>
              <a:buFont typeface="Arial"/>
              <a:buNone/>
            </a:pPr>
            <a:r>
              <a:t/>
            </a:r>
            <a:endParaRPr sz="1300">
              <a:solidFill>
                <a:schemeClr val="dk1"/>
              </a:solidFill>
              <a:latin typeface="Lato"/>
              <a:ea typeface="Lato"/>
              <a:cs typeface="Lato"/>
              <a:sym typeface="Lato"/>
            </a:endParaRPr>
          </a:p>
        </p:txBody>
      </p:sp>
      <p:sp>
        <p:nvSpPr>
          <p:cNvPr id="591" name="Google Shape;591;p40"/>
          <p:cNvSpPr/>
          <p:nvPr/>
        </p:nvSpPr>
        <p:spPr>
          <a:xfrm>
            <a:off x="6427000" y="2155738"/>
            <a:ext cx="2297400" cy="21753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Smoothing, Gradients, Thinning, and thresholding</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Clean, continuous edges</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rPr lang="en-GB" sz="1500">
                <a:solidFill>
                  <a:schemeClr val="dk1"/>
                </a:solidFill>
                <a:latin typeface="Lato"/>
                <a:ea typeface="Lato"/>
                <a:cs typeface="Lato"/>
                <a:sym typeface="Lato"/>
              </a:rPr>
              <a:t>Complex and heavy</a:t>
            </a:r>
            <a:endParaRPr sz="1500">
              <a:solidFill>
                <a:schemeClr val="dk1"/>
              </a:solidFill>
              <a:latin typeface="Lato"/>
              <a:ea typeface="Lato"/>
              <a:cs typeface="Lato"/>
              <a:sym typeface="Lato"/>
            </a:endParaRPr>
          </a:p>
          <a:p>
            <a:pPr indent="0" lvl="0" marL="0" marR="0" rtl="0" algn="ctr">
              <a:spcBef>
                <a:spcPts val="0"/>
              </a:spcBef>
              <a:spcAft>
                <a:spcPts val="0"/>
              </a:spcAft>
              <a:buClr>
                <a:srgbClr val="5E6A6F"/>
              </a:buClr>
              <a:buSzPts val="1100"/>
              <a:buFont typeface="Arial"/>
              <a:buNone/>
            </a:pPr>
            <a:r>
              <a:t/>
            </a:r>
            <a:endParaRPr>
              <a:solidFill>
                <a:schemeClr val="dk1"/>
              </a:solidFill>
              <a:latin typeface="Lato"/>
              <a:ea typeface="Lato"/>
              <a:cs typeface="Lato"/>
              <a:sym typeface="Lato"/>
            </a:endParaRPr>
          </a:p>
          <a:p>
            <a:pPr indent="0" lvl="0" marL="0" marR="0" rtl="0" algn="l">
              <a:spcBef>
                <a:spcPts val="0"/>
              </a:spcBef>
              <a:spcAft>
                <a:spcPts val="0"/>
              </a:spcAft>
              <a:buClr>
                <a:srgbClr val="5E6A6F"/>
              </a:buClr>
              <a:buSzPts val="1100"/>
              <a:buFont typeface="Arial"/>
              <a:buNone/>
            </a:pPr>
            <a:r>
              <a:t/>
            </a:r>
            <a:endParaRPr sz="1300">
              <a:solidFill>
                <a:schemeClr val="dk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Comparison</a:t>
            </a:r>
            <a:endParaRPr/>
          </a:p>
        </p:txBody>
      </p:sp>
      <p:sp>
        <p:nvSpPr>
          <p:cNvPr id="597" name="Google Shape;597;p41"/>
          <p:cNvSpPr/>
          <p:nvPr/>
        </p:nvSpPr>
        <p:spPr>
          <a:xfrm>
            <a:off x="3151050" y="1243700"/>
            <a:ext cx="2841900" cy="3538800"/>
          </a:xfrm>
          <a:prstGeom prst="roundRect">
            <a:avLst>
              <a:gd fmla="val 16667" name="adj"/>
            </a:avLst>
          </a:prstGeom>
          <a:solidFill>
            <a:srgbClr val="FFFFFF"/>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1769"/>
          </a:p>
        </p:txBody>
      </p:sp>
      <p:sp>
        <p:nvSpPr>
          <p:cNvPr id="598" name="Google Shape;598;p41"/>
          <p:cNvSpPr/>
          <p:nvPr/>
        </p:nvSpPr>
        <p:spPr>
          <a:xfrm>
            <a:off x="147350" y="1243700"/>
            <a:ext cx="2841900" cy="3538800"/>
          </a:xfrm>
          <a:prstGeom prst="roundRect">
            <a:avLst>
              <a:gd fmla="val 16667" name="adj"/>
            </a:avLst>
          </a:prstGeom>
          <a:solidFill>
            <a:srgbClr val="FFFFFF"/>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1769"/>
          </a:p>
        </p:txBody>
      </p:sp>
      <p:sp>
        <p:nvSpPr>
          <p:cNvPr id="599" name="Google Shape;599;p41"/>
          <p:cNvSpPr/>
          <p:nvPr/>
        </p:nvSpPr>
        <p:spPr>
          <a:xfrm>
            <a:off x="6154750" y="1243700"/>
            <a:ext cx="2841900" cy="3538800"/>
          </a:xfrm>
          <a:prstGeom prst="roundRect">
            <a:avLst>
              <a:gd fmla="val 16667" name="adj"/>
            </a:avLst>
          </a:prstGeom>
          <a:solidFill>
            <a:srgbClr val="FFFFFF"/>
          </a:solidFill>
          <a:ln cap="flat" cmpd="sng" w="32375">
            <a:solidFill>
              <a:srgbClr val="000000"/>
            </a:solidFill>
            <a:prstDash val="solid"/>
            <a:round/>
            <a:headEnd len="sm" w="sm" type="none"/>
            <a:tailEnd len="sm" w="sm" type="none"/>
          </a:ln>
          <a:effectLst>
            <a:outerShdw blurRad="135976" rotWithShape="0" dir="5400000" dist="78186">
              <a:srgbClr val="000000">
                <a:alpha val="34900"/>
              </a:srgbClr>
            </a:outerShdw>
          </a:effectLst>
        </p:spPr>
        <p:txBody>
          <a:bodyPr anchorCtr="0" anchor="ctr" bIns="155375" lIns="310800" spcFirstLastPara="1" rIns="310800" wrap="square" tIns="155375">
            <a:noAutofit/>
          </a:bodyPr>
          <a:lstStyle/>
          <a:p>
            <a:pPr indent="0" lvl="0" marL="0" marR="0" rtl="0" algn="ctr">
              <a:spcBef>
                <a:spcPts val="0"/>
              </a:spcBef>
              <a:spcAft>
                <a:spcPts val="0"/>
              </a:spcAft>
              <a:buNone/>
            </a:pPr>
            <a:r>
              <a:t/>
            </a:r>
            <a:endParaRPr sz="1769"/>
          </a:p>
        </p:txBody>
      </p:sp>
      <p:sp>
        <p:nvSpPr>
          <p:cNvPr id="600" name="Google Shape;600;p41"/>
          <p:cNvSpPr/>
          <p:nvPr/>
        </p:nvSpPr>
        <p:spPr>
          <a:xfrm>
            <a:off x="229400" y="1387425"/>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b="1" lang="en-GB" sz="1619">
                <a:solidFill>
                  <a:srgbClr val="5E6A6F"/>
                </a:solidFill>
                <a:latin typeface="Lato"/>
                <a:ea typeface="Lato"/>
                <a:cs typeface="Lato"/>
                <a:sym typeface="Lato"/>
              </a:rPr>
              <a:t>First-order gradient operators : Sobel and Prewitt</a:t>
            </a:r>
            <a:endParaRPr b="1" sz="1619">
              <a:solidFill>
                <a:srgbClr val="5E6A6F"/>
              </a:solidFill>
              <a:latin typeface="Lato"/>
              <a:ea typeface="Lato"/>
              <a:cs typeface="Lato"/>
              <a:sym typeface="Lato"/>
            </a:endParaRPr>
          </a:p>
        </p:txBody>
      </p:sp>
      <p:sp>
        <p:nvSpPr>
          <p:cNvPr id="601" name="Google Shape;601;p41"/>
          <p:cNvSpPr/>
          <p:nvPr/>
        </p:nvSpPr>
        <p:spPr>
          <a:xfrm>
            <a:off x="3233100" y="1387425"/>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b="1" lang="en-GB" sz="1619">
                <a:solidFill>
                  <a:srgbClr val="5E6A6F"/>
                </a:solidFill>
                <a:latin typeface="Lato"/>
                <a:ea typeface="Lato"/>
                <a:cs typeface="Lato"/>
                <a:sym typeface="Lato"/>
              </a:rPr>
              <a:t>Laplacian of Gaussian</a:t>
            </a:r>
            <a:endParaRPr b="1" sz="1619">
              <a:solidFill>
                <a:srgbClr val="5E6A6F"/>
              </a:solidFill>
              <a:latin typeface="Lato"/>
              <a:ea typeface="Lato"/>
              <a:cs typeface="Lato"/>
              <a:sym typeface="Lato"/>
            </a:endParaRPr>
          </a:p>
        </p:txBody>
      </p:sp>
      <p:sp>
        <p:nvSpPr>
          <p:cNvPr id="602" name="Google Shape;602;p41"/>
          <p:cNvSpPr/>
          <p:nvPr/>
        </p:nvSpPr>
        <p:spPr>
          <a:xfrm>
            <a:off x="6236800" y="1387425"/>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b="1" lang="en-GB" sz="1619">
                <a:solidFill>
                  <a:srgbClr val="5E6A6F"/>
                </a:solidFill>
                <a:latin typeface="Lato"/>
                <a:ea typeface="Lato"/>
                <a:cs typeface="Lato"/>
                <a:sym typeface="Lato"/>
              </a:rPr>
              <a:t>Canny</a:t>
            </a:r>
            <a:endParaRPr b="1" sz="1619">
              <a:solidFill>
                <a:srgbClr val="5E6A6F"/>
              </a:solidFill>
              <a:latin typeface="Lato"/>
              <a:ea typeface="Lato"/>
              <a:cs typeface="Lato"/>
              <a:sym typeface="Lato"/>
            </a:endParaRPr>
          </a:p>
        </p:txBody>
      </p:sp>
      <p:cxnSp>
        <p:nvCxnSpPr>
          <p:cNvPr id="603" name="Google Shape;603;p41"/>
          <p:cNvCxnSpPr/>
          <p:nvPr/>
        </p:nvCxnSpPr>
        <p:spPr>
          <a:xfrm>
            <a:off x="524600" y="1987400"/>
            <a:ext cx="2087400" cy="6300"/>
          </a:xfrm>
          <a:prstGeom prst="straightConnector1">
            <a:avLst/>
          </a:prstGeom>
          <a:noFill/>
          <a:ln cap="flat" cmpd="sng" w="19050">
            <a:solidFill>
              <a:schemeClr val="dk2"/>
            </a:solidFill>
            <a:prstDash val="solid"/>
            <a:round/>
            <a:headEnd len="med" w="med" type="none"/>
            <a:tailEnd len="med" w="med" type="none"/>
          </a:ln>
        </p:spPr>
      </p:cxnSp>
      <p:cxnSp>
        <p:nvCxnSpPr>
          <p:cNvPr id="604" name="Google Shape;604;p41"/>
          <p:cNvCxnSpPr/>
          <p:nvPr/>
        </p:nvCxnSpPr>
        <p:spPr>
          <a:xfrm>
            <a:off x="3528300" y="1987400"/>
            <a:ext cx="2087400" cy="6300"/>
          </a:xfrm>
          <a:prstGeom prst="straightConnector1">
            <a:avLst/>
          </a:prstGeom>
          <a:noFill/>
          <a:ln cap="flat" cmpd="sng" w="19050">
            <a:solidFill>
              <a:schemeClr val="dk2"/>
            </a:solidFill>
            <a:prstDash val="solid"/>
            <a:round/>
            <a:headEnd len="med" w="med" type="none"/>
            <a:tailEnd len="med" w="med" type="none"/>
          </a:ln>
        </p:spPr>
      </p:cxnSp>
      <p:cxnSp>
        <p:nvCxnSpPr>
          <p:cNvPr id="605" name="Google Shape;605;p41"/>
          <p:cNvCxnSpPr/>
          <p:nvPr/>
        </p:nvCxnSpPr>
        <p:spPr>
          <a:xfrm>
            <a:off x="6532000" y="1987400"/>
            <a:ext cx="2087400" cy="6300"/>
          </a:xfrm>
          <a:prstGeom prst="straightConnector1">
            <a:avLst/>
          </a:prstGeom>
          <a:noFill/>
          <a:ln cap="flat" cmpd="sng" w="19050">
            <a:solidFill>
              <a:schemeClr val="dk2"/>
            </a:solidFill>
            <a:prstDash val="solid"/>
            <a:round/>
            <a:headEnd len="med" w="med" type="none"/>
            <a:tailEnd len="med" w="med" type="none"/>
          </a:ln>
        </p:spPr>
      </p:cxnSp>
      <p:pic>
        <p:nvPicPr>
          <p:cNvPr id="606" name="Google Shape;606;p41"/>
          <p:cNvPicPr preferRelativeResize="0"/>
          <p:nvPr/>
        </p:nvPicPr>
        <p:blipFill>
          <a:blip r:embed="rId3">
            <a:alphaModFix/>
          </a:blip>
          <a:stretch>
            <a:fillRect/>
          </a:stretch>
        </p:blipFill>
        <p:spPr>
          <a:xfrm>
            <a:off x="316397" y="2199875"/>
            <a:ext cx="2503800" cy="1872600"/>
          </a:xfrm>
          <a:prstGeom prst="roundRect">
            <a:avLst>
              <a:gd fmla="val 6464" name="adj"/>
            </a:avLst>
          </a:prstGeom>
          <a:noFill/>
          <a:ln>
            <a:noFill/>
          </a:ln>
        </p:spPr>
      </p:pic>
      <p:sp>
        <p:nvSpPr>
          <p:cNvPr id="607" name="Google Shape;607;p41"/>
          <p:cNvSpPr/>
          <p:nvPr/>
        </p:nvSpPr>
        <p:spPr>
          <a:xfrm>
            <a:off x="229400" y="4124800"/>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lang="en-GB" sz="1319">
                <a:solidFill>
                  <a:srgbClr val="5E6A6F"/>
                </a:solidFill>
                <a:latin typeface="Lato"/>
                <a:ea typeface="Lato"/>
                <a:cs typeface="Lato"/>
                <a:sym typeface="Lato"/>
              </a:rPr>
              <a:t>Best for clean lines, heavy contrast</a:t>
            </a:r>
            <a:endParaRPr sz="1319">
              <a:solidFill>
                <a:srgbClr val="5E6A6F"/>
              </a:solidFill>
              <a:latin typeface="Lato"/>
              <a:ea typeface="Lato"/>
              <a:cs typeface="Lato"/>
              <a:sym typeface="Lato"/>
            </a:endParaRPr>
          </a:p>
        </p:txBody>
      </p:sp>
      <p:pic>
        <p:nvPicPr>
          <p:cNvPr id="608" name="Google Shape;608;p41"/>
          <p:cNvPicPr preferRelativeResize="0"/>
          <p:nvPr/>
        </p:nvPicPr>
        <p:blipFill>
          <a:blip r:embed="rId4">
            <a:alphaModFix/>
          </a:blip>
          <a:stretch>
            <a:fillRect/>
          </a:stretch>
        </p:blipFill>
        <p:spPr>
          <a:xfrm>
            <a:off x="3320100" y="2197263"/>
            <a:ext cx="2503800" cy="1877700"/>
          </a:xfrm>
          <a:prstGeom prst="roundRect">
            <a:avLst>
              <a:gd fmla="val 9572" name="adj"/>
            </a:avLst>
          </a:prstGeom>
          <a:noFill/>
          <a:ln>
            <a:noFill/>
          </a:ln>
        </p:spPr>
      </p:pic>
      <p:sp>
        <p:nvSpPr>
          <p:cNvPr id="609" name="Google Shape;609;p41"/>
          <p:cNvSpPr/>
          <p:nvPr/>
        </p:nvSpPr>
        <p:spPr>
          <a:xfrm>
            <a:off x="3233100" y="4124800"/>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lang="en-GB" sz="1319">
                <a:solidFill>
                  <a:srgbClr val="5E6A6F"/>
                </a:solidFill>
                <a:latin typeface="Lato"/>
                <a:ea typeface="Lato"/>
                <a:cs typeface="Lato"/>
                <a:sym typeface="Lato"/>
              </a:rPr>
              <a:t>Contour detection in any direction</a:t>
            </a:r>
            <a:endParaRPr sz="1319">
              <a:solidFill>
                <a:srgbClr val="5E6A6F"/>
              </a:solidFill>
              <a:latin typeface="Lato"/>
              <a:ea typeface="Lato"/>
              <a:cs typeface="Lato"/>
              <a:sym typeface="Lato"/>
            </a:endParaRPr>
          </a:p>
        </p:txBody>
      </p:sp>
      <p:pic>
        <p:nvPicPr>
          <p:cNvPr id="610" name="Google Shape;610;p41"/>
          <p:cNvPicPr preferRelativeResize="0"/>
          <p:nvPr/>
        </p:nvPicPr>
        <p:blipFill>
          <a:blip r:embed="rId5">
            <a:alphaModFix/>
          </a:blip>
          <a:stretch>
            <a:fillRect/>
          </a:stretch>
        </p:blipFill>
        <p:spPr>
          <a:xfrm>
            <a:off x="6429488" y="2145432"/>
            <a:ext cx="2292300" cy="1981500"/>
          </a:xfrm>
          <a:prstGeom prst="roundRect">
            <a:avLst>
              <a:gd fmla="val 8904" name="adj"/>
            </a:avLst>
          </a:prstGeom>
          <a:noFill/>
          <a:ln>
            <a:noFill/>
          </a:ln>
        </p:spPr>
      </p:pic>
      <p:sp>
        <p:nvSpPr>
          <p:cNvPr id="611" name="Google Shape;611;p41"/>
          <p:cNvSpPr/>
          <p:nvPr/>
        </p:nvSpPr>
        <p:spPr>
          <a:xfrm>
            <a:off x="6236800" y="4124800"/>
            <a:ext cx="2677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6A6F"/>
              </a:buClr>
              <a:buSzPts val="1619"/>
              <a:buFont typeface="Arial"/>
              <a:buNone/>
            </a:pPr>
            <a:r>
              <a:rPr lang="en-GB" sz="1319">
                <a:solidFill>
                  <a:srgbClr val="5E6A6F"/>
                </a:solidFill>
                <a:latin typeface="Lato"/>
                <a:ea typeface="Lato"/>
                <a:cs typeface="Lato"/>
                <a:sym typeface="Lato"/>
              </a:rPr>
              <a:t>Thin lines and clear end result </a:t>
            </a:r>
            <a:endParaRPr sz="1319">
              <a:solidFill>
                <a:srgbClr val="5E6A6F"/>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42"/>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t>Quiz</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4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Quiz: Testing Understanding </a:t>
            </a:r>
            <a:endParaRPr/>
          </a:p>
        </p:txBody>
      </p:sp>
      <p:sp>
        <p:nvSpPr>
          <p:cNvPr id="622" name="Google Shape;622;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The quiz is designed to teach through common mistakes. Each question includes plausible wrong answers based on typical misunderstandings, so students have to reason through the concept rather than simply recall definitions.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Provides</a:t>
            </a:r>
            <a:r>
              <a:rPr lang="en-GB"/>
              <a:t> an understanding </a:t>
            </a:r>
            <a:endParaRPr/>
          </a:p>
          <a:p>
            <a:pPr indent="0" lvl="0" marL="0" rtl="0" algn="l">
              <a:spcBef>
                <a:spcPts val="1200"/>
              </a:spcBef>
              <a:spcAft>
                <a:spcPts val="0"/>
              </a:spcAft>
              <a:buNone/>
            </a:pPr>
            <a:r>
              <a:rPr lang="en-GB"/>
              <a:t>on what each edge detection </a:t>
            </a:r>
            <a:endParaRPr/>
          </a:p>
          <a:p>
            <a:pPr indent="0" lvl="0" marL="0" rtl="0" algn="l">
              <a:spcBef>
                <a:spcPts val="1200"/>
              </a:spcBef>
              <a:spcAft>
                <a:spcPts val="0"/>
              </a:spcAft>
              <a:buNone/>
            </a:pPr>
            <a:r>
              <a:rPr lang="en-GB"/>
              <a:t>operator does better </a:t>
            </a:r>
            <a:endParaRPr/>
          </a:p>
          <a:p>
            <a:pPr indent="0" lvl="0" marL="0" rtl="0" algn="l">
              <a:spcBef>
                <a:spcPts val="1200"/>
              </a:spcBef>
              <a:spcAft>
                <a:spcPts val="1200"/>
              </a:spcAft>
              <a:buNone/>
            </a:pPr>
            <a:r>
              <a:rPr lang="en-GB"/>
              <a:t>than the other</a:t>
            </a:r>
            <a:endParaRPr/>
          </a:p>
        </p:txBody>
      </p:sp>
      <p:pic>
        <p:nvPicPr>
          <p:cNvPr id="623" name="Google Shape;623;p43"/>
          <p:cNvPicPr preferRelativeResize="0"/>
          <p:nvPr/>
        </p:nvPicPr>
        <p:blipFill>
          <a:blip r:embed="rId3">
            <a:alphaModFix/>
          </a:blip>
          <a:stretch>
            <a:fillRect/>
          </a:stretch>
        </p:blipFill>
        <p:spPr>
          <a:xfrm>
            <a:off x="3519425" y="2419825"/>
            <a:ext cx="5624574" cy="26190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